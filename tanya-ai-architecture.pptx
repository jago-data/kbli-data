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8" r:id="rId29"/>
    <p:sldId id="257" r:id="rId3"/>
    <p:sldId id="268" r:id="rId19"/>
    <p:sldId id="274" r:id="rId25"/>
    <p:sldId id="276" r:id="rId27"/>
    <p:sldId id="277" r:id="rId28"/>
    <p:sldId id="269" r:id="rId20"/>
    <p:sldId id="260" r:id="rId6"/>
    <p:sldId id="275" r:id="rId26"/>
    <p:sldId id="273" r:id="rId24"/>
    <p:sldId id="272" r:id="rId23"/>
    <p:sldId id="259" r:id="rId5"/>
    <p:sldId id="279" r:id="rId30"/>
    <p:sldId id="280" r:id="rId31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  <Relationship Id="rId19" Type="http://schemas.openxmlformats.org/officeDocument/2006/relationships/slide" Target="slides/slide13.xml"/>
  <Relationship Id="rId20" Type="http://schemas.openxmlformats.org/officeDocument/2006/relationships/slide" Target="slides/slide14.xml"/>
  
  
  <Relationship Id="rId23" Type="http://schemas.openxmlformats.org/officeDocument/2006/relationships/slide" Target="slides/slide17.xml"/>
  <Relationship Id="rId24" Type="http://schemas.openxmlformats.org/officeDocument/2006/relationships/slide" Target="slides/slide18.xml"/>
  <Relationship Id="rId25" Type="http://schemas.openxmlformats.org/officeDocument/2006/relationships/slide" Target="slides/slide19.xml"/>
  <Relationship Id="rId26" Type="http://schemas.openxmlformats.org/officeDocument/2006/relationships/slide" Target="slides/slide20.xml"/>
  <Relationship Id="rId27" Type="http://schemas.openxmlformats.org/officeDocument/2006/relationships/slide" Target="slides/slide21.xml"/>
  <Relationship Id="rId28" Type="http://schemas.openxmlformats.org/officeDocument/2006/relationships/slide" Target="slides/slide22.xml"/>
  <Relationship Id="rId29" Type="http://schemas.openxmlformats.org/officeDocument/2006/relationships/slide" Target="slides/slide23.xml"/>
  <Relationship Id="rId30" Type="http://schemas.openxmlformats.org/officeDocument/2006/relationships/slide" Target="slides/slide24.xml"/>
  <Relationship Id="rId31" Type="http://schemas.openxmlformats.org/officeDocument/2006/relationships/slide" Target="slides/slide25.xml"/>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Icon0" Type="http://schemas.openxmlformats.org/officeDocument/2006/relationships/image" Target="../media/icon-chat.png"/><Relationship Id="rIdIcon1" Type="http://schemas.openxmlformats.org/officeDocument/2006/relationships/image" Target="../media/icon-shield.png"/><Relationship Id="rIdIcon2" Type="http://schemas.openxmlformats.org/officeDocument/2006/relationships/image" Target="../media/icon-sparkles.png"/><Relationship Id="rIdIcon3" Type="http://schemas.openxmlformats.org/officeDocument/2006/relationships/image" Target="../media/icon-database.png"/><Relationship Id="rIdIcon4" Type="http://schemas.openxmlformats.org/officeDocument/2006/relationships/image" Target="../media/icon-activity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30613"/>
              </a:gs>
              <a:gs pos="100000">
                <a:srgbClr val="8A0410"/>
              </a:gs>
            </a:gsLst>
            <a:lin ang="2100000" scaled="0"/>
          </a:gra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3" name="Shape 3"/>
          <p:cNvSpPr/>
          <p:nvPr/>
        </p:nvSpPr>
        <p:spPr>
          <a:xfrm>
            <a:off x="6766560" y="-2011680"/>
            <a:ext cx="7315200" cy="7315200"/>
          </a:xfrm>
          <a:prstGeom prst="ellipse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4" name="Shape 4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5" name="Shape 5"/>
          <p:cNvSpPr/>
          <p:nvPr/>
        </p:nvSpPr>
        <p:spPr>
          <a:xfrm>
            <a:off x="822960" y="914400"/>
            <a:ext cx="118872" cy="118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1051560" y="85039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cs typeface="Arial"/>
              </a:rPr>
              <a:t>ARCHITECTURE REVIEW</a:t>
            </a:r>
            <a:endParaRPr lang="en-US" sz="1100" dirty="0"/>
          </a:p>
        </p:txBody>
      </p:sp>
      <p:sp>
        <p:nvSpPr>
          <p:cNvPr id="7" name="Text 7"/>
          <p:cNvSpPr txBox="1"/>
          <p:nvPr/>
        </p:nvSpPr>
        <p:spPr>
          <a:xfrm>
            <a:off x="822960" y="1737360"/>
            <a:ext cx="60350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6400" b="1" dirty="0">
                <a:solidFill>
                  <a:srgbClr val="FFFFFF"/>
                </a:solidFill>
                <a:latin typeface="Georgia"/>
                <a:cs typeface="Georgia"/>
              </a:rPr>
              <a:t>TANYA AI</a:t>
            </a:r>
            <a:endParaRPr lang="en-US" sz="6400" dirty="0"/>
          </a:p>
        </p:txBody>
      </p:sp>
      <p:sp>
        <p:nvSpPr>
          <p:cNvPr id="8" name="Text 8"/>
          <p:cNvSpPr txBox="1"/>
          <p:nvPr/>
        </p:nvSpPr>
        <p:spPr>
          <a:xfrm>
            <a:off x="822960" y="2880360"/>
            <a:ext cx="603504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3000" dirty="0">
                <a:solidFill>
                  <a:srgbClr val="FFFFFF"/>
                </a:solidFill>
                <a:latin typeface="Georgia"/>
                <a:cs typeface="Georgia"/>
              </a:rPr>
              <a:t>Architecture overview</a:t>
            </a:r>
            <a:endParaRPr lang="en-US" sz="3000" dirty="0"/>
          </a:p>
        </p:txBody>
      </p:sp>
      <p:cxnSp>
        <p:nvCxnSpPr>
          <p:cNvPr id="9" name="Connector 9"/>
          <p:cNvCxnSpPr/>
          <p:nvPr/>
        </p:nvCxnSpPr>
        <p:spPr>
          <a:xfrm>
            <a:off x="822960" y="3703320"/>
            <a:ext cx="155448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cxnSp>
      <p:sp>
        <p:nvSpPr>
          <p:cNvPr id="10" name="Text 10"/>
          <p:cNvSpPr txBox="1"/>
          <p:nvPr/>
        </p:nvSpPr>
        <p:spPr>
          <a:xfrm>
            <a:off x="822960" y="393192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700" dirty="0">
                <a:solidFill>
                  <a:srgbClr val="F9D0D0"/>
                </a:solidFill>
                <a:latin typeface="Arial"/>
                <a:cs typeface="Arial"/>
              </a:rPr>
              <a:t>A safe, helpful assistant in the bank's app</a:t>
            </a:r>
            <a:endParaRPr lang="en-US" sz="1700" dirty="0"/>
          </a:p>
        </p:txBody>
      </p:sp>
      <p:sp>
        <p:nvSpPr>
          <p:cNvPr id="11" name="Text 11"/>
          <p:cNvSpPr txBox="1"/>
          <p:nvPr/>
        </p:nvSpPr>
        <p:spPr>
          <a:xfrm>
            <a:off x="822960" y="58978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/>
                <a:cs typeface="Arial"/>
              </a:rPr>
              <a:t>October 2026</a:t>
            </a:r>
            <a:endParaRPr lang="en-US" sz="1300" dirty="0"/>
          </a:p>
        </p:txBody>
      </p:sp>
      <p:sp>
        <p:nvSpPr>
          <p:cNvPr id="12" name="Shape 12"/>
          <p:cNvSpPr/>
          <p:nvPr/>
        </p:nvSpPr>
        <p:spPr>
          <a:xfrm>
            <a:off x="7040880" y="777240"/>
            <a:ext cx="4526280" cy="5303520"/>
          </a:xfrm>
          <a:prstGeom prst="round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7406640" y="96012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9D0D0"/>
                </a:solidFill>
                <a:latin typeface="Arial"/>
                <a:cs typeface="Arial"/>
              </a:rPr>
              <a:t>IN SHORT</a:t>
            </a:r>
            <a:endParaRPr lang="en-US" sz="1100" dirty="0"/>
          </a:p>
        </p:txBody>
      </p:sp>
      <p:sp>
        <p:nvSpPr>
          <p:cNvPr id="14" name="Shape 14"/>
          <p:cNvSpPr/>
          <p:nvPr/>
        </p:nvSpPr>
        <p:spPr>
          <a:xfrm>
            <a:off x="7406640" y="1417320"/>
            <a:ext cx="603504" cy="603504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pic>
        <p:nvPicPr>
          <p:cNvPr id="15" name="Image 15" descr="Chat in the app"/>
          <p:cNvPicPr>
            <a:picLocks noChangeAspect="1"/>
          </p:cNvPicPr>
          <p:nvPr/>
        </p:nvPicPr>
        <p:blipFill>
          <a:blip r:embed="rIdIcon0"/>
          <a:stretch>
            <a:fillRect/>
          </a:stretch>
        </p:blipFill>
        <p:spPr>
          <a:xfrm>
            <a:off x="7534656" y="1545336"/>
            <a:ext cx="347472" cy="347472"/>
          </a:xfrm>
          <a:prstGeom prst="rect">
            <a:avLst/>
          </a:prstGeom>
        </p:spPr>
      </p:pic>
      <p:sp>
        <p:nvSpPr>
          <p:cNvPr id="16" name="Text 16"/>
          <p:cNvSpPr txBox="1"/>
          <p:nvPr/>
        </p:nvSpPr>
        <p:spPr>
          <a:xfrm>
            <a:off x="8211312" y="1399032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Chat in the app</a:t>
            </a:r>
            <a:endParaRPr lang="en-US" sz="1500" dirty="0"/>
          </a:p>
        </p:txBody>
      </p:sp>
      <p:sp>
        <p:nvSpPr>
          <p:cNvPr id="17" name="Text 17"/>
          <p:cNvSpPr txBox="1"/>
          <p:nvPr/>
        </p:nvSpPr>
        <p:spPr>
          <a:xfrm>
            <a:off x="8211312" y="1728216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9D0D0"/>
                </a:solidFill>
                <a:latin typeface="Arial"/>
                <a:cs typeface="Arial"/>
              </a:rPr>
              <a:t>customers ask in the app's chat</a:t>
            </a:r>
            <a:endParaRPr lang="en-US" sz="1150" dirty="0"/>
          </a:p>
        </p:txBody>
      </p:sp>
      <p:sp>
        <p:nvSpPr>
          <p:cNvPr id="18" name="Shape 18"/>
          <p:cNvSpPr/>
          <p:nvPr/>
        </p:nvSpPr>
        <p:spPr>
          <a:xfrm>
            <a:off x="7406640" y="2313432"/>
            <a:ext cx="603504" cy="603504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pic>
        <p:nvPicPr>
          <p:cNvPr id="19" name="Image 19" descr="Safe first"/>
          <p:cNvPicPr>
            <a:picLocks noChangeAspect="1"/>
          </p:cNvPicPr>
          <p:nvPr/>
        </p:nvPicPr>
        <p:blipFill>
          <a:blip r:embed="rIdIcon1"/>
          <a:stretch>
            <a:fillRect/>
          </a:stretch>
        </p:blipFill>
        <p:spPr>
          <a:xfrm>
            <a:off x="7534656" y="2441448"/>
            <a:ext cx="347472" cy="347472"/>
          </a:xfrm>
          <a:prstGeom prst="rect">
            <a:avLst/>
          </a:prstGeom>
        </p:spPr>
      </p:pic>
      <p:sp>
        <p:nvSpPr>
          <p:cNvPr id="20" name="Text 20"/>
          <p:cNvSpPr txBox="1"/>
          <p:nvPr/>
        </p:nvSpPr>
        <p:spPr>
          <a:xfrm>
            <a:off x="8211312" y="2295144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Safe first</a:t>
            </a:r>
            <a:endParaRPr lang="en-US" sz="1500" dirty="0"/>
          </a:p>
        </p:txBody>
      </p:sp>
      <p:sp>
        <p:nvSpPr>
          <p:cNvPr id="21" name="Text 21"/>
          <p:cNvSpPr txBox="1"/>
          <p:nvPr/>
        </p:nvSpPr>
        <p:spPr>
          <a:xfrm>
            <a:off x="8211312" y="262432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9D0D0"/>
                </a:solidFill>
                <a:latin typeface="Arial"/>
                <a:cs typeface="Arial"/>
              </a:rPr>
              <a:t>every message is checked first</a:t>
            </a:r>
            <a:endParaRPr lang="en-US" sz="1150" dirty="0"/>
          </a:p>
        </p:txBody>
      </p:sp>
      <p:sp>
        <p:nvSpPr>
          <p:cNvPr id="22" name="Shape 22"/>
          <p:cNvSpPr/>
          <p:nvPr/>
        </p:nvSpPr>
        <p:spPr>
          <a:xfrm>
            <a:off x="7406640" y="3209544"/>
            <a:ext cx="603504" cy="603504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pic>
        <p:nvPicPr>
          <p:cNvPr id="23" name="Image 23" descr="Understands the need"/>
          <p:cNvPicPr>
            <a:picLocks noChangeAspect="1"/>
          </p:cNvPicPr>
          <p:nvPr/>
        </p:nvPicPr>
        <p:blipFill>
          <a:blip r:embed="rIdIcon2"/>
          <a:stretch>
            <a:fillRect/>
          </a:stretch>
        </p:blipFill>
        <p:spPr>
          <a:xfrm>
            <a:off x="7534656" y="3337560"/>
            <a:ext cx="347472" cy="347472"/>
          </a:xfrm>
          <a:prstGeom prst="rect">
            <a:avLst/>
          </a:prstGeom>
        </p:spPr>
      </p:pic>
      <p:sp>
        <p:nvSpPr>
          <p:cNvPr id="24" name="Text 24"/>
          <p:cNvSpPr txBox="1"/>
          <p:nvPr/>
        </p:nvSpPr>
        <p:spPr>
          <a:xfrm>
            <a:off x="8211312" y="3191256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Understands the need</a:t>
            </a:r>
            <a:endParaRPr lang="en-US" sz="1500" dirty="0"/>
          </a:p>
        </p:txBody>
      </p:sp>
      <p:sp>
        <p:nvSpPr>
          <p:cNvPr id="25" name="Text 25"/>
          <p:cNvSpPr txBox="1"/>
          <p:nvPr/>
        </p:nvSpPr>
        <p:spPr>
          <a:xfrm>
            <a:off x="8211312" y="352044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9D0D0"/>
                </a:solidFill>
                <a:latin typeface="Arial"/>
                <a:cs typeface="Arial"/>
              </a:rPr>
              <a:t>works out what the customer wants</a:t>
            </a:r>
            <a:endParaRPr lang="en-US" sz="1150" dirty="0"/>
          </a:p>
        </p:txBody>
      </p:sp>
      <p:sp>
        <p:nvSpPr>
          <p:cNvPr id="26" name="Shape 26"/>
          <p:cNvSpPr/>
          <p:nvPr/>
        </p:nvSpPr>
        <p:spPr>
          <a:xfrm>
            <a:off x="7406640" y="4105656"/>
            <a:ext cx="603504" cy="603504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pic>
        <p:nvPicPr>
          <p:cNvPr id="27" name="Image 27" descr="Trusted answers"/>
          <p:cNvPicPr>
            <a:picLocks noChangeAspect="1"/>
          </p:cNvPicPr>
          <p:nvPr/>
        </p:nvPicPr>
        <p:blipFill>
          <a:blip r:embed="rIdIcon3"/>
          <a:stretch>
            <a:fillRect/>
          </a:stretch>
        </p:blipFill>
        <p:spPr>
          <a:xfrm>
            <a:off x="7534656" y="4233672"/>
            <a:ext cx="347472" cy="347472"/>
          </a:xfrm>
          <a:prstGeom prst="rect">
            <a:avLst/>
          </a:prstGeom>
        </p:spPr>
      </p:pic>
      <p:sp>
        <p:nvSpPr>
          <p:cNvPr id="28" name="Text 28"/>
          <p:cNvSpPr txBox="1"/>
          <p:nvPr/>
        </p:nvSpPr>
        <p:spPr>
          <a:xfrm>
            <a:off x="8211312" y="4087368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Trusted answers</a:t>
            </a:r>
            <a:endParaRPr lang="en-US" sz="1500" dirty="0"/>
          </a:p>
        </p:txBody>
      </p:sp>
      <p:sp>
        <p:nvSpPr>
          <p:cNvPr id="29" name="Text 29"/>
          <p:cNvSpPr txBox="1"/>
          <p:nvPr/>
        </p:nvSpPr>
        <p:spPr>
          <a:xfrm>
            <a:off x="8211312" y="441655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9D0D0"/>
                </a:solidFill>
                <a:latin typeface="Arial"/>
                <a:cs typeface="Arial"/>
              </a:rPr>
              <a:t>only the bank's own information</a:t>
            </a:r>
            <a:endParaRPr lang="en-US" sz="1150" dirty="0"/>
          </a:p>
        </p:txBody>
      </p:sp>
      <p:sp>
        <p:nvSpPr>
          <p:cNvPr id="30" name="Shape 30"/>
          <p:cNvSpPr/>
          <p:nvPr/>
        </p:nvSpPr>
        <p:spPr>
          <a:xfrm>
            <a:off x="7406640" y="5001768"/>
            <a:ext cx="603504" cy="603504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pic>
        <p:nvPicPr>
          <p:cNvPr id="31" name="Image 31" descr="Always looked after"/>
          <p:cNvPicPr>
            <a:picLocks noChangeAspect="1"/>
          </p:cNvPicPr>
          <p:nvPr/>
        </p:nvPicPr>
        <p:blipFill>
          <a:blip r:embed="rIdIcon4"/>
          <a:stretch>
            <a:fillRect/>
          </a:stretch>
        </p:blipFill>
        <p:spPr>
          <a:xfrm>
            <a:off x="7534656" y="5129784"/>
            <a:ext cx="347472" cy="347472"/>
          </a:xfrm>
          <a:prstGeom prst="rect">
            <a:avLst/>
          </a:prstGeom>
        </p:spPr>
      </p:pic>
      <p:sp>
        <p:nvSpPr>
          <p:cNvPr id="32" name="Text 32"/>
          <p:cNvSpPr txBox="1"/>
          <p:nvPr/>
        </p:nvSpPr>
        <p:spPr>
          <a:xfrm>
            <a:off x="8211312" y="4983480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Always looked after</a:t>
            </a:r>
            <a:endParaRPr lang="en-US" sz="1500" dirty="0"/>
          </a:p>
        </p:txBody>
      </p:sp>
      <p:sp>
        <p:nvSpPr>
          <p:cNvPr id="33" name="Text 33"/>
          <p:cNvSpPr txBox="1"/>
          <p:nvPr/>
        </p:nvSpPr>
        <p:spPr>
          <a:xfrm>
            <a:off x="8211312" y="5312664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9D0D0"/>
                </a:solidFill>
                <a:latin typeface="Arial"/>
                <a:cs typeface="Arial"/>
              </a:rPr>
              <a:t>two sites, watched by support teams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57200" y="210312"/>
            <a:ext cx="100584" cy="100584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146304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30613"/>
                </a:solidFill>
                <a:latin typeface="Arial"/>
                <a:cs typeface="Arial"/>
              </a:rPr>
              <a:t>ARCHITECTURE OVERVIEW</a:t>
            </a:r>
            <a:endParaRPr lang="en-US" sz="9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384048"/>
            <a:ext cx="1127455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dirty="0">
                <a:solidFill>
                  <a:srgbClr val="1F1F1F"/>
                </a:solidFill>
                <a:latin typeface="Georgia"/>
                <a:cs typeface="Georgia"/>
              </a:rPr>
              <a:t>TANYA AI screens, routes and grounds every turn Tencent Chat hands it</a:t>
            </a:r>
            <a:endParaRPr lang="en-US" sz="2000" dirty="0"/>
          </a:p>
        </p:txBody>
      </p:sp>
      <p:cxnSp>
        <p:nvCxnSpPr>
          <p:cNvPr id="5" name="Connector 5"/>
          <p:cNvCxnSpPr/>
          <p:nvPr/>
        </p:nvCxnSpPr>
        <p:spPr>
          <a:xfrm>
            <a:off x="457200" y="896112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cxnSp>
      <p:sp>
        <p:nvSpPr>
          <p:cNvPr id="6" name="Text 6"/>
          <p:cNvSpPr txBox="1"/>
          <p:nvPr/>
        </p:nvSpPr>
        <p:spPr>
          <a:xfrm>
            <a:off x="457200" y="6446520"/>
            <a:ext cx="10332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6E6E6E"/>
                </a:solidFill>
                <a:latin typeface="Arial"/>
                <a:cs typeface="Arial"/>
              </a:rPr>
              <a:t>Source: TANYA AI architecture v3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11000232" y="64465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Aft>
                <a:spcPts val="300"/>
              </a:spcAft>
              <a:buNone/>
            </a:pPr>
            <a:r>
              <a:rPr lang="en-US" sz="900" dirty="0">
                <a:solidFill>
                  <a:srgbClr val="6E6E6E"/>
                </a:solidFill>
                <a:latin typeface="Arial"/>
                <a:cs typeface="Arial"/>
              </a:rPr>
              <a:t>3</a:t>
            </a:r>
            <a:endParaRPr lang="en-US" sz="900" dirty="0"/>
          </a:p>
        </p:txBody>
      </p:sp>
      <p:pic>
        <p:nvPicPr>
          <p:cNvPr id="8" name="Image 8" descr="TANYA AI architecture 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87552"/>
            <a:ext cx="8113879" cy="5385816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9034272" y="1033272"/>
            <a:ext cx="26974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Arial"/>
                <a:cs typeface="Arial"/>
              </a:rPr>
              <a:t>Key takeaways</a:t>
            </a:r>
            <a:endParaRPr lang="en-US" sz="1200" dirty="0"/>
          </a:p>
        </p:txBody>
      </p:sp>
      <p:cxnSp>
        <p:nvCxnSpPr>
          <p:cNvPr id="10" name="Connector 10"/>
          <p:cNvCxnSpPr/>
          <p:nvPr/>
        </p:nvCxnSpPr>
        <p:spPr>
          <a:xfrm>
            <a:off x="9034272" y="1316736"/>
            <a:ext cx="269748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cxnSp>
      <p:sp>
        <p:nvSpPr>
          <p:cNvPr id="11" name="Shape 11"/>
          <p:cNvSpPr/>
          <p:nvPr/>
        </p:nvSpPr>
        <p:spPr>
          <a:xfrm>
            <a:off x="9034272" y="1444752"/>
            <a:ext cx="310896" cy="310896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US" sz="1200" dirty="0"/>
          </a:p>
        </p:txBody>
      </p:sp>
      <p:sp>
        <p:nvSpPr>
          <p:cNvPr id="12" name="Text 12"/>
          <p:cNvSpPr txBox="1"/>
          <p:nvPr/>
        </p:nvSpPr>
        <p:spPr>
          <a:xfrm>
            <a:off x="9491472" y="1426464"/>
            <a:ext cx="224028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1F1F"/>
                </a:solidFill>
                <a:latin typeface="Arial"/>
                <a:cs typeface="Arial"/>
              </a:rPr>
              <a:t>Tencent Chat is the chat service: it calls the REST API directly (POST /chat) and gets the reply back</a:t>
            </a:r>
            <a:endParaRPr lang="en-US" sz="1300" dirty="0"/>
          </a:p>
        </p:txBody>
      </p:sp>
      <p:sp>
        <p:nvSpPr>
          <p:cNvPr id="13" name="Shape 13"/>
          <p:cNvSpPr/>
          <p:nvPr/>
        </p:nvSpPr>
        <p:spPr>
          <a:xfrm>
            <a:off x="9034272" y="2770632"/>
            <a:ext cx="310896" cy="310896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US" sz="1200" dirty="0"/>
          </a:p>
        </p:txBody>
      </p:sp>
      <p:sp>
        <p:nvSpPr>
          <p:cNvPr id="14" name="Text 14"/>
          <p:cNvSpPr txBox="1"/>
          <p:nvPr/>
        </p:nvSpPr>
        <p:spPr>
          <a:xfrm>
            <a:off x="9491472" y="2752344"/>
            <a:ext cx="224028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1F1F"/>
                </a:solidFill>
                <a:latin typeface="Arial"/>
                <a:cs typeface="Arial"/>
              </a:rPr>
              <a:t>Prompt Guard 2 and PolyGuard screen every message in parallel before the Router LLM picks one or more of five intents</a:t>
            </a:r>
            <a:endParaRPr lang="en-US" sz="1300" dirty="0"/>
          </a:p>
        </p:txBody>
      </p:sp>
      <p:sp>
        <p:nvSpPr>
          <p:cNvPr id="15" name="Shape 15"/>
          <p:cNvSpPr/>
          <p:nvPr/>
        </p:nvSpPr>
        <p:spPr>
          <a:xfrm>
            <a:off x="9034272" y="4096512"/>
            <a:ext cx="310896" cy="310896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US" sz="1200" dirty="0"/>
          </a:p>
        </p:txBody>
      </p:sp>
      <p:sp>
        <p:nvSpPr>
          <p:cNvPr id="16" name="Text 16"/>
          <p:cNvSpPr txBox="1"/>
          <p:nvPr/>
        </p:nvSpPr>
        <p:spPr>
          <a:xfrm>
            <a:off x="9491472" y="4078224"/>
            <a:ext cx="224028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1F1F"/>
                </a:solidFill>
                <a:latin typeface="Arial"/>
                <a:cs typeface="Arial"/>
              </a:rPr>
              <a:t>Answers stay grounded: RM Ally for products; advisory joins the BE OM portfolio with RM Ally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57200" y="301752"/>
            <a:ext cx="100584" cy="100584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237744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30613"/>
                </a:solidFill>
                <a:latin typeface="Arial"/>
                <a:cs typeface="Arial"/>
              </a:rPr>
              <a:t>AI STACK</a:t>
            </a:r>
            <a:endParaRPr lang="en-US" sz="9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502920"/>
            <a:ext cx="1127455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2200" dirty="0">
                <a:solidFill>
                  <a:srgbClr val="1F1F1F"/>
                </a:solidFill>
                <a:latin typeface="Georgia"/>
                <a:cs typeface="Georgia"/>
              </a:rPr>
              <a:t>Twelve layers make up the AI stack, from Tencent Chat at the edge to tracing and GPU monitoring</a:t>
            </a:r>
            <a:endParaRPr lang="en-US" sz="2200" dirty="0"/>
          </a:p>
        </p:txBody>
      </p:sp>
      <p:cxnSp>
        <p:nvCxnSpPr>
          <p:cNvPr id="5" name="Connector 5"/>
          <p:cNvCxnSpPr/>
          <p:nvPr/>
        </p:nvCxnSpPr>
        <p:spPr>
          <a:xfrm>
            <a:off x="457200" y="137160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cxnSp>
      <p:sp>
        <p:nvSpPr>
          <p:cNvPr id="6" name="Text 6"/>
          <p:cNvSpPr txBox="1"/>
          <p:nvPr/>
        </p:nvSpPr>
        <p:spPr>
          <a:xfrm>
            <a:off x="457200" y="6446520"/>
            <a:ext cx="10332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6E6E6E"/>
                </a:solidFill>
                <a:latin typeface="Arial"/>
                <a:cs typeface="Arial"/>
              </a:rPr>
              <a:t>Note: GPU memory figures are estimates; log shipper and retention to confirm with the platform teams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11000232" y="64465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Aft>
                <a:spcPts val="300"/>
              </a:spcAft>
              <a:buNone/>
            </a:pPr>
            <a:r>
              <a:rPr lang="en-US" sz="900" dirty="0">
                <a:solidFill>
                  <a:srgbClr val="6E6E6E"/>
                </a:solidFill>
                <a:latin typeface="Arial"/>
                <a:cs typeface="Arial"/>
              </a:rPr>
              <a:t>13</a:t>
            </a:r>
            <a:endParaRPr lang="en-US" sz="900" dirty="0"/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457200" y="1554480"/>
          <a:ext cx="11274552" cy="3090672"/>
        </p:xfrm>
        <a:graphic>
          <a:graphicData uri="http://schemas.openxmlformats.org/drawingml/2006/table">
            <a:tbl>
              <a:tblPr firstRow="1"/>
              <a:tblGrid>
                <a:gridCol w="1325880"/>
                <a:gridCol w="1600200"/>
                <a:gridCol w="3429000"/>
                <a:gridCol w="1691640"/>
                <a:gridCol w="3227832"/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Layer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F1F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Component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F1F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Technology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F1F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Hosting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F1F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Notes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F1F1F"/>
                      </a:solidFill>
                    </a:lnB>
                    <a:noFill/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Messaging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Chat service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Tencent Chat (IM) · REST API and group webhook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On premise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One Tencent group per chat thread; the chat history lives there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API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Router REST API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Python 3.11 · FastAPI + uvicorn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CML · 3 replicas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/chat · X-API-Token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Guardrails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Input screening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Prompt Guard 2 (Llama Prompt Guard 2) for attacks + PolyGuard (Polyguard-Qwen-Smol) for toxicity prompts, multilingual · deterministic credential and card detection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CML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Fails closed; blocks prompt injection and out-of-scope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Intent routing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Router LLM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pydantic-ai tool calling on Qwen 27B Flash Next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CML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Five intents, several per message, schema-validated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Generation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Synthesis LLM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Qwen 27B Flash Next (FP8) · persona and copywriting prompts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CML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Writes the reply; credentials redacted from history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Model serving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vLLM serve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OpenAI-compatible API · tensor parallel 2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2 × H200 (data centre) · 2 × H100 (DR site)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27B FP8 leaves ~227 GB KV cache on H200, ~117 GB on H100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Model monitoring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LLM metrics dashboards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vLLM /metrics → Prometheus → Grafana · DCGM exporter for GPUs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Platform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Tokens/s, prompt and output tokens, time to first token, KV cache, queue, GPU use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Tracing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Request traces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OpenTelemetry → Jaeger → Grafana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to confirm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One trace per turn: every model and tool call, with timings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Product knowledge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RM Ally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LLM + WIKI · REST API (FastAPI)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CML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Product info and market updates; base-model fallback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Navigation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App page registry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Page catalogue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In-process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Only registered pages can be offered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Enterprise data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BE OM portfolio API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REST, read-only, through the Middleware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OCP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A4 advisory, joined with RM Ally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Observability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Logging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JSON stdout → Filebeat → Elasticsearch → Kibana, Grafana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Platform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request_id joins all logs; no customer content</a:t>
                      </a:r>
                      <a:endParaRPr lang="en-US" sz="105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57200" y="301752"/>
            <a:ext cx="100584" cy="100584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237744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30613"/>
                </a:solidFill>
                <a:latin typeface="Arial"/>
                <a:cs typeface="Arial"/>
              </a:rPr>
              <a:t>ROUTER · HOW IT DECIDES</a:t>
            </a:r>
            <a:endParaRPr lang="en-US" sz="9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502920"/>
            <a:ext cx="1127455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2200" dirty="0">
                <a:solidFill>
                  <a:srgbClr val="1F1F1F"/>
                </a:solidFill>
                <a:latin typeface="Georgia"/>
                <a:cs typeface="Georgia"/>
              </a:rPr>
              <a:t>The AI understands each request; the bank's own code then fetches the answer safely</a:t>
            </a:r>
            <a:endParaRPr lang="en-US" sz="2200" dirty="0"/>
          </a:p>
        </p:txBody>
      </p:sp>
      <p:cxnSp>
        <p:nvCxnSpPr>
          <p:cNvPr id="5" name="Connector 5"/>
          <p:cNvCxnSpPr/>
          <p:nvPr/>
        </p:nvCxnSpPr>
        <p:spPr>
          <a:xfrm>
            <a:off x="457200" y="137160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cxnSp>
      <p:sp>
        <p:nvSpPr>
          <p:cNvPr id="6" name="Text 6"/>
          <p:cNvSpPr txBox="1"/>
          <p:nvPr/>
        </p:nvSpPr>
        <p:spPr>
          <a:xfrm>
            <a:off x="457200" y="6446520"/>
            <a:ext cx="10332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6E6E6E"/>
                </a:solidFill>
                <a:latin typeface="Arial"/>
                <a:cs typeface="Arial"/>
              </a:rPr>
              <a:t>Source: TANYA AI Router service design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11000232" y="64465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Aft>
                <a:spcPts val="300"/>
              </a:spcAft>
              <a:buNone/>
            </a:pPr>
            <a:r>
              <a:rPr lang="en-US" sz="900" dirty="0">
                <a:solidFill>
                  <a:srgbClr val="6E6E6E"/>
                </a:solidFill>
                <a:latin typeface="Arial"/>
                <a:cs typeface="Arial"/>
              </a:rPr>
              <a:t>9</a:t>
            </a:r>
            <a:endParaRPr lang="en-US" sz="900" dirty="0"/>
          </a:p>
        </p:txBody>
      </p:sp>
      <p:sp>
        <p:nvSpPr>
          <p:cNvPr id="8" name="Shape 8"/>
          <p:cNvSpPr/>
          <p:nvPr/>
        </p:nvSpPr>
        <p:spPr>
          <a:xfrm>
            <a:off x="457200" y="1600200"/>
            <a:ext cx="26517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457200" y="1600200"/>
            <a:ext cx="2651760" cy="64008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594360" y="1801368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US" sz="1200" dirty="0"/>
          </a:p>
        </p:txBody>
      </p:sp>
      <p:sp>
        <p:nvSpPr>
          <p:cNvPr id="11" name="Text 11"/>
          <p:cNvSpPr txBox="1"/>
          <p:nvPr/>
        </p:nvSpPr>
        <p:spPr>
          <a:xfrm>
            <a:off x="1097280" y="1764792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1F1F"/>
                </a:solidFill>
                <a:latin typeface="Arial"/>
                <a:cs typeface="Arial"/>
              </a:rPr>
              <a:t>Understand</a:t>
            </a:r>
            <a:endParaRPr lang="en-US" sz="1600" dirty="0"/>
          </a:p>
        </p:txBody>
      </p:sp>
      <p:sp>
        <p:nvSpPr>
          <p:cNvPr id="12" name="Text 12"/>
          <p:cNvSpPr txBox="1"/>
          <p:nvPr/>
        </p:nvSpPr>
        <p:spPr>
          <a:xfrm>
            <a:off x="594360" y="225856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C3C3C"/>
                </a:solidFill>
                <a:latin typeface="Arial"/>
                <a:cs typeface="Arial"/>
              </a:rPr>
              <a:t>the AI reads the message and decides what the customer needs</a:t>
            </a:r>
            <a:endParaRPr lang="en-US" sz="1200" dirty="0"/>
          </a:p>
        </p:txBody>
      </p:sp>
      <p:cxnSp>
        <p:nvCxnSpPr>
          <p:cNvPr id="13" name="Connector 13"/>
          <p:cNvCxnSpPr/>
          <p:nvPr/>
        </p:nvCxnSpPr>
        <p:spPr>
          <a:xfrm>
            <a:off x="3136392" y="2194560"/>
            <a:ext cx="167335" cy="0"/>
          </a:xfrm>
          <a:prstGeom prst="line">
            <a:avLst/>
          </a:prstGeom>
          <a:noFill/>
          <a:ln w="22225">
            <a:solidFill>
              <a:srgbClr val="3C3C3C"/>
            </a:solidFill>
            <a:prstDash val="solid"/>
            <a:tailEnd type="triangle" w="med" len="med"/>
          </a:ln>
        </p:spPr>
      </p:cxnSp>
      <p:sp>
        <p:nvSpPr>
          <p:cNvPr id="14" name="Shape 14"/>
          <p:cNvSpPr/>
          <p:nvPr/>
        </p:nvSpPr>
        <p:spPr>
          <a:xfrm>
            <a:off x="3331159" y="1600200"/>
            <a:ext cx="2651760" cy="1188720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15" name="Shape 15"/>
          <p:cNvSpPr/>
          <p:nvPr/>
        </p:nvSpPr>
        <p:spPr>
          <a:xfrm>
            <a:off x="3331159" y="1600200"/>
            <a:ext cx="2651760" cy="64008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16" name="Shape 16"/>
          <p:cNvSpPr/>
          <p:nvPr/>
        </p:nvSpPr>
        <p:spPr>
          <a:xfrm>
            <a:off x="3468319" y="1801368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US" sz="1200" dirty="0"/>
          </a:p>
        </p:txBody>
      </p:sp>
      <p:sp>
        <p:nvSpPr>
          <p:cNvPr id="17" name="Text 17"/>
          <p:cNvSpPr txBox="1"/>
          <p:nvPr/>
        </p:nvSpPr>
        <p:spPr>
          <a:xfrm>
            <a:off x="3971239" y="1764792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1F1F"/>
                </a:solidFill>
                <a:latin typeface="Arial"/>
                <a:cs typeface="Arial"/>
              </a:rPr>
              <a:t>Check</a:t>
            </a:r>
            <a:endParaRPr lang="en-US" sz="1600" dirty="0"/>
          </a:p>
        </p:txBody>
      </p:sp>
      <p:sp>
        <p:nvSpPr>
          <p:cNvPr id="18" name="Text 18"/>
          <p:cNvSpPr txBox="1"/>
          <p:nvPr/>
        </p:nvSpPr>
        <p:spPr>
          <a:xfrm>
            <a:off x="3468319" y="225856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C3C3C"/>
                </a:solidFill>
                <a:latin typeface="Arial"/>
                <a:cs typeface="Arial"/>
              </a:rPr>
              <a:t>that plan is checked against the list of allowed actions</a:t>
            </a:r>
            <a:endParaRPr lang="en-US" sz="1200" dirty="0"/>
          </a:p>
        </p:txBody>
      </p:sp>
      <p:cxnSp>
        <p:nvCxnSpPr>
          <p:cNvPr id="19" name="Connector 19"/>
          <p:cNvCxnSpPr/>
          <p:nvPr/>
        </p:nvCxnSpPr>
        <p:spPr>
          <a:xfrm>
            <a:off x="6010351" y="2194560"/>
            <a:ext cx="167335" cy="0"/>
          </a:xfrm>
          <a:prstGeom prst="line">
            <a:avLst/>
          </a:prstGeom>
          <a:noFill/>
          <a:ln w="22225">
            <a:solidFill>
              <a:srgbClr val="3C3C3C"/>
            </a:solidFill>
            <a:prstDash val="solid"/>
            <a:tailEnd type="triangle" w="med" len="med"/>
          </a:ln>
        </p:spPr>
      </p:cxnSp>
      <p:sp>
        <p:nvSpPr>
          <p:cNvPr id="20" name="Shape 20"/>
          <p:cNvSpPr/>
          <p:nvPr/>
        </p:nvSpPr>
        <p:spPr>
          <a:xfrm>
            <a:off x="6205118" y="1600200"/>
            <a:ext cx="26517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21" name="Shape 21"/>
          <p:cNvSpPr/>
          <p:nvPr/>
        </p:nvSpPr>
        <p:spPr>
          <a:xfrm>
            <a:off x="6205118" y="1600200"/>
            <a:ext cx="2651760" cy="64008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22" name="Shape 22"/>
          <p:cNvSpPr/>
          <p:nvPr/>
        </p:nvSpPr>
        <p:spPr>
          <a:xfrm>
            <a:off x="6342278" y="1801368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US" sz="1200" dirty="0"/>
          </a:p>
        </p:txBody>
      </p:sp>
      <p:sp>
        <p:nvSpPr>
          <p:cNvPr id="23" name="Text 23"/>
          <p:cNvSpPr txBox="1"/>
          <p:nvPr/>
        </p:nvSpPr>
        <p:spPr>
          <a:xfrm>
            <a:off x="6845198" y="1764792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1F1F"/>
                </a:solidFill>
                <a:latin typeface="Arial"/>
                <a:cs typeface="Arial"/>
              </a:rPr>
              <a:t>Fetch</a:t>
            </a:r>
            <a:endParaRPr lang="en-US" sz="1600" dirty="0"/>
          </a:p>
        </p:txBody>
      </p:sp>
      <p:sp>
        <p:nvSpPr>
          <p:cNvPr id="24" name="Text 24"/>
          <p:cNvSpPr txBox="1"/>
          <p:nvPr/>
        </p:nvSpPr>
        <p:spPr>
          <a:xfrm>
            <a:off x="6342278" y="225856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C3C3C"/>
                </a:solidFill>
                <a:latin typeface="Arial"/>
                <a:cs typeface="Arial"/>
              </a:rPr>
              <a:t>the bank's code calls the systems, never the AI itself</a:t>
            </a:r>
            <a:endParaRPr lang="en-US" sz="1200" dirty="0"/>
          </a:p>
        </p:txBody>
      </p:sp>
      <p:cxnSp>
        <p:nvCxnSpPr>
          <p:cNvPr id="25" name="Connector 25"/>
          <p:cNvCxnSpPr/>
          <p:nvPr/>
        </p:nvCxnSpPr>
        <p:spPr>
          <a:xfrm>
            <a:off x="8884310" y="2194560"/>
            <a:ext cx="167335" cy="0"/>
          </a:xfrm>
          <a:prstGeom prst="line">
            <a:avLst/>
          </a:prstGeom>
          <a:noFill/>
          <a:ln w="22225">
            <a:solidFill>
              <a:srgbClr val="3C3C3C"/>
            </a:solidFill>
            <a:prstDash val="solid"/>
            <a:tailEnd type="triangle" w="med" len="med"/>
          </a:ln>
        </p:spPr>
      </p:cxnSp>
      <p:sp>
        <p:nvSpPr>
          <p:cNvPr id="26" name="Shape 26"/>
          <p:cNvSpPr/>
          <p:nvPr/>
        </p:nvSpPr>
        <p:spPr>
          <a:xfrm>
            <a:off x="9079078" y="1600200"/>
            <a:ext cx="2651760" cy="1188720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27" name="Shape 27"/>
          <p:cNvSpPr/>
          <p:nvPr/>
        </p:nvSpPr>
        <p:spPr>
          <a:xfrm>
            <a:off x="9079078" y="1600200"/>
            <a:ext cx="2651760" cy="64008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28" name="Shape 28"/>
          <p:cNvSpPr/>
          <p:nvPr/>
        </p:nvSpPr>
        <p:spPr>
          <a:xfrm>
            <a:off x="9216238" y="1801368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n-US" sz="1200" dirty="0"/>
          </a:p>
        </p:txBody>
      </p:sp>
      <p:sp>
        <p:nvSpPr>
          <p:cNvPr id="29" name="Text 29"/>
          <p:cNvSpPr txBox="1"/>
          <p:nvPr/>
        </p:nvSpPr>
        <p:spPr>
          <a:xfrm>
            <a:off x="9719158" y="1764792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1F1F"/>
                </a:solidFill>
                <a:latin typeface="Arial"/>
                <a:cs typeface="Arial"/>
              </a:rPr>
              <a:t>Answer</a:t>
            </a:r>
            <a:endParaRPr lang="en-US" sz="1600" dirty="0"/>
          </a:p>
        </p:txBody>
      </p:sp>
      <p:sp>
        <p:nvSpPr>
          <p:cNvPr id="30" name="Text 30"/>
          <p:cNvSpPr txBox="1"/>
          <p:nvPr/>
        </p:nvSpPr>
        <p:spPr>
          <a:xfrm>
            <a:off x="9216238" y="225856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C3C3C"/>
                </a:solidFill>
                <a:latin typeface="Arial"/>
                <a:cs typeface="Arial"/>
              </a:rPr>
              <a:t>the reply uses only the facts that were fetched</a:t>
            </a:r>
            <a:endParaRPr lang="en-US" sz="1200" dirty="0"/>
          </a:p>
        </p:txBody>
      </p:sp>
      <p:graphicFrame>
        <p:nvGraphicFramePr>
          <p:cNvPr id="31" name="Table 31"/>
          <p:cNvGraphicFramePr>
            <a:graphicFrameLocks noGrp="1"/>
          </p:cNvGraphicFramePr>
          <p:nvPr/>
        </p:nvGraphicFramePr>
        <p:xfrm>
          <a:off x="457200" y="3017520"/>
          <a:ext cx="11274552" cy="2414016"/>
        </p:xfrm>
        <a:graphic>
          <a:graphicData uri="http://schemas.openxmlformats.org/drawingml/2006/table">
            <a:tbl>
              <a:tblPr firstRow="1"/>
              <a:tblGrid>
                <a:gridCol w="3291840"/>
                <a:gridCol w="4572000"/>
                <a:gridCol w="3410712"/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The customer wants…</a:t>
                      </a:r>
                      <a:endParaRPr lang="en-US" sz="130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F1F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What TANYA AI does</a:t>
                      </a:r>
                      <a:endParaRPr lang="en-US" sz="130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F1F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Where the facts come from</a:t>
                      </a:r>
                      <a:endParaRPr lang="en-US" sz="130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F1F1F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to chat or say hello</a:t>
                      </a:r>
                      <a:endParaRPr lang="en-US" sz="130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replies in a friendly way</a:t>
                      </a:r>
                      <a:endParaRPr lang="en-US" sz="130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no lookup needed</a:t>
                      </a:r>
                      <a:endParaRPr lang="en-US" sz="130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a page in the app (e.g. check portfolio)</a:t>
                      </a:r>
                      <a:endParaRPr lang="en-US" sz="130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shows the right app page in the chat</a:t>
                      </a:r>
                      <a:endParaRPr lang="en-US" sz="130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the list of app pages</a:t>
                      </a:r>
                      <a:endParaRPr lang="en-US" sz="130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to know about a product</a:t>
                      </a:r>
                      <a:endParaRPr lang="en-US" sz="130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answers from the product information</a:t>
                      </a:r>
                      <a:endParaRPr lang="en-US" sz="130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RM Ally (product wiki)</a:t>
                      </a:r>
                      <a:endParaRPr lang="en-US" sz="130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advice on their portfolio</a:t>
                      </a:r>
                      <a:endParaRPr lang="en-US" sz="130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combines their portfolio with product information</a:t>
                      </a:r>
                      <a:endParaRPr lang="en-US" sz="130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BE OM and RM Ally</a:t>
                      </a:r>
                      <a:endParaRPr lang="en-US" sz="130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to talk to a person</a:t>
                      </a:r>
                      <a:endParaRPr lang="en-US" sz="130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hands the chat to a live agent, once the customer agrees</a:t>
                      </a:r>
                      <a:endParaRPr lang="en-US" sz="130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  <a:latin typeface="Arial"/>
                          <a:cs typeface="Arial"/>
                        </a:rPr>
                        <a:t>the live agent team</a:t>
                      </a:r>
                      <a:endParaRPr lang="en-US" sz="1300" dirty="0"/>
                    </a:p>
                  </a:txBody>
                  <a:tcPr marL="54864" marR="54864" marT="41148" marB="4114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2" name="Shape 32"/>
          <p:cNvSpPr/>
          <p:nvPr/>
        </p:nvSpPr>
        <p:spPr>
          <a:xfrm>
            <a:off x="457200" y="5715000"/>
            <a:ext cx="11274552" cy="502920"/>
          </a:xfrm>
          <a:prstGeom prst="rect">
            <a:avLst/>
          </a:prstGeom>
          <a:solidFill>
            <a:srgbClr val="FCE8E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33" name="Shape 33"/>
          <p:cNvSpPr/>
          <p:nvPr/>
        </p:nvSpPr>
        <p:spPr>
          <a:xfrm>
            <a:off x="457200" y="5715000"/>
            <a:ext cx="64008" cy="50292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34" name="Text 34"/>
          <p:cNvSpPr txBox="1"/>
          <p:nvPr/>
        </p:nvSpPr>
        <p:spPr>
          <a:xfrm>
            <a:off x="685800" y="571500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E30613"/>
                </a:solidFill>
                <a:latin typeface="Arial"/>
                <a:cs typeface="Arial"/>
              </a:rPr>
              <a:t>Design rule  </a:t>
            </a:r>
            <a:r>
              <a:rPr lang="en-US" sz="1300" dirty="0">
                <a:solidFill>
                  <a:srgbClr val="1F1F1F"/>
                </a:solidFill>
                <a:latin typeface="Arial"/>
                <a:cs typeface="Arial"/>
              </a:rPr>
              <a:t>the AI only suggests what to do; the bank's code makes every call, with safety checks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57200" y="301752"/>
            <a:ext cx="100584" cy="100584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237744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30613"/>
                </a:solidFill>
                <a:latin typeface="Arial"/>
                <a:cs typeface="Arial"/>
              </a:rPr>
              <a:t>ARCHITECTURE · HOW A MESSAGE FLOWS</a:t>
            </a:r>
            <a:endParaRPr lang="en-US" sz="9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502920"/>
            <a:ext cx="1127455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2200" dirty="0">
                <a:solidFill>
                  <a:srgbClr val="1F1F1F"/>
                </a:solidFill>
                <a:latin typeface="Georgia"/>
                <a:cs typeface="Georgia"/>
              </a:rPr>
              <a:t>Every message is screened first; then its history and intent are read in parallel</a:t>
            </a:r>
            <a:endParaRPr lang="en-US" sz="2200" dirty="0"/>
          </a:p>
        </p:txBody>
      </p:sp>
      <p:cxnSp>
        <p:nvCxnSpPr>
          <p:cNvPr id="5" name="Connector 5"/>
          <p:cNvCxnSpPr/>
          <p:nvPr/>
        </p:nvCxnSpPr>
        <p:spPr>
          <a:xfrm>
            <a:off x="457200" y="137160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cxnSp>
      <p:sp>
        <p:nvSpPr>
          <p:cNvPr id="6" name="Text 6"/>
          <p:cNvSpPr txBox="1"/>
          <p:nvPr/>
        </p:nvSpPr>
        <p:spPr>
          <a:xfrm>
            <a:off x="457200" y="6446520"/>
            <a:ext cx="10332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6E6E6E"/>
                </a:solidFill>
                <a:latin typeface="Arial"/>
                <a:cs typeface="Arial"/>
              </a:rPr>
              <a:t>Source: TANYA AI architecture v3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11000232" y="64465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Aft>
                <a:spcPts val="300"/>
              </a:spcAft>
              <a:buNone/>
            </a:pPr>
            <a:r>
              <a:rPr lang="en-US" sz="900" dirty="0">
                <a:solidFill>
                  <a:srgbClr val="6E6E6E"/>
                </a:solidFill>
                <a:latin typeface="Arial"/>
                <a:cs typeface="Arial"/>
              </a:rPr>
              <a:t>4</a:t>
            </a:r>
            <a:endParaRPr lang="en-US" sz="900" dirty="0"/>
          </a:p>
        </p:txBody>
      </p:sp>
      <p:cxnSp>
        <p:nvCxnSpPr>
          <p:cNvPr id="8" name="Connector 8"/>
          <p:cNvCxnSpPr/>
          <p:nvPr/>
        </p:nvCxnSpPr>
        <p:spPr>
          <a:xfrm>
            <a:off x="1028700" y="2331720"/>
            <a:ext cx="10131552" cy="0"/>
          </a:xfrm>
          <a:prstGeom prst="line">
            <a:avLst/>
          </a:prstGeom>
          <a:noFill/>
          <a:ln w="25400">
            <a:solidFill>
              <a:srgbClr val="D9D9D9"/>
            </a:solidFill>
            <a:prstDash val="solid"/>
          </a:ln>
        </p:spPr>
      </p:cxnSp>
      <p:sp>
        <p:nvSpPr>
          <p:cNvPr id="9" name="Shape 9"/>
          <p:cNvSpPr/>
          <p:nvPr/>
        </p:nvSpPr>
        <p:spPr>
          <a:xfrm>
            <a:off x="745236" y="2048256"/>
            <a:ext cx="566928" cy="566928"/>
          </a:xfrm>
          <a:prstGeom prst="ellipse">
            <a:avLst/>
          </a:prstGeom>
          <a:solidFill>
            <a:srgbClr val="3C3C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US" sz="1700" dirty="0"/>
          </a:p>
        </p:txBody>
      </p:sp>
      <p:sp>
        <p:nvSpPr>
          <p:cNvPr id="10" name="Text 10"/>
          <p:cNvSpPr txBox="1"/>
          <p:nvPr/>
        </p:nvSpPr>
        <p:spPr>
          <a:xfrm>
            <a:off x="457200" y="2788920"/>
            <a:ext cx="1143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F1F1F"/>
                </a:solidFill>
                <a:latin typeface="Arial"/>
                <a:cs typeface="Arial"/>
              </a:rPr>
              <a:t>Customer chats</a:t>
            </a:r>
            <a:endParaRPr lang="en-US" sz="1500" dirty="0"/>
          </a:p>
        </p:txBody>
      </p:sp>
      <p:sp>
        <p:nvSpPr>
          <p:cNvPr id="11" name="Text 11"/>
          <p:cNvSpPr txBox="1"/>
          <p:nvPr/>
        </p:nvSpPr>
        <p:spPr>
          <a:xfrm>
            <a:off x="457200" y="3337560"/>
            <a:ext cx="114300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dirty="0">
                <a:solidFill>
                  <a:srgbClr val="3C3C3C"/>
                </a:solidFill>
                <a:latin typeface="Arial"/>
                <a:cs typeface="Arial"/>
              </a:rPr>
              <a:t>types a message in the app</a:t>
            </a:r>
            <a:endParaRPr lang="en-US" sz="1200" dirty="0"/>
          </a:p>
        </p:txBody>
      </p:sp>
      <p:sp>
        <p:nvSpPr>
          <p:cNvPr id="12" name="Shape 12"/>
          <p:cNvSpPr/>
          <p:nvPr/>
        </p:nvSpPr>
        <p:spPr>
          <a:xfrm>
            <a:off x="502920" y="4343400"/>
            <a:ext cx="1051560" cy="38404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6E6E6E"/>
                </a:solidFill>
                <a:latin typeface="Arial"/>
                <a:cs typeface="Arial"/>
              </a:rPr>
              <a:t>OM app</a:t>
            </a:r>
            <a:endParaRPr lang="en-US" sz="1000" dirty="0"/>
          </a:p>
        </p:txBody>
      </p:sp>
      <p:sp>
        <p:nvSpPr>
          <p:cNvPr id="13" name="Shape 13"/>
          <p:cNvSpPr/>
          <p:nvPr/>
        </p:nvSpPr>
        <p:spPr>
          <a:xfrm>
            <a:off x="2011680" y="2048256"/>
            <a:ext cx="566928" cy="566928"/>
          </a:xfrm>
          <a:prstGeom prst="ellipse">
            <a:avLst/>
          </a:prstGeom>
          <a:solidFill>
            <a:srgbClr val="3C3C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US" sz="1700" dirty="0"/>
          </a:p>
        </p:txBody>
      </p:sp>
      <p:sp>
        <p:nvSpPr>
          <p:cNvPr id="14" name="Text 14"/>
          <p:cNvSpPr txBox="1"/>
          <p:nvPr/>
        </p:nvSpPr>
        <p:spPr>
          <a:xfrm>
            <a:off x="1723644" y="2788920"/>
            <a:ext cx="1143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F1F1F"/>
                </a:solidFill>
                <a:latin typeface="Arial"/>
                <a:cs typeface="Arial"/>
              </a:rPr>
              <a:t>Tencent sends</a:t>
            </a:r>
            <a:endParaRPr lang="en-US" sz="1500" dirty="0"/>
          </a:p>
        </p:txBody>
      </p:sp>
      <p:sp>
        <p:nvSpPr>
          <p:cNvPr id="15" name="Text 15"/>
          <p:cNvSpPr txBox="1"/>
          <p:nvPr/>
        </p:nvSpPr>
        <p:spPr>
          <a:xfrm>
            <a:off x="1723644" y="3337560"/>
            <a:ext cx="114300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dirty="0">
                <a:solidFill>
                  <a:srgbClr val="3C3C3C"/>
                </a:solidFill>
                <a:latin typeface="Arial"/>
                <a:cs typeface="Arial"/>
              </a:rPr>
              <a:t>Tencent Chat passes the message to TANYA AI</a:t>
            </a:r>
            <a:endParaRPr lang="en-US" sz="1200" dirty="0"/>
          </a:p>
        </p:txBody>
      </p:sp>
      <p:sp>
        <p:nvSpPr>
          <p:cNvPr id="16" name="Shape 16"/>
          <p:cNvSpPr/>
          <p:nvPr/>
        </p:nvSpPr>
        <p:spPr>
          <a:xfrm>
            <a:off x="1769364" y="4343400"/>
            <a:ext cx="1051560" cy="38404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6E6E6E"/>
                </a:solidFill>
                <a:latin typeface="Arial"/>
                <a:cs typeface="Arial"/>
              </a:rPr>
              <a:t>Tencent Chat</a:t>
            </a:r>
            <a:endParaRPr lang="en-US" sz="1000" dirty="0"/>
          </a:p>
        </p:txBody>
      </p:sp>
      <p:sp>
        <p:nvSpPr>
          <p:cNvPr id="17" name="Shape 17"/>
          <p:cNvSpPr/>
          <p:nvPr/>
        </p:nvSpPr>
        <p:spPr>
          <a:xfrm>
            <a:off x="3278124" y="2048256"/>
            <a:ext cx="566928" cy="56692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US" sz="1700" dirty="0"/>
          </a:p>
        </p:txBody>
      </p:sp>
      <p:sp>
        <p:nvSpPr>
          <p:cNvPr id="18" name="Text 18"/>
          <p:cNvSpPr txBox="1"/>
          <p:nvPr/>
        </p:nvSpPr>
        <p:spPr>
          <a:xfrm>
            <a:off x="2990088" y="2788920"/>
            <a:ext cx="1143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F1F1F"/>
                </a:solidFill>
                <a:latin typeface="Arial"/>
                <a:cs typeface="Arial"/>
              </a:rPr>
              <a:t>Guardrails screen</a:t>
            </a:r>
            <a:endParaRPr lang="en-US" sz="1500" dirty="0"/>
          </a:p>
        </p:txBody>
      </p:sp>
      <p:sp>
        <p:nvSpPr>
          <p:cNvPr id="19" name="Text 19"/>
          <p:cNvSpPr txBox="1"/>
          <p:nvPr/>
        </p:nvSpPr>
        <p:spPr>
          <a:xfrm>
            <a:off x="2990088" y="3337560"/>
            <a:ext cx="114300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dirty="0">
                <a:solidFill>
                  <a:srgbClr val="3C3C3C"/>
                </a:solidFill>
                <a:latin typeface="Arial"/>
                <a:cs typeface="Arial"/>
              </a:rPr>
              <a:t>two guards check for attacks and harmful content</a:t>
            </a:r>
            <a:endParaRPr lang="en-US" sz="1200" dirty="0"/>
          </a:p>
        </p:txBody>
      </p:sp>
      <p:sp>
        <p:nvSpPr>
          <p:cNvPr id="20" name="Shape 20"/>
          <p:cNvSpPr/>
          <p:nvPr/>
        </p:nvSpPr>
        <p:spPr>
          <a:xfrm>
            <a:off x="3035808" y="4343400"/>
            <a:ext cx="1051560" cy="38404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6E6E6E"/>
                </a:solidFill>
                <a:latin typeface="Arial"/>
                <a:cs typeface="Arial"/>
              </a:rPr>
              <a:t>Prompt Guard 2 · PolyGuard</a:t>
            </a:r>
            <a:endParaRPr lang="en-US" sz="1000" dirty="0"/>
          </a:p>
        </p:txBody>
      </p:sp>
      <p:sp>
        <p:nvSpPr>
          <p:cNvPr id="21" name="Shape 21"/>
          <p:cNvSpPr/>
          <p:nvPr/>
        </p:nvSpPr>
        <p:spPr>
          <a:xfrm>
            <a:off x="4544568" y="2048256"/>
            <a:ext cx="566928" cy="56692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4a</a:t>
            </a:r>
            <a:endParaRPr lang="en-US" sz="1700" dirty="0"/>
          </a:p>
        </p:txBody>
      </p:sp>
      <p:sp>
        <p:nvSpPr>
          <p:cNvPr id="22" name="Text 22"/>
          <p:cNvSpPr txBox="1"/>
          <p:nvPr/>
        </p:nvSpPr>
        <p:spPr>
          <a:xfrm>
            <a:off x="4256532" y="2788920"/>
            <a:ext cx="1143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F1F1F"/>
                </a:solidFill>
                <a:latin typeface="Arial"/>
                <a:cs typeface="Arial"/>
              </a:rPr>
              <a:t>Read history</a:t>
            </a:r>
            <a:endParaRPr lang="en-US" sz="1500" dirty="0"/>
          </a:p>
        </p:txBody>
      </p:sp>
      <p:sp>
        <p:nvSpPr>
          <p:cNvPr id="23" name="Text 23"/>
          <p:cNvSpPr txBox="1"/>
          <p:nvPr/>
        </p:nvSpPr>
        <p:spPr>
          <a:xfrm>
            <a:off x="4256532" y="3337560"/>
            <a:ext cx="114300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dirty="0">
                <a:solidFill>
                  <a:srgbClr val="3C3C3C"/>
                </a:solidFill>
                <a:latin typeface="Arial"/>
                <a:cs typeface="Arial"/>
              </a:rPr>
              <a:t>the Router reads recent chat from Tencent as context</a:t>
            </a:r>
            <a:endParaRPr lang="en-US" sz="1200" dirty="0"/>
          </a:p>
        </p:txBody>
      </p:sp>
      <p:sp>
        <p:nvSpPr>
          <p:cNvPr id="24" name="Shape 24"/>
          <p:cNvSpPr/>
          <p:nvPr/>
        </p:nvSpPr>
        <p:spPr>
          <a:xfrm>
            <a:off x="4302252" y="4343400"/>
            <a:ext cx="1051560" cy="38404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6E6E6E"/>
                </a:solidFill>
                <a:latin typeface="Arial"/>
                <a:cs typeface="Arial"/>
              </a:rPr>
              <a:t>Tencent chat history</a:t>
            </a:r>
            <a:endParaRPr lang="en-US" sz="1000" dirty="0"/>
          </a:p>
        </p:txBody>
      </p:sp>
      <p:sp>
        <p:nvSpPr>
          <p:cNvPr id="25" name="Shape 25"/>
          <p:cNvSpPr/>
          <p:nvPr/>
        </p:nvSpPr>
        <p:spPr>
          <a:xfrm>
            <a:off x="5811012" y="2048256"/>
            <a:ext cx="566928" cy="56692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4b</a:t>
            </a:r>
            <a:endParaRPr lang="en-US" sz="1700" dirty="0"/>
          </a:p>
        </p:txBody>
      </p:sp>
      <p:sp>
        <p:nvSpPr>
          <p:cNvPr id="26" name="Text 26"/>
          <p:cNvSpPr txBox="1"/>
          <p:nvPr/>
        </p:nvSpPr>
        <p:spPr>
          <a:xfrm>
            <a:off x="5522976" y="2788920"/>
            <a:ext cx="1143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F1F1F"/>
                </a:solidFill>
                <a:latin typeface="Arial"/>
                <a:cs typeface="Arial"/>
              </a:rPr>
              <a:t>Classifier</a:t>
            </a:r>
            <a:endParaRPr lang="en-US" sz="1500" dirty="0"/>
          </a:p>
        </p:txBody>
      </p:sp>
      <p:sp>
        <p:nvSpPr>
          <p:cNvPr id="27" name="Text 27"/>
          <p:cNvSpPr txBox="1"/>
          <p:nvPr/>
        </p:nvSpPr>
        <p:spPr>
          <a:xfrm>
            <a:off x="5522976" y="3337560"/>
            <a:ext cx="114300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dirty="0">
                <a:solidFill>
                  <a:srgbClr val="3C3C3C"/>
                </a:solidFill>
                <a:latin typeface="Arial"/>
                <a:cs typeface="Arial"/>
              </a:rPr>
              <a:t>the Router LLM decides what the customer wants</a:t>
            </a:r>
            <a:endParaRPr lang="en-US" sz="1200" dirty="0"/>
          </a:p>
        </p:txBody>
      </p:sp>
      <p:sp>
        <p:nvSpPr>
          <p:cNvPr id="28" name="Shape 28"/>
          <p:cNvSpPr/>
          <p:nvPr/>
        </p:nvSpPr>
        <p:spPr>
          <a:xfrm>
            <a:off x="5568696" y="4343400"/>
            <a:ext cx="1051560" cy="38404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6E6E6E"/>
                </a:solidFill>
                <a:latin typeface="Arial"/>
                <a:cs typeface="Arial"/>
              </a:rPr>
              <a:t>Router LLM</a:t>
            </a:r>
            <a:endParaRPr lang="en-US" sz="1000" dirty="0"/>
          </a:p>
        </p:txBody>
      </p:sp>
      <p:sp>
        <p:nvSpPr>
          <p:cNvPr id="29" name="Shape 29"/>
          <p:cNvSpPr/>
          <p:nvPr/>
        </p:nvSpPr>
        <p:spPr>
          <a:xfrm>
            <a:off x="7077456" y="2048256"/>
            <a:ext cx="566928" cy="56692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en-US" sz="1700" dirty="0"/>
          </a:p>
        </p:txBody>
      </p:sp>
      <p:sp>
        <p:nvSpPr>
          <p:cNvPr id="30" name="Text 30"/>
          <p:cNvSpPr txBox="1"/>
          <p:nvPr/>
        </p:nvSpPr>
        <p:spPr>
          <a:xfrm>
            <a:off x="6789420" y="2788920"/>
            <a:ext cx="1143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F1F1F"/>
                </a:solidFill>
                <a:latin typeface="Arial"/>
                <a:cs typeface="Arial"/>
              </a:rPr>
              <a:t>Call tools</a:t>
            </a:r>
            <a:endParaRPr lang="en-US" sz="1500" dirty="0"/>
          </a:p>
        </p:txBody>
      </p:sp>
      <p:sp>
        <p:nvSpPr>
          <p:cNvPr id="31" name="Text 31"/>
          <p:cNvSpPr txBox="1"/>
          <p:nvPr/>
        </p:nvSpPr>
        <p:spPr>
          <a:xfrm>
            <a:off x="6789420" y="3337560"/>
            <a:ext cx="114300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dirty="0">
                <a:solidFill>
                  <a:srgbClr val="3C3C3C"/>
                </a:solidFill>
                <a:latin typeface="Arial"/>
                <a:cs typeface="Arial"/>
              </a:rPr>
              <a:t>fetch the facts: app pages, products, portfolio</a:t>
            </a:r>
            <a:endParaRPr lang="en-US" sz="1200" dirty="0"/>
          </a:p>
        </p:txBody>
      </p:sp>
      <p:sp>
        <p:nvSpPr>
          <p:cNvPr id="32" name="Shape 32"/>
          <p:cNvSpPr/>
          <p:nvPr/>
        </p:nvSpPr>
        <p:spPr>
          <a:xfrm>
            <a:off x="6835140" y="4343400"/>
            <a:ext cx="1051560" cy="38404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6E6E6E"/>
                </a:solidFill>
                <a:latin typeface="Arial"/>
                <a:cs typeface="Arial"/>
              </a:rPr>
              <a:t>RM Ally · BE OM</a:t>
            </a:r>
            <a:endParaRPr lang="en-US" sz="1000" dirty="0"/>
          </a:p>
        </p:txBody>
      </p:sp>
      <p:sp>
        <p:nvSpPr>
          <p:cNvPr id="33" name="Shape 33"/>
          <p:cNvSpPr/>
          <p:nvPr/>
        </p:nvSpPr>
        <p:spPr>
          <a:xfrm>
            <a:off x="8343900" y="2048256"/>
            <a:ext cx="566928" cy="56692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lang="en-US" sz="1700" dirty="0"/>
          </a:p>
        </p:txBody>
      </p:sp>
      <p:sp>
        <p:nvSpPr>
          <p:cNvPr id="34" name="Text 34"/>
          <p:cNvSpPr txBox="1"/>
          <p:nvPr/>
        </p:nvSpPr>
        <p:spPr>
          <a:xfrm>
            <a:off x="8055864" y="2788920"/>
            <a:ext cx="1143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F1F1F"/>
                </a:solidFill>
                <a:latin typeface="Arial"/>
                <a:cs typeface="Arial"/>
              </a:rPr>
              <a:t>Synthesis LLM</a:t>
            </a:r>
            <a:endParaRPr lang="en-US" sz="1500" dirty="0"/>
          </a:p>
        </p:txBody>
      </p:sp>
      <p:sp>
        <p:nvSpPr>
          <p:cNvPr id="35" name="Text 35"/>
          <p:cNvSpPr txBox="1"/>
          <p:nvPr/>
        </p:nvSpPr>
        <p:spPr>
          <a:xfrm>
            <a:off x="8055864" y="3337560"/>
            <a:ext cx="114300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dirty="0">
                <a:solidFill>
                  <a:srgbClr val="3C3C3C"/>
                </a:solidFill>
                <a:latin typeface="Arial"/>
                <a:cs typeface="Arial"/>
              </a:rPr>
              <a:t>writes the reply from what the tools returned</a:t>
            </a:r>
            <a:endParaRPr lang="en-US" sz="1200" dirty="0"/>
          </a:p>
        </p:txBody>
      </p:sp>
      <p:sp>
        <p:nvSpPr>
          <p:cNvPr id="36" name="Shape 36"/>
          <p:cNvSpPr/>
          <p:nvPr/>
        </p:nvSpPr>
        <p:spPr>
          <a:xfrm>
            <a:off x="8101584" y="4343400"/>
            <a:ext cx="1051560" cy="38404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6E6E6E"/>
                </a:solidFill>
                <a:latin typeface="Arial"/>
                <a:cs typeface="Arial"/>
              </a:rPr>
              <a:t>Synthesis LLM</a:t>
            </a:r>
            <a:endParaRPr lang="en-US" sz="1000" dirty="0"/>
          </a:p>
        </p:txBody>
      </p:sp>
      <p:sp>
        <p:nvSpPr>
          <p:cNvPr id="37" name="Shape 37"/>
          <p:cNvSpPr/>
          <p:nvPr/>
        </p:nvSpPr>
        <p:spPr>
          <a:xfrm>
            <a:off x="9610344" y="2048256"/>
            <a:ext cx="566928" cy="566928"/>
          </a:xfrm>
          <a:prstGeom prst="ellipse">
            <a:avLst/>
          </a:prstGeom>
          <a:solidFill>
            <a:srgbClr val="3C3C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lang="en-US" sz="1700" dirty="0"/>
          </a:p>
        </p:txBody>
      </p:sp>
      <p:sp>
        <p:nvSpPr>
          <p:cNvPr id="38" name="Text 38"/>
          <p:cNvSpPr txBox="1"/>
          <p:nvPr/>
        </p:nvSpPr>
        <p:spPr>
          <a:xfrm>
            <a:off x="9322308" y="2788920"/>
            <a:ext cx="1143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F1F1F"/>
                </a:solidFill>
                <a:latin typeface="Arial"/>
                <a:cs typeface="Arial"/>
              </a:rPr>
              <a:t>Reply sent</a:t>
            </a:r>
            <a:endParaRPr lang="en-US" sz="1500" dirty="0"/>
          </a:p>
        </p:txBody>
      </p:sp>
      <p:sp>
        <p:nvSpPr>
          <p:cNvPr id="39" name="Text 39"/>
          <p:cNvSpPr txBox="1"/>
          <p:nvPr/>
        </p:nvSpPr>
        <p:spPr>
          <a:xfrm>
            <a:off x="9322308" y="3337560"/>
            <a:ext cx="114300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dirty="0">
                <a:solidFill>
                  <a:srgbClr val="3C3C3C"/>
                </a:solidFill>
                <a:latin typeface="Arial"/>
                <a:cs typeface="Arial"/>
              </a:rPr>
              <a:t>TANYA AI posts the reply back to Tencent Chat</a:t>
            </a:r>
            <a:endParaRPr lang="en-US" sz="1200" dirty="0"/>
          </a:p>
        </p:txBody>
      </p:sp>
      <p:sp>
        <p:nvSpPr>
          <p:cNvPr id="40" name="Shape 40"/>
          <p:cNvSpPr/>
          <p:nvPr/>
        </p:nvSpPr>
        <p:spPr>
          <a:xfrm>
            <a:off x="9368028" y="4343400"/>
            <a:ext cx="1051560" cy="38404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6E6E6E"/>
                </a:solidFill>
                <a:latin typeface="Arial"/>
                <a:cs typeface="Arial"/>
              </a:rPr>
              <a:t>Tencent Chat</a:t>
            </a:r>
            <a:endParaRPr lang="en-US" sz="1000" dirty="0"/>
          </a:p>
        </p:txBody>
      </p:sp>
      <p:sp>
        <p:nvSpPr>
          <p:cNvPr id="41" name="Shape 41"/>
          <p:cNvSpPr/>
          <p:nvPr/>
        </p:nvSpPr>
        <p:spPr>
          <a:xfrm>
            <a:off x="10876788" y="2048256"/>
            <a:ext cx="566928" cy="566928"/>
          </a:xfrm>
          <a:prstGeom prst="ellipse">
            <a:avLst/>
          </a:prstGeom>
          <a:solidFill>
            <a:srgbClr val="3C3C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lang="en-US" sz="1700" dirty="0"/>
          </a:p>
        </p:txBody>
      </p:sp>
      <p:sp>
        <p:nvSpPr>
          <p:cNvPr id="42" name="Text 42"/>
          <p:cNvSpPr txBox="1"/>
          <p:nvPr/>
        </p:nvSpPr>
        <p:spPr>
          <a:xfrm>
            <a:off x="10588752" y="2788920"/>
            <a:ext cx="1143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F1F1F"/>
                </a:solidFill>
                <a:latin typeface="Arial"/>
                <a:cs typeface="Arial"/>
              </a:rPr>
              <a:t>Customer sees it</a:t>
            </a:r>
            <a:endParaRPr lang="en-US" sz="1500" dirty="0"/>
          </a:p>
        </p:txBody>
      </p:sp>
      <p:sp>
        <p:nvSpPr>
          <p:cNvPr id="43" name="Text 43"/>
          <p:cNvSpPr txBox="1"/>
          <p:nvPr/>
        </p:nvSpPr>
        <p:spPr>
          <a:xfrm>
            <a:off x="10588752" y="3337560"/>
            <a:ext cx="114300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dirty="0">
                <a:solidFill>
                  <a:srgbClr val="3C3C3C"/>
                </a:solidFill>
                <a:latin typeface="Arial"/>
                <a:cs typeface="Arial"/>
              </a:rPr>
              <a:t>the reply appears in the app's chat</a:t>
            </a:r>
            <a:endParaRPr lang="en-US" sz="1200" dirty="0"/>
          </a:p>
        </p:txBody>
      </p:sp>
      <p:sp>
        <p:nvSpPr>
          <p:cNvPr id="44" name="Shape 44"/>
          <p:cNvSpPr/>
          <p:nvPr/>
        </p:nvSpPr>
        <p:spPr>
          <a:xfrm>
            <a:off x="10634472" y="4343400"/>
            <a:ext cx="1051560" cy="38404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6E6E6E"/>
                </a:solidFill>
                <a:latin typeface="Arial"/>
                <a:cs typeface="Arial"/>
              </a:rPr>
              <a:t>OM app</a:t>
            </a:r>
            <a:endParaRPr lang="en-US" sz="1000" dirty="0"/>
          </a:p>
        </p:txBody>
      </p:sp>
      <p:cxnSp>
        <p:nvCxnSpPr>
          <p:cNvPr id="45" name="Connector 45"/>
          <p:cNvCxnSpPr/>
          <p:nvPr/>
        </p:nvCxnSpPr>
        <p:spPr>
          <a:xfrm>
            <a:off x="4507992" y="1901952"/>
            <a:ext cx="1906524" cy="0"/>
          </a:xfrm>
          <a:prstGeom prst="line">
            <a:avLst/>
          </a:prstGeom>
          <a:noFill/>
          <a:ln w="19050">
            <a:solidFill>
              <a:srgbClr val="E30613"/>
            </a:solidFill>
            <a:prstDash val="solid"/>
          </a:ln>
        </p:spPr>
      </p:cxnSp>
      <p:cxnSp>
        <p:nvCxnSpPr>
          <p:cNvPr id="46" name="Connector 46"/>
          <p:cNvCxnSpPr/>
          <p:nvPr/>
        </p:nvCxnSpPr>
        <p:spPr>
          <a:xfrm>
            <a:off x="4507992" y="1901952"/>
            <a:ext cx="0" cy="91440"/>
          </a:xfrm>
          <a:prstGeom prst="line">
            <a:avLst/>
          </a:prstGeom>
          <a:noFill/>
          <a:ln w="19050">
            <a:solidFill>
              <a:srgbClr val="E30613"/>
            </a:solidFill>
            <a:prstDash val="solid"/>
          </a:ln>
        </p:spPr>
      </p:cxnSp>
      <p:cxnSp>
        <p:nvCxnSpPr>
          <p:cNvPr id="47" name="Connector 47"/>
          <p:cNvCxnSpPr/>
          <p:nvPr/>
        </p:nvCxnSpPr>
        <p:spPr>
          <a:xfrm>
            <a:off x="6414516" y="1901952"/>
            <a:ext cx="0" cy="91440"/>
          </a:xfrm>
          <a:prstGeom prst="line">
            <a:avLst/>
          </a:prstGeom>
          <a:noFill/>
          <a:ln w="19050">
            <a:solidFill>
              <a:srgbClr val="E30613"/>
            </a:solidFill>
            <a:prstDash val="solid"/>
          </a:ln>
        </p:spPr>
      </p:cxnSp>
      <p:sp>
        <p:nvSpPr>
          <p:cNvPr id="48" name="Text 48"/>
          <p:cNvSpPr txBox="1"/>
          <p:nvPr/>
        </p:nvSpPr>
        <p:spPr>
          <a:xfrm>
            <a:off x="4507992" y="1627632"/>
            <a:ext cx="190652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100" b="1" dirty="0">
                <a:solidFill>
                  <a:srgbClr val="E30613"/>
                </a:solidFill>
                <a:latin typeface="Arial"/>
                <a:cs typeface="Arial"/>
              </a:rPr>
              <a:t>in parallel</a:t>
            </a:r>
            <a:endParaRPr lang="en-US" sz="1100" dirty="0"/>
          </a:p>
        </p:txBody>
      </p:sp>
      <p:cxnSp>
        <p:nvCxnSpPr>
          <p:cNvPr id="49" name="Connector 49"/>
          <p:cNvCxnSpPr/>
          <p:nvPr/>
        </p:nvCxnSpPr>
        <p:spPr>
          <a:xfrm>
            <a:off x="3561588" y="4800600"/>
            <a:ext cx="0" cy="182880"/>
          </a:xfrm>
          <a:prstGeom prst="line">
            <a:avLst/>
          </a:prstGeom>
          <a:noFill/>
          <a:ln w="15875">
            <a:solidFill>
              <a:srgbClr val="E30613"/>
            </a:solidFill>
            <a:prstDash val="solid"/>
          </a:ln>
        </p:spPr>
      </p:cxnSp>
      <p:sp>
        <p:nvSpPr>
          <p:cNvPr id="50" name="Text 50"/>
          <p:cNvSpPr txBox="1"/>
          <p:nvPr/>
        </p:nvSpPr>
        <p:spPr>
          <a:xfrm>
            <a:off x="2624328" y="5001768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100" b="1" dirty="0">
                <a:solidFill>
                  <a:srgbClr val="E30613"/>
                </a:solidFill>
                <a:latin typeface="Arial"/>
                <a:cs typeface="Arial"/>
              </a:rPr>
              <a:t>refused → polite decline, stop</a:t>
            </a:r>
            <a:endParaRPr lang="en-US" sz="1100" dirty="0"/>
          </a:p>
        </p:txBody>
      </p:sp>
      <p:sp>
        <p:nvSpPr>
          <p:cNvPr id="51" name="Shape 51"/>
          <p:cNvSpPr/>
          <p:nvPr/>
        </p:nvSpPr>
        <p:spPr>
          <a:xfrm>
            <a:off x="8778240" y="1572768"/>
            <a:ext cx="146304" cy="146304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52" name="Text 52"/>
          <p:cNvSpPr txBox="1"/>
          <p:nvPr/>
        </p:nvSpPr>
        <p:spPr>
          <a:xfrm>
            <a:off x="8997696" y="151790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C3C3C"/>
                </a:solidFill>
                <a:latin typeface="Arial"/>
                <a:cs typeface="Arial"/>
              </a:rPr>
              <a:t>TANYA AI</a:t>
            </a:r>
            <a:endParaRPr lang="en-US" sz="1100" dirty="0"/>
          </a:p>
        </p:txBody>
      </p:sp>
      <p:sp>
        <p:nvSpPr>
          <p:cNvPr id="53" name="Shape 53"/>
          <p:cNvSpPr/>
          <p:nvPr/>
        </p:nvSpPr>
        <p:spPr>
          <a:xfrm>
            <a:off x="9875520" y="1572768"/>
            <a:ext cx="146304" cy="146304"/>
          </a:xfrm>
          <a:prstGeom prst="ellipse">
            <a:avLst/>
          </a:prstGeom>
          <a:solidFill>
            <a:srgbClr val="3C3C3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54" name="Text 54"/>
          <p:cNvSpPr txBox="1"/>
          <p:nvPr/>
        </p:nvSpPr>
        <p:spPr>
          <a:xfrm>
            <a:off x="10094976" y="151790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C3C3C"/>
                </a:solidFill>
                <a:latin typeface="Arial"/>
                <a:cs typeface="Arial"/>
              </a:rPr>
              <a:t>Tencent Chat and the app</a:t>
            </a:r>
            <a:endParaRPr lang="en-US" sz="1100" dirty="0"/>
          </a:p>
        </p:txBody>
      </p:sp>
      <p:sp>
        <p:nvSpPr>
          <p:cNvPr id="55" name="Shape 55"/>
          <p:cNvSpPr/>
          <p:nvPr/>
        </p:nvSpPr>
        <p:spPr>
          <a:xfrm>
            <a:off x="457200" y="5669280"/>
            <a:ext cx="11274552" cy="502920"/>
          </a:xfrm>
          <a:prstGeom prst="rect">
            <a:avLst/>
          </a:prstGeom>
          <a:solidFill>
            <a:srgbClr val="FCE8E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56" name="Shape 56"/>
          <p:cNvSpPr/>
          <p:nvPr/>
        </p:nvSpPr>
        <p:spPr>
          <a:xfrm>
            <a:off x="457200" y="5669280"/>
            <a:ext cx="64008" cy="50292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57" name="Text 57"/>
          <p:cNvSpPr txBox="1"/>
          <p:nvPr/>
        </p:nvSpPr>
        <p:spPr>
          <a:xfrm>
            <a:off x="685800" y="566928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E30613"/>
                </a:solidFill>
                <a:latin typeface="Arial"/>
                <a:cs typeface="Arial"/>
              </a:rPr>
              <a:t>So what  </a:t>
            </a:r>
            <a:r>
              <a:rPr lang="en-US" sz="1300" dirty="0">
                <a:solidFill>
                  <a:srgbClr val="1F1F1F"/>
                </a:solidFill>
                <a:latin typeface="Arial"/>
                <a:cs typeface="Arial"/>
              </a:rPr>
              <a:t>the guards see every message first; history and intent come in parallel; the reply uses only what the tools returned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57200" y="301752"/>
            <a:ext cx="100584" cy="100584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237744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30613"/>
                </a:solidFill>
                <a:latin typeface="Arial"/>
                <a:cs typeface="Arial"/>
              </a:rPr>
              <a:t>ARCHITECTURE · GUARDRAILS</a:t>
            </a:r>
            <a:endParaRPr lang="en-US" sz="9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502920"/>
            <a:ext cx="1127455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2200" dirty="0">
                <a:solidFill>
                  <a:srgbClr val="1F1F1F"/>
                </a:solidFill>
                <a:latin typeface="Georgia"/>
                <a:cs typeface="Georgia"/>
              </a:rPr>
              <a:t>Two guard models screen every message in parallel, and one refusal is enough to stop routing</a:t>
            </a:r>
            <a:endParaRPr lang="en-US" sz="2200" dirty="0"/>
          </a:p>
        </p:txBody>
      </p:sp>
      <p:cxnSp>
        <p:nvCxnSpPr>
          <p:cNvPr id="5" name="Connector 5"/>
          <p:cNvCxnSpPr/>
          <p:nvPr/>
        </p:nvCxnSpPr>
        <p:spPr>
          <a:xfrm>
            <a:off x="457200" y="137160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cxnSp>
      <p:sp>
        <p:nvSpPr>
          <p:cNvPr id="6" name="Text 6"/>
          <p:cNvSpPr txBox="1"/>
          <p:nvPr/>
        </p:nvSpPr>
        <p:spPr>
          <a:xfrm>
            <a:off x="457200" y="6446520"/>
            <a:ext cx="10332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6E6E6E"/>
                </a:solidFill>
                <a:latin typeface="Arial"/>
                <a:cs typeface="Arial"/>
              </a:rPr>
              <a:t>Source: TANYA AI Router service; Llama Prompt Guard 2 and Polyguard-Qwen-Smol model cards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11000232" y="64465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Aft>
                <a:spcPts val="300"/>
              </a:spcAft>
              <a:buNone/>
            </a:pPr>
            <a:r>
              <a:rPr lang="en-US" sz="900" dirty="0">
                <a:solidFill>
                  <a:srgbClr val="6E6E6E"/>
                </a:solidFill>
                <a:latin typeface="Arial"/>
                <a:cs typeface="Arial"/>
              </a:rPr>
              <a:t>8</a:t>
            </a:r>
            <a:endParaRPr lang="en-US" sz="900" dirty="0"/>
          </a:p>
        </p:txBody>
      </p:sp>
      <p:sp>
        <p:nvSpPr>
          <p:cNvPr id="8" name="Shape 8"/>
          <p:cNvSpPr/>
          <p:nvPr/>
        </p:nvSpPr>
        <p:spPr>
          <a:xfrm>
            <a:off x="457200" y="1783080"/>
            <a:ext cx="2011680" cy="16459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594360" y="1783080"/>
            <a:ext cx="173736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1F1F"/>
                </a:solidFill>
                <a:latin typeface="Arial"/>
                <a:cs typeface="Arial"/>
              </a:rPr>
              <a:t>Customer message</a:t>
            </a:r>
            <a:endParaRPr lang="en-US" sz="1500" dirty="0"/>
          </a:p>
          <a:p>
            <a:pPr marL="0" indent="0">
              <a:spcAft>
                <a:spcPts val="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Arial"/>
                <a:cs typeface="Arial"/>
              </a:rPr>
              <a:t>from Tencent Chat</a:t>
            </a:r>
            <a:endParaRPr lang="en-US" sz="1200" dirty="0"/>
          </a:p>
        </p:txBody>
      </p:sp>
      <p:cxnSp>
        <p:nvCxnSpPr>
          <p:cNvPr id="10" name="Connector 10"/>
          <p:cNvCxnSpPr/>
          <p:nvPr/>
        </p:nvCxnSpPr>
        <p:spPr>
          <a:xfrm>
            <a:off x="2505456" y="2148840"/>
            <a:ext cx="338328" cy="0"/>
          </a:xfrm>
          <a:prstGeom prst="line">
            <a:avLst/>
          </a:prstGeom>
          <a:noFill/>
          <a:ln w="22225">
            <a:solidFill>
              <a:srgbClr val="3C3C3C"/>
            </a:solidFill>
            <a:prstDash val="solid"/>
            <a:tailEnd type="triangle" w="med" len="med"/>
          </a:ln>
        </p:spPr>
      </p:cxnSp>
      <p:sp>
        <p:nvSpPr>
          <p:cNvPr id="11" name="Shape 11"/>
          <p:cNvSpPr/>
          <p:nvPr/>
        </p:nvSpPr>
        <p:spPr>
          <a:xfrm>
            <a:off x="2880360" y="1783080"/>
            <a:ext cx="26517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12" name="Shape 12"/>
          <p:cNvSpPr/>
          <p:nvPr/>
        </p:nvSpPr>
        <p:spPr>
          <a:xfrm>
            <a:off x="2880360" y="1783080"/>
            <a:ext cx="54864" cy="73152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3063240" y="187452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1F1F"/>
                </a:solidFill>
                <a:latin typeface="Arial"/>
                <a:cs typeface="Arial"/>
              </a:rPr>
              <a:t>Prompt Guard 2</a:t>
            </a:r>
            <a:endParaRPr lang="en-US" sz="1500" dirty="0"/>
          </a:p>
        </p:txBody>
      </p:sp>
      <p:sp>
        <p:nvSpPr>
          <p:cNvPr id="14" name="Text 14"/>
          <p:cNvSpPr txBox="1"/>
          <p:nvPr/>
        </p:nvSpPr>
        <p:spPr>
          <a:xfrm>
            <a:off x="3063240" y="2185416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Arial"/>
                <a:cs typeface="Arial"/>
              </a:rPr>
              <a:t>Llama Prompt Guard 2 · attacks</a:t>
            </a:r>
            <a:endParaRPr lang="en-US" sz="1200" dirty="0"/>
          </a:p>
        </p:txBody>
      </p:sp>
      <p:cxnSp>
        <p:nvCxnSpPr>
          <p:cNvPr id="15" name="Connector 15"/>
          <p:cNvCxnSpPr/>
          <p:nvPr/>
        </p:nvCxnSpPr>
        <p:spPr>
          <a:xfrm>
            <a:off x="5568696" y="2148840"/>
            <a:ext cx="384048" cy="0"/>
          </a:xfrm>
          <a:prstGeom prst="line">
            <a:avLst/>
          </a:prstGeom>
          <a:noFill/>
          <a:ln w="22225">
            <a:solidFill>
              <a:srgbClr val="3C3C3C"/>
            </a:solidFill>
            <a:prstDash val="solid"/>
            <a:tailEnd type="triangle" w="med" len="med"/>
          </a:ln>
        </p:spPr>
      </p:cxnSp>
      <p:cxnSp>
        <p:nvCxnSpPr>
          <p:cNvPr id="16" name="Connector 16"/>
          <p:cNvCxnSpPr/>
          <p:nvPr/>
        </p:nvCxnSpPr>
        <p:spPr>
          <a:xfrm>
            <a:off x="2505456" y="3063240"/>
            <a:ext cx="338328" cy="0"/>
          </a:xfrm>
          <a:prstGeom prst="line">
            <a:avLst/>
          </a:prstGeom>
          <a:noFill/>
          <a:ln w="22225">
            <a:solidFill>
              <a:srgbClr val="3C3C3C"/>
            </a:solidFill>
            <a:prstDash val="solid"/>
            <a:tailEnd type="triangle" w="med" len="med"/>
          </a:ln>
        </p:spPr>
      </p:cxnSp>
      <p:sp>
        <p:nvSpPr>
          <p:cNvPr id="17" name="Shape 17"/>
          <p:cNvSpPr/>
          <p:nvPr/>
        </p:nvSpPr>
        <p:spPr>
          <a:xfrm>
            <a:off x="2880360" y="2697480"/>
            <a:ext cx="26517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18" name="Shape 18"/>
          <p:cNvSpPr/>
          <p:nvPr/>
        </p:nvSpPr>
        <p:spPr>
          <a:xfrm>
            <a:off x="2880360" y="2697480"/>
            <a:ext cx="54864" cy="73152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3063240" y="278892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1F1F"/>
                </a:solidFill>
                <a:latin typeface="Arial"/>
                <a:cs typeface="Arial"/>
              </a:rPr>
              <a:t>PolyGuard</a:t>
            </a:r>
            <a:endParaRPr lang="en-US" sz="1500" dirty="0"/>
          </a:p>
        </p:txBody>
      </p:sp>
      <p:sp>
        <p:nvSpPr>
          <p:cNvPr id="20" name="Text 20"/>
          <p:cNvSpPr txBox="1"/>
          <p:nvPr/>
        </p:nvSpPr>
        <p:spPr>
          <a:xfrm>
            <a:off x="3063240" y="3099816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Arial"/>
                <a:cs typeface="Arial"/>
              </a:rPr>
              <a:t>Polyguard-Qwen-Smol · toxicity</a:t>
            </a:r>
            <a:endParaRPr lang="en-US" sz="1200" dirty="0"/>
          </a:p>
        </p:txBody>
      </p:sp>
      <p:cxnSp>
        <p:nvCxnSpPr>
          <p:cNvPr id="21" name="Connector 21"/>
          <p:cNvCxnSpPr/>
          <p:nvPr/>
        </p:nvCxnSpPr>
        <p:spPr>
          <a:xfrm>
            <a:off x="5568696" y="3063240"/>
            <a:ext cx="384048" cy="0"/>
          </a:xfrm>
          <a:prstGeom prst="line">
            <a:avLst/>
          </a:prstGeom>
          <a:noFill/>
          <a:ln w="22225">
            <a:solidFill>
              <a:srgbClr val="3C3C3C"/>
            </a:solidFill>
            <a:prstDash val="solid"/>
            <a:tailEnd type="triangle" w="med" len="med"/>
          </a:ln>
        </p:spPr>
      </p:cxnSp>
      <p:sp>
        <p:nvSpPr>
          <p:cNvPr id="22" name="Text 22"/>
          <p:cNvSpPr txBox="1"/>
          <p:nvPr/>
        </p:nvSpPr>
        <p:spPr>
          <a:xfrm>
            <a:off x="2194560" y="1490472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30613"/>
                </a:solidFill>
                <a:latin typeface="Arial"/>
                <a:cs typeface="Arial"/>
              </a:rPr>
              <a:t>in parallel</a:t>
            </a:r>
            <a:endParaRPr lang="en-US" sz="1100" dirty="0"/>
          </a:p>
        </p:txBody>
      </p:sp>
      <p:sp>
        <p:nvSpPr>
          <p:cNvPr id="23" name="Shape 23"/>
          <p:cNvSpPr/>
          <p:nvPr/>
        </p:nvSpPr>
        <p:spPr>
          <a:xfrm>
            <a:off x="5989320" y="1783080"/>
            <a:ext cx="1371600" cy="1645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1F1F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6080760" y="2286000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1F1F"/>
                </a:solidFill>
                <a:latin typeface="Arial"/>
                <a:cs typeface="Arial"/>
              </a:rPr>
              <a:t>Both pass?</a:t>
            </a:r>
            <a:endParaRPr lang="en-US" sz="15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050" dirty="0">
                <a:solidFill>
                  <a:srgbClr val="6E6E6E"/>
                </a:solidFill>
                <a:latin typeface="Arial"/>
                <a:cs typeface="Arial"/>
              </a:rPr>
              <a:t>one verdict per guard</a:t>
            </a:r>
            <a:endParaRPr lang="en-US" sz="1050" dirty="0"/>
          </a:p>
        </p:txBody>
      </p:sp>
      <p:cxnSp>
        <p:nvCxnSpPr>
          <p:cNvPr id="25" name="Connector 25"/>
          <p:cNvCxnSpPr/>
          <p:nvPr/>
        </p:nvCxnSpPr>
        <p:spPr>
          <a:xfrm>
            <a:off x="7397496" y="2148840"/>
            <a:ext cx="429768" cy="0"/>
          </a:xfrm>
          <a:prstGeom prst="line">
            <a:avLst/>
          </a:prstGeom>
          <a:noFill/>
          <a:ln w="22225">
            <a:solidFill>
              <a:srgbClr val="3C3C3C"/>
            </a:solidFill>
            <a:prstDash val="solid"/>
            <a:tailEnd type="triangle" w="med" len="med"/>
          </a:ln>
        </p:spPr>
      </p:cxnSp>
      <p:sp>
        <p:nvSpPr>
          <p:cNvPr id="26" name="Text 26"/>
          <p:cNvSpPr txBox="1"/>
          <p:nvPr/>
        </p:nvSpPr>
        <p:spPr>
          <a:xfrm>
            <a:off x="7360920" y="187452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F1F1F"/>
                </a:solidFill>
                <a:latin typeface="Arial"/>
                <a:cs typeface="Arial"/>
              </a:rPr>
              <a:t>yes</a:t>
            </a:r>
            <a:endParaRPr lang="en-US" sz="1100" dirty="0"/>
          </a:p>
        </p:txBody>
      </p:sp>
      <p:sp>
        <p:nvSpPr>
          <p:cNvPr id="27" name="Shape 27"/>
          <p:cNvSpPr/>
          <p:nvPr/>
        </p:nvSpPr>
        <p:spPr>
          <a:xfrm>
            <a:off x="7863840" y="1783080"/>
            <a:ext cx="3867912" cy="7315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28" name="Text 28"/>
          <p:cNvSpPr txBox="1"/>
          <p:nvPr/>
        </p:nvSpPr>
        <p:spPr>
          <a:xfrm>
            <a:off x="8046720" y="1874520"/>
            <a:ext cx="350215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1F1F"/>
                </a:solidFill>
                <a:latin typeface="Arial"/>
                <a:cs typeface="Arial"/>
              </a:rPr>
              <a:t>Router LLM</a:t>
            </a:r>
            <a:endParaRPr lang="en-US" sz="1500" dirty="0"/>
          </a:p>
        </p:txBody>
      </p:sp>
      <p:sp>
        <p:nvSpPr>
          <p:cNvPr id="29" name="Text 29"/>
          <p:cNvSpPr txBox="1"/>
          <p:nvPr/>
        </p:nvSpPr>
        <p:spPr>
          <a:xfrm>
            <a:off x="8046720" y="2185416"/>
            <a:ext cx="350215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Arial"/>
                <a:cs typeface="Arial"/>
              </a:rPr>
              <a:t>routes the turn to its services</a:t>
            </a:r>
            <a:endParaRPr lang="en-US" sz="1200" dirty="0"/>
          </a:p>
        </p:txBody>
      </p:sp>
      <p:cxnSp>
        <p:nvCxnSpPr>
          <p:cNvPr id="30" name="Connector 30"/>
          <p:cNvCxnSpPr/>
          <p:nvPr/>
        </p:nvCxnSpPr>
        <p:spPr>
          <a:xfrm>
            <a:off x="7397496" y="3063240"/>
            <a:ext cx="429768" cy="0"/>
          </a:xfrm>
          <a:prstGeom prst="line">
            <a:avLst/>
          </a:prstGeom>
          <a:noFill/>
          <a:ln w="22225">
            <a:solidFill>
              <a:srgbClr val="E30613"/>
            </a:solidFill>
            <a:prstDash val="solid"/>
            <a:tailEnd type="triangle" w="med" len="med"/>
          </a:ln>
        </p:spPr>
      </p:cxnSp>
      <p:sp>
        <p:nvSpPr>
          <p:cNvPr id="31" name="Text 31"/>
          <p:cNvSpPr txBox="1"/>
          <p:nvPr/>
        </p:nvSpPr>
        <p:spPr>
          <a:xfrm>
            <a:off x="7360920" y="278892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30613"/>
                </a:solidFill>
                <a:latin typeface="Arial"/>
                <a:cs typeface="Arial"/>
              </a:rPr>
              <a:t>no</a:t>
            </a:r>
            <a:endParaRPr lang="en-US" sz="1100" dirty="0"/>
          </a:p>
        </p:txBody>
      </p:sp>
      <p:sp>
        <p:nvSpPr>
          <p:cNvPr id="32" name="Shape 32"/>
          <p:cNvSpPr/>
          <p:nvPr/>
        </p:nvSpPr>
        <p:spPr>
          <a:xfrm>
            <a:off x="7863840" y="2697480"/>
            <a:ext cx="3867912" cy="73152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33" name="Text 33"/>
          <p:cNvSpPr txBox="1"/>
          <p:nvPr/>
        </p:nvSpPr>
        <p:spPr>
          <a:xfrm>
            <a:off x="8046720" y="2788920"/>
            <a:ext cx="350215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Main model sees the refusal</a:t>
            </a:r>
            <a:endParaRPr lang="en-US" sz="1500" dirty="0"/>
          </a:p>
        </p:txBody>
      </p:sp>
      <p:sp>
        <p:nvSpPr>
          <p:cNvPr id="34" name="Text 34"/>
          <p:cNvSpPr txBox="1"/>
          <p:nvPr/>
        </p:nvSpPr>
        <p:spPr>
          <a:xfrm>
            <a:off x="8046720" y="3099816"/>
            <a:ext cx="350215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writes a polite decline; nothing is routed</a:t>
            </a:r>
            <a:endParaRPr lang="en-US" sz="1200" dirty="0"/>
          </a:p>
        </p:txBody>
      </p:sp>
      <p:sp>
        <p:nvSpPr>
          <p:cNvPr id="35" name="Text 35"/>
          <p:cNvSpPr txBox="1"/>
          <p:nvPr/>
        </p:nvSpPr>
        <p:spPr>
          <a:xfrm>
            <a:off x="457200" y="3703320"/>
            <a:ext cx="5522976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Arial"/>
                <a:cs typeface="Arial"/>
              </a:rPr>
              <a:t>Prompt Guard 2</a:t>
            </a:r>
            <a:endParaRPr lang="en-US" sz="1200" dirty="0"/>
          </a:p>
        </p:txBody>
      </p:sp>
      <p:cxnSp>
        <p:nvCxnSpPr>
          <p:cNvPr id="36" name="Connector 36"/>
          <p:cNvCxnSpPr/>
          <p:nvPr/>
        </p:nvCxnSpPr>
        <p:spPr>
          <a:xfrm>
            <a:off x="457200" y="3986784"/>
            <a:ext cx="5522976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cxnSp>
      <p:sp>
        <p:nvSpPr>
          <p:cNvPr id="37" name="Text 37"/>
          <p:cNvSpPr txBox="1"/>
          <p:nvPr/>
        </p:nvSpPr>
        <p:spPr>
          <a:xfrm>
            <a:off x="457200" y="4096512"/>
            <a:ext cx="5522976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30613"/>
                </a:solidFill>
                <a:latin typeface="Arial"/>
                <a:cs typeface="Arial"/>
              </a:rPr>
              <a:t>Model: Llama Prompt Guard 2 · attacks on the assistant</a:t>
            </a:r>
            <a:endParaRPr lang="en-US" sz="1200" dirty="0"/>
          </a:p>
        </p:txBody>
      </p:sp>
      <p:sp>
        <p:nvSpPr>
          <p:cNvPr id="38" name="Text 38"/>
          <p:cNvSpPr txBox="1"/>
          <p:nvPr/>
        </p:nvSpPr>
        <p:spPr>
          <a:xfrm>
            <a:off x="457200" y="4407408"/>
            <a:ext cx="5522976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Arial"/>
                <a:cs typeface="Arial"/>
              </a:rPr>
              <a:t>Catches  </a:t>
            </a:r>
            <a:endParaRPr lang="en-US" sz="1200" dirty="0"/>
          </a:p>
          <a:p>
            <a:pPr marL="155448" indent="-155448">
              <a:spcAft>
                <a:spcPts val="200"/>
              </a:spcAft>
              <a:buClr>
                <a:srgbClr val="E30613"/>
              </a:buClr>
              <a:buFont typeface="Arial"/>
              <a:buChar char="•"/>
            </a:pPr>
            <a:r>
              <a:rPr lang="en-US" sz="1200" dirty="0">
                <a:solidFill>
                  <a:srgbClr val="3C3C3C"/>
                </a:solidFill>
                <a:latin typeface="Arial"/>
                <a:cs typeface="Arial"/>
              </a:rPr>
              <a:t>prompt injection: 'ignore your instructions', instructions hidden in pasted text</a:t>
            </a:r>
            <a:endParaRPr lang="en-US" sz="1200" dirty="0"/>
          </a:p>
          <a:p>
            <a:pPr marL="155448" indent="-155448">
              <a:spcAft>
                <a:spcPts val="200"/>
              </a:spcAft>
              <a:buClr>
                <a:srgbClr val="E30613"/>
              </a:buClr>
              <a:buFont typeface="Arial"/>
              <a:buChar char="•"/>
            </a:pPr>
            <a:r>
              <a:rPr lang="en-US" sz="1200" dirty="0">
                <a:solidFill>
                  <a:srgbClr val="3C3C3C"/>
                </a:solidFill>
                <a:latin typeface="Arial"/>
                <a:cs typeface="Arial"/>
              </a:rPr>
              <a:t>jailbreak attempts: role-play and 'pretend you are' tricks to slip the rules</a:t>
            </a:r>
            <a:endParaRPr lang="en-US" sz="1200" dirty="0"/>
          </a:p>
          <a:p>
            <a:pPr marL="0" indent="0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Arial"/>
                <a:cs typeface="Arial"/>
              </a:rPr>
              <a:t>Why  </a:t>
            </a:r>
            <a:r>
              <a:rPr lang="en-US" sz="1200" dirty="0">
                <a:solidFill>
                  <a:srgbClr val="3C3C3C"/>
                </a:solidFill>
                <a:latin typeface="Arial"/>
                <a:cs typeface="Arial"/>
              </a:rPr>
              <a:t>the models must only ever follow the bank's instructions, never the customer's</a:t>
            </a:r>
            <a:endParaRPr lang="en-US" sz="1200" dirty="0"/>
          </a:p>
        </p:txBody>
      </p:sp>
      <p:sp>
        <p:nvSpPr>
          <p:cNvPr id="39" name="Text 39"/>
          <p:cNvSpPr txBox="1"/>
          <p:nvPr/>
        </p:nvSpPr>
        <p:spPr>
          <a:xfrm>
            <a:off x="6208776" y="3703320"/>
            <a:ext cx="5522976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Arial"/>
                <a:cs typeface="Arial"/>
              </a:rPr>
              <a:t>PolyGuard</a:t>
            </a:r>
            <a:endParaRPr lang="en-US" sz="1200" dirty="0"/>
          </a:p>
        </p:txBody>
      </p:sp>
      <p:cxnSp>
        <p:nvCxnSpPr>
          <p:cNvPr id="40" name="Connector 40"/>
          <p:cNvCxnSpPr/>
          <p:nvPr/>
        </p:nvCxnSpPr>
        <p:spPr>
          <a:xfrm>
            <a:off x="6208776" y="3986784"/>
            <a:ext cx="5522976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cxnSp>
      <p:sp>
        <p:nvSpPr>
          <p:cNvPr id="41" name="Text 41"/>
          <p:cNvSpPr txBox="1"/>
          <p:nvPr/>
        </p:nvSpPr>
        <p:spPr>
          <a:xfrm>
            <a:off x="6208776" y="4096512"/>
            <a:ext cx="5522976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30613"/>
                </a:solidFill>
                <a:latin typeface="Arial"/>
                <a:cs typeface="Arial"/>
              </a:rPr>
              <a:t>Model: Polyguard-Qwen-Smol · toxicity prompts, small multilingual</a:t>
            </a:r>
            <a:endParaRPr lang="en-US" sz="1200" dirty="0"/>
          </a:p>
        </p:txBody>
      </p:sp>
      <p:sp>
        <p:nvSpPr>
          <p:cNvPr id="42" name="Text 42"/>
          <p:cNvSpPr txBox="1"/>
          <p:nvPr/>
        </p:nvSpPr>
        <p:spPr>
          <a:xfrm>
            <a:off x="6208776" y="4407408"/>
            <a:ext cx="5522976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Arial"/>
                <a:cs typeface="Arial"/>
              </a:rPr>
              <a:t>Catches  </a:t>
            </a:r>
            <a:endParaRPr lang="en-US" sz="1200" dirty="0"/>
          </a:p>
          <a:p>
            <a:pPr marL="155448" indent="-155448">
              <a:spcAft>
                <a:spcPts val="200"/>
              </a:spcAft>
              <a:buClr>
                <a:srgbClr val="E30613"/>
              </a:buClr>
              <a:buFont typeface="Arial"/>
              <a:buChar char="•"/>
            </a:pPr>
            <a:r>
              <a:rPr lang="en-US" sz="1200" dirty="0">
                <a:solidFill>
                  <a:srgbClr val="3C3C3C"/>
                </a:solidFill>
                <a:latin typeface="Arial"/>
                <a:cs typeface="Arial"/>
              </a:rPr>
              <a:t>harmful or unsafe requests: violence, self-harm, hate, illegal activity</a:t>
            </a:r>
            <a:endParaRPr lang="en-US" sz="1200" dirty="0"/>
          </a:p>
          <a:p>
            <a:pPr marL="155448" indent="-155448">
              <a:spcAft>
                <a:spcPts val="200"/>
              </a:spcAft>
              <a:buClr>
                <a:srgbClr val="E30613"/>
              </a:buClr>
              <a:buFont typeface="Arial"/>
              <a:buChar char="•"/>
            </a:pPr>
            <a:r>
              <a:rPr lang="en-US" sz="1200" dirty="0">
                <a:solidFill>
                  <a:srgbClr val="3C3C3C"/>
                </a:solidFill>
                <a:latin typeface="Arial"/>
                <a:cs typeface="Arial"/>
              </a:rPr>
              <a:t>multilingual: Bahasa Indonesia and English alike, and mixed messages</a:t>
            </a:r>
            <a:endParaRPr lang="en-US" sz="1200" dirty="0"/>
          </a:p>
          <a:p>
            <a:pPr marL="0" indent="0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Arial"/>
                <a:cs typeface="Arial"/>
              </a:rPr>
              <a:t>Why  </a:t>
            </a:r>
            <a:r>
              <a:rPr lang="en-US" sz="1200" dirty="0">
                <a:solidFill>
                  <a:srgbClr val="3C3C3C"/>
                </a:solidFill>
                <a:latin typeface="Arial"/>
                <a:cs typeface="Arial"/>
              </a:rPr>
              <a:t>customers write in their own language; an English-only guard misses most of it</a:t>
            </a:r>
            <a:endParaRPr lang="en-US" sz="1200" dirty="0"/>
          </a:p>
        </p:txBody>
      </p:sp>
      <p:sp>
        <p:nvSpPr>
          <p:cNvPr id="43" name="Shape 43"/>
          <p:cNvSpPr/>
          <p:nvPr/>
        </p:nvSpPr>
        <p:spPr>
          <a:xfrm>
            <a:off x="457200" y="5669280"/>
            <a:ext cx="11274552" cy="502920"/>
          </a:xfrm>
          <a:prstGeom prst="rect">
            <a:avLst/>
          </a:prstGeom>
          <a:solidFill>
            <a:srgbClr val="FCE8E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44" name="Shape 44"/>
          <p:cNvSpPr/>
          <p:nvPr/>
        </p:nvSpPr>
        <p:spPr>
          <a:xfrm>
            <a:off x="457200" y="5669280"/>
            <a:ext cx="64008" cy="50292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45" name="Text 45"/>
          <p:cNvSpPr txBox="1"/>
          <p:nvPr/>
        </p:nvSpPr>
        <p:spPr>
          <a:xfrm>
            <a:off x="685800" y="566928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E30613"/>
                </a:solidFill>
                <a:latin typeface="Arial"/>
                <a:cs typeface="Arial"/>
              </a:rPr>
              <a:t>So what  </a:t>
            </a:r>
            <a:r>
              <a:rPr lang="en-US" sz="1300" dirty="0">
                <a:solidFill>
                  <a:srgbClr val="1F1F1F"/>
                </a:solidFill>
                <a:latin typeface="Arial"/>
                <a:cs typeface="Arial"/>
              </a:rPr>
              <a:t>both guards pass → the Router LLM routes the turn · either refuses → the main model declines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57200" y="301752"/>
            <a:ext cx="100584" cy="100584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237744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30613"/>
                </a:solidFill>
                <a:latin typeface="Arial"/>
                <a:cs typeface="Arial"/>
              </a:rPr>
              <a:t>OPERATIONS · MONITORING</a:t>
            </a:r>
            <a:endParaRPr lang="en-US" sz="9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502920"/>
            <a:ext cx="1127455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2200" dirty="0">
                <a:solidFill>
                  <a:srgbClr val="1F1F1F"/>
                </a:solidFill>
                <a:latin typeface="Georgia"/>
                <a:cs typeface="Georgia"/>
              </a:rPr>
              <a:t>Prometheus and Jaeger feed one Grafana view, and alerts escalate from L1 to L3</a:t>
            </a:r>
            <a:endParaRPr lang="en-US" sz="2200" dirty="0"/>
          </a:p>
        </p:txBody>
      </p:sp>
      <p:cxnSp>
        <p:nvCxnSpPr>
          <p:cNvPr id="5" name="Connector 5"/>
          <p:cNvCxnSpPr/>
          <p:nvPr/>
        </p:nvCxnSpPr>
        <p:spPr>
          <a:xfrm>
            <a:off x="457200" y="137160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cxnSp>
      <p:sp>
        <p:nvSpPr>
          <p:cNvPr id="6" name="Text 6"/>
          <p:cNvSpPr txBox="1"/>
          <p:nvPr/>
        </p:nvSpPr>
        <p:spPr>
          <a:xfrm>
            <a:off x="457200" y="6446520"/>
            <a:ext cx="10332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6E6E6E"/>
                </a:solidFill>
                <a:latin typeface="Arial"/>
                <a:cs typeface="Arial"/>
              </a:rPr>
              <a:t>Source: TANYA AI observability design; support tiers L1–L3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11000232" y="64465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Aft>
                <a:spcPts val="300"/>
              </a:spcAft>
              <a:buNone/>
            </a:pPr>
            <a:r>
              <a:rPr lang="en-US" sz="900" dirty="0">
                <a:solidFill>
                  <a:srgbClr val="6E6E6E"/>
                </a:solidFill>
                <a:latin typeface="Arial"/>
                <a:cs typeface="Arial"/>
              </a:rPr>
              <a:t>12</a:t>
            </a:r>
            <a:endParaRPr lang="en-US" sz="900" dirty="0"/>
          </a:p>
        </p:txBody>
      </p:sp>
      <p:sp>
        <p:nvSpPr>
          <p:cNvPr id="8" name="Text 8"/>
          <p:cNvSpPr txBox="1"/>
          <p:nvPr/>
        </p:nvSpPr>
        <p:spPr>
          <a:xfrm>
            <a:off x="457200" y="1554480"/>
            <a:ext cx="22402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Arial"/>
                <a:cs typeface="Arial"/>
              </a:rPr>
              <a:t>Sources</a:t>
            </a:r>
            <a:endParaRPr lang="en-US" sz="1200" dirty="0"/>
          </a:p>
        </p:txBody>
      </p:sp>
      <p:cxnSp>
        <p:nvCxnSpPr>
          <p:cNvPr id="9" name="Connector 9"/>
          <p:cNvCxnSpPr/>
          <p:nvPr/>
        </p:nvCxnSpPr>
        <p:spPr>
          <a:xfrm>
            <a:off x="457200" y="1837944"/>
            <a:ext cx="224028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cxnSp>
      <p:sp>
        <p:nvSpPr>
          <p:cNvPr id="10" name="Text 10"/>
          <p:cNvSpPr txBox="1"/>
          <p:nvPr/>
        </p:nvSpPr>
        <p:spPr>
          <a:xfrm>
            <a:off x="3063240" y="1554480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Arial"/>
                <a:cs typeface="Arial"/>
              </a:rPr>
              <a:t>Collect</a:t>
            </a:r>
            <a:endParaRPr lang="en-US" sz="1200" dirty="0"/>
          </a:p>
        </p:txBody>
      </p:sp>
      <p:cxnSp>
        <p:nvCxnSpPr>
          <p:cNvPr id="11" name="Connector 11"/>
          <p:cNvCxnSpPr/>
          <p:nvPr/>
        </p:nvCxnSpPr>
        <p:spPr>
          <a:xfrm>
            <a:off x="3063240" y="1837944"/>
            <a:ext cx="233172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cxnSp>
      <p:sp>
        <p:nvSpPr>
          <p:cNvPr id="12" name="Text 12"/>
          <p:cNvSpPr txBox="1"/>
          <p:nvPr/>
        </p:nvSpPr>
        <p:spPr>
          <a:xfrm>
            <a:off x="5760720" y="1554480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Arial"/>
                <a:cs typeface="Arial"/>
              </a:rPr>
              <a:t>See and alert</a:t>
            </a:r>
            <a:endParaRPr lang="en-US" sz="1200" dirty="0"/>
          </a:p>
        </p:txBody>
      </p:sp>
      <p:cxnSp>
        <p:nvCxnSpPr>
          <p:cNvPr id="13" name="Connector 13"/>
          <p:cNvCxnSpPr/>
          <p:nvPr/>
        </p:nvCxnSpPr>
        <p:spPr>
          <a:xfrm>
            <a:off x="5760720" y="1837944"/>
            <a:ext cx="201168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cxnSp>
      <p:sp>
        <p:nvSpPr>
          <p:cNvPr id="14" name="Text 14"/>
          <p:cNvSpPr txBox="1"/>
          <p:nvPr/>
        </p:nvSpPr>
        <p:spPr>
          <a:xfrm>
            <a:off x="8138160" y="1554480"/>
            <a:ext cx="35935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Arial"/>
                <a:cs typeface="Arial"/>
              </a:rPr>
              <a:t>Respond</a:t>
            </a:r>
            <a:endParaRPr lang="en-US" sz="1200" dirty="0"/>
          </a:p>
        </p:txBody>
      </p:sp>
      <p:cxnSp>
        <p:nvCxnSpPr>
          <p:cNvPr id="15" name="Connector 15"/>
          <p:cNvCxnSpPr/>
          <p:nvPr/>
        </p:nvCxnSpPr>
        <p:spPr>
          <a:xfrm>
            <a:off x="8138160" y="1837944"/>
            <a:ext cx="3593592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cxnSp>
      <p:sp>
        <p:nvSpPr>
          <p:cNvPr id="16" name="Shape 16"/>
          <p:cNvSpPr/>
          <p:nvPr/>
        </p:nvSpPr>
        <p:spPr>
          <a:xfrm>
            <a:off x="457200" y="2103120"/>
            <a:ext cx="2240280" cy="9601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594360" y="2194560"/>
            <a:ext cx="19659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1F1F"/>
                </a:solidFill>
                <a:latin typeface="Arial"/>
                <a:cs typeface="Arial"/>
              </a:rPr>
              <a:t>vLLM serve</a:t>
            </a:r>
            <a:endParaRPr lang="en-US" sz="1400" dirty="0"/>
          </a:p>
        </p:txBody>
      </p:sp>
      <p:sp>
        <p:nvSpPr>
          <p:cNvPr id="18" name="Text 18"/>
          <p:cNvSpPr txBox="1"/>
          <p:nvPr/>
        </p:nvSpPr>
        <p:spPr>
          <a:xfrm>
            <a:off x="594360" y="2505456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C3C3C"/>
                </a:solidFill>
                <a:latin typeface="Arial"/>
                <a:cs typeface="Arial"/>
              </a:rPr>
              <a:t>tokens/s · time to first token · KV cache · queue</a:t>
            </a:r>
            <a:endParaRPr lang="en-US" sz="1100" dirty="0"/>
          </a:p>
        </p:txBody>
      </p:sp>
      <p:sp>
        <p:nvSpPr>
          <p:cNvPr id="19" name="Shape 19"/>
          <p:cNvSpPr/>
          <p:nvPr/>
        </p:nvSpPr>
        <p:spPr>
          <a:xfrm>
            <a:off x="457200" y="3264408"/>
            <a:ext cx="2240280" cy="9601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594360" y="3355848"/>
            <a:ext cx="19659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1F1F"/>
                </a:solidFill>
                <a:latin typeface="Arial"/>
                <a:cs typeface="Arial"/>
              </a:rPr>
              <a:t>GPUs</a:t>
            </a:r>
            <a:endParaRPr lang="en-US" sz="1400" dirty="0"/>
          </a:p>
        </p:txBody>
      </p:sp>
      <p:sp>
        <p:nvSpPr>
          <p:cNvPr id="21" name="Text 21"/>
          <p:cNvSpPr txBox="1"/>
          <p:nvPr/>
        </p:nvSpPr>
        <p:spPr>
          <a:xfrm>
            <a:off x="594360" y="3666744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C3C3C"/>
                </a:solidFill>
                <a:latin typeface="Arial"/>
                <a:cs typeface="Arial"/>
              </a:rPr>
              <a:t>DCGM exporter: GPU use and memory</a:t>
            </a:r>
            <a:endParaRPr lang="en-US" sz="1100" dirty="0"/>
          </a:p>
        </p:txBody>
      </p:sp>
      <p:sp>
        <p:nvSpPr>
          <p:cNvPr id="22" name="Shape 22"/>
          <p:cNvSpPr/>
          <p:nvPr/>
        </p:nvSpPr>
        <p:spPr>
          <a:xfrm>
            <a:off x="457200" y="4425696"/>
            <a:ext cx="2240280" cy="9601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594360" y="4517136"/>
            <a:ext cx="19659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1F1F"/>
                </a:solidFill>
                <a:latin typeface="Arial"/>
                <a:cs typeface="Arial"/>
              </a:rPr>
              <a:t>Router service</a:t>
            </a:r>
            <a:endParaRPr lang="en-US" sz="1400" dirty="0"/>
          </a:p>
        </p:txBody>
      </p:sp>
      <p:sp>
        <p:nvSpPr>
          <p:cNvPr id="24" name="Text 24"/>
          <p:cNvSpPr txBox="1"/>
          <p:nvPr/>
        </p:nvSpPr>
        <p:spPr>
          <a:xfrm>
            <a:off x="594360" y="4828032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C3C3C"/>
                </a:solidFill>
                <a:latin typeface="Arial"/>
                <a:cs typeface="Arial"/>
              </a:rPr>
              <a:t>OpenTelemetry spans for every model and tool call</a:t>
            </a:r>
            <a:endParaRPr lang="en-US" sz="1100" dirty="0"/>
          </a:p>
        </p:txBody>
      </p:sp>
      <p:sp>
        <p:nvSpPr>
          <p:cNvPr id="25" name="Shape 25"/>
          <p:cNvSpPr/>
          <p:nvPr/>
        </p:nvSpPr>
        <p:spPr>
          <a:xfrm>
            <a:off x="3063240" y="2103120"/>
            <a:ext cx="2331720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26" name="Shape 26"/>
          <p:cNvSpPr/>
          <p:nvPr/>
        </p:nvSpPr>
        <p:spPr>
          <a:xfrm>
            <a:off x="3063240" y="2103120"/>
            <a:ext cx="64008" cy="2121408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27" name="Text 27"/>
          <p:cNvSpPr txBox="1"/>
          <p:nvPr/>
        </p:nvSpPr>
        <p:spPr>
          <a:xfrm>
            <a:off x="3291840" y="2194560"/>
            <a:ext cx="19659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1F1F"/>
                </a:solidFill>
                <a:latin typeface="Arial"/>
                <a:cs typeface="Arial"/>
              </a:rPr>
              <a:t>Prometheus</a:t>
            </a:r>
            <a:endParaRPr lang="en-US" sz="1600" dirty="0"/>
          </a:p>
        </p:txBody>
      </p:sp>
      <p:sp>
        <p:nvSpPr>
          <p:cNvPr id="28" name="Text 28"/>
          <p:cNvSpPr txBox="1"/>
          <p:nvPr/>
        </p:nvSpPr>
        <p:spPr>
          <a:xfrm>
            <a:off x="3291840" y="2505456"/>
            <a:ext cx="19659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E30613"/>
                </a:solidFill>
                <a:latin typeface="Arial"/>
                <a:cs typeface="Arial"/>
              </a:rPr>
              <a:t>METRICS</a:t>
            </a:r>
            <a:endParaRPr lang="en-US" sz="1050" dirty="0"/>
          </a:p>
        </p:txBody>
      </p:sp>
      <p:sp>
        <p:nvSpPr>
          <p:cNvPr id="29" name="Text 29"/>
          <p:cNvSpPr txBox="1"/>
          <p:nvPr/>
        </p:nvSpPr>
        <p:spPr>
          <a:xfrm>
            <a:off x="3291840" y="2834640"/>
            <a:ext cx="1965960" cy="1298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55448" indent="-155448">
              <a:spcAft>
                <a:spcPts val="400"/>
              </a:spcAft>
              <a:buClr>
                <a:srgbClr val="E30613"/>
              </a:buClr>
              <a:buFont typeface="Arial"/>
              <a:buChar char="•"/>
            </a:pPr>
            <a:r>
              <a:rPr lang="en-US" sz="1200" dirty="0">
                <a:solidFill>
                  <a:srgbClr val="3C3C3C"/>
                </a:solidFill>
                <a:latin typeface="Arial"/>
                <a:cs typeface="Arial"/>
              </a:rPr>
              <a:t>vLLM metrics</a:t>
            </a:r>
            <a:endParaRPr lang="en-US" sz="1200" dirty="0"/>
          </a:p>
          <a:p>
            <a:pPr marL="155448" indent="-155448">
              <a:spcAft>
                <a:spcPts val="400"/>
              </a:spcAft>
              <a:buClr>
                <a:srgbClr val="E30613"/>
              </a:buClr>
              <a:buFont typeface="Arial"/>
              <a:buChar char="•"/>
            </a:pPr>
            <a:r>
              <a:rPr lang="en-US" sz="1200" dirty="0">
                <a:solidFill>
                  <a:srgbClr val="3C3C3C"/>
                </a:solidFill>
                <a:latin typeface="Arial"/>
                <a:cs typeface="Arial"/>
              </a:rPr>
              <a:t>GPU metrics</a:t>
            </a:r>
            <a:endParaRPr lang="en-US" sz="1200" dirty="0"/>
          </a:p>
        </p:txBody>
      </p:sp>
      <p:sp>
        <p:nvSpPr>
          <p:cNvPr id="30" name="Shape 30"/>
          <p:cNvSpPr/>
          <p:nvPr/>
        </p:nvSpPr>
        <p:spPr>
          <a:xfrm>
            <a:off x="3063240" y="4425696"/>
            <a:ext cx="2331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31" name="Shape 31"/>
          <p:cNvSpPr/>
          <p:nvPr/>
        </p:nvSpPr>
        <p:spPr>
          <a:xfrm>
            <a:off x="3063240" y="4425696"/>
            <a:ext cx="64008" cy="96012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32" name="Text 32"/>
          <p:cNvSpPr txBox="1"/>
          <p:nvPr/>
        </p:nvSpPr>
        <p:spPr>
          <a:xfrm>
            <a:off x="3291840" y="4517136"/>
            <a:ext cx="19659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1F1F"/>
                </a:solidFill>
                <a:latin typeface="Arial"/>
                <a:cs typeface="Arial"/>
              </a:rPr>
              <a:t>Jaeger</a:t>
            </a:r>
            <a:endParaRPr lang="en-US" sz="1600" dirty="0"/>
          </a:p>
        </p:txBody>
      </p:sp>
      <p:sp>
        <p:nvSpPr>
          <p:cNvPr id="33" name="Text 33"/>
          <p:cNvSpPr txBox="1"/>
          <p:nvPr/>
        </p:nvSpPr>
        <p:spPr>
          <a:xfrm>
            <a:off x="3291840" y="4828032"/>
            <a:ext cx="19659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E30613"/>
                </a:solidFill>
                <a:latin typeface="Arial"/>
                <a:cs typeface="Arial"/>
              </a:rPr>
              <a:t>TRACES</a:t>
            </a:r>
            <a:endParaRPr lang="en-US" sz="1050" dirty="0"/>
          </a:p>
        </p:txBody>
      </p:sp>
      <p:sp>
        <p:nvSpPr>
          <p:cNvPr id="34" name="Text 34"/>
          <p:cNvSpPr txBox="1"/>
          <p:nvPr/>
        </p:nvSpPr>
        <p:spPr>
          <a:xfrm>
            <a:off x="3291840" y="5047488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C3C3C"/>
                </a:solidFill>
                <a:latin typeface="Arial"/>
                <a:cs typeface="Arial"/>
              </a:rPr>
              <a:t>OpenTelemetry traces</a:t>
            </a:r>
            <a:endParaRPr lang="en-US" sz="1200" dirty="0"/>
          </a:p>
        </p:txBody>
      </p:sp>
      <p:cxnSp>
        <p:nvCxnSpPr>
          <p:cNvPr id="35" name="Connector 35"/>
          <p:cNvCxnSpPr/>
          <p:nvPr/>
        </p:nvCxnSpPr>
        <p:spPr>
          <a:xfrm>
            <a:off x="2734056" y="2583180"/>
            <a:ext cx="292608" cy="0"/>
          </a:xfrm>
          <a:prstGeom prst="line">
            <a:avLst/>
          </a:prstGeom>
          <a:noFill/>
          <a:ln w="22225">
            <a:solidFill>
              <a:srgbClr val="3C3C3C"/>
            </a:solidFill>
            <a:prstDash val="solid"/>
            <a:tailEnd type="triangle" w="med" len="med"/>
          </a:ln>
        </p:spPr>
      </p:cxnSp>
      <p:cxnSp>
        <p:nvCxnSpPr>
          <p:cNvPr id="36" name="Connector 36"/>
          <p:cNvCxnSpPr/>
          <p:nvPr/>
        </p:nvCxnSpPr>
        <p:spPr>
          <a:xfrm>
            <a:off x="2734056" y="3744468"/>
            <a:ext cx="292608" cy="0"/>
          </a:xfrm>
          <a:prstGeom prst="line">
            <a:avLst/>
          </a:prstGeom>
          <a:noFill/>
          <a:ln w="22225">
            <a:solidFill>
              <a:srgbClr val="3C3C3C"/>
            </a:solidFill>
            <a:prstDash val="solid"/>
            <a:tailEnd type="triangle" w="med" len="med"/>
          </a:ln>
        </p:spPr>
      </p:cxnSp>
      <p:cxnSp>
        <p:nvCxnSpPr>
          <p:cNvPr id="37" name="Connector 37"/>
          <p:cNvCxnSpPr/>
          <p:nvPr/>
        </p:nvCxnSpPr>
        <p:spPr>
          <a:xfrm>
            <a:off x="2734056" y="4905756"/>
            <a:ext cx="292608" cy="0"/>
          </a:xfrm>
          <a:prstGeom prst="line">
            <a:avLst/>
          </a:prstGeom>
          <a:noFill/>
          <a:ln w="22225">
            <a:solidFill>
              <a:srgbClr val="3C3C3C"/>
            </a:solidFill>
            <a:prstDash val="solid"/>
            <a:tailEnd type="triangle" w="med" len="med"/>
          </a:ln>
        </p:spPr>
      </p:cxnSp>
      <p:sp>
        <p:nvSpPr>
          <p:cNvPr id="38" name="Shape 38"/>
          <p:cNvSpPr/>
          <p:nvPr/>
        </p:nvSpPr>
        <p:spPr>
          <a:xfrm>
            <a:off x="5760720" y="2103120"/>
            <a:ext cx="2011680" cy="3282696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39" name="Text 39"/>
          <p:cNvSpPr txBox="1"/>
          <p:nvPr/>
        </p:nvSpPr>
        <p:spPr>
          <a:xfrm>
            <a:off x="5943600" y="237744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Georgia"/>
                <a:cs typeface="Georgia"/>
              </a:rPr>
              <a:t>Grafana</a:t>
            </a:r>
            <a:endParaRPr lang="en-US" sz="2200" dirty="0"/>
          </a:p>
        </p:txBody>
      </p:sp>
      <p:sp>
        <p:nvSpPr>
          <p:cNvPr id="40" name="Text 40"/>
          <p:cNvSpPr txBox="1"/>
          <p:nvPr/>
        </p:nvSpPr>
        <p:spPr>
          <a:xfrm>
            <a:off x="5943600" y="283464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dashboards and alerts</a:t>
            </a:r>
            <a:endParaRPr lang="en-US" sz="1200" dirty="0"/>
          </a:p>
        </p:txBody>
      </p:sp>
      <p:sp>
        <p:nvSpPr>
          <p:cNvPr id="41" name="Text 41"/>
          <p:cNvSpPr txBox="1"/>
          <p:nvPr/>
        </p:nvSpPr>
        <p:spPr>
          <a:xfrm>
            <a:off x="5943600" y="3337560"/>
            <a:ext cx="164592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metrics and traces in one place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the same view for every tier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alerts go to L1 first</a:t>
            </a:r>
            <a:endParaRPr lang="en-US" sz="1200" dirty="0"/>
          </a:p>
        </p:txBody>
      </p:sp>
      <p:cxnSp>
        <p:nvCxnSpPr>
          <p:cNvPr id="42" name="Connector 42"/>
          <p:cNvCxnSpPr/>
          <p:nvPr/>
        </p:nvCxnSpPr>
        <p:spPr>
          <a:xfrm>
            <a:off x="5431536" y="3163824"/>
            <a:ext cx="292608" cy="0"/>
          </a:xfrm>
          <a:prstGeom prst="line">
            <a:avLst/>
          </a:prstGeom>
          <a:noFill/>
          <a:ln w="22225">
            <a:solidFill>
              <a:srgbClr val="3C3C3C"/>
            </a:solidFill>
            <a:prstDash val="solid"/>
            <a:tailEnd type="triangle" w="med" len="med"/>
          </a:ln>
        </p:spPr>
      </p:cxnSp>
      <p:cxnSp>
        <p:nvCxnSpPr>
          <p:cNvPr id="43" name="Connector 43"/>
          <p:cNvCxnSpPr/>
          <p:nvPr/>
        </p:nvCxnSpPr>
        <p:spPr>
          <a:xfrm>
            <a:off x="5431536" y="4905756"/>
            <a:ext cx="292608" cy="0"/>
          </a:xfrm>
          <a:prstGeom prst="line">
            <a:avLst/>
          </a:prstGeom>
          <a:noFill/>
          <a:ln w="22225">
            <a:solidFill>
              <a:srgbClr val="3C3C3C"/>
            </a:solidFill>
            <a:prstDash val="solid"/>
            <a:tailEnd type="triangle" w="med" len="med"/>
          </a:ln>
        </p:spPr>
      </p:cxnSp>
      <p:sp>
        <p:nvSpPr>
          <p:cNvPr id="44" name="Shape 44"/>
          <p:cNvSpPr/>
          <p:nvPr/>
        </p:nvSpPr>
        <p:spPr>
          <a:xfrm>
            <a:off x="8138160" y="2103120"/>
            <a:ext cx="35935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45" name="Shape 45"/>
          <p:cNvSpPr/>
          <p:nvPr/>
        </p:nvSpPr>
        <p:spPr>
          <a:xfrm>
            <a:off x="8138160" y="2103120"/>
            <a:ext cx="777240" cy="91440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/>
                <a:cs typeface="Arial"/>
              </a:rPr>
              <a:t>L1</a:t>
            </a:r>
            <a:endParaRPr lang="en-US" sz="2000" dirty="0"/>
          </a:p>
        </p:txBody>
      </p:sp>
      <p:sp>
        <p:nvSpPr>
          <p:cNvPr id="46" name="Text 46"/>
          <p:cNvSpPr txBox="1"/>
          <p:nvPr/>
        </p:nvSpPr>
        <p:spPr>
          <a:xfrm>
            <a:off x="9098280" y="2194560"/>
            <a:ext cx="249631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Arial"/>
                <a:cs typeface="Arial"/>
              </a:rPr>
              <a:t>TCH command center</a:t>
            </a:r>
            <a:endParaRPr lang="en-US" sz="1300" dirty="0"/>
          </a:p>
        </p:txBody>
      </p:sp>
      <p:sp>
        <p:nvSpPr>
          <p:cNvPr id="47" name="Text 47"/>
          <p:cNvSpPr txBox="1"/>
          <p:nvPr/>
        </p:nvSpPr>
        <p:spPr>
          <a:xfrm>
            <a:off x="9098280" y="2633472"/>
            <a:ext cx="249631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C3C3C"/>
                </a:solidFill>
                <a:latin typeface="Arial"/>
                <a:cs typeface="Arial"/>
              </a:rPr>
              <a:t>watches dashboards and alerts; first response</a:t>
            </a:r>
            <a:endParaRPr lang="en-US" sz="1100" dirty="0"/>
          </a:p>
        </p:txBody>
      </p:sp>
      <p:sp>
        <p:nvSpPr>
          <p:cNvPr id="48" name="Shape 48"/>
          <p:cNvSpPr/>
          <p:nvPr/>
        </p:nvSpPr>
        <p:spPr>
          <a:xfrm>
            <a:off x="8138160" y="3291840"/>
            <a:ext cx="35935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49" name="Shape 49"/>
          <p:cNvSpPr/>
          <p:nvPr/>
        </p:nvSpPr>
        <p:spPr>
          <a:xfrm>
            <a:off x="8138160" y="3291840"/>
            <a:ext cx="777240" cy="91440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/>
                <a:cs typeface="Arial"/>
              </a:rPr>
              <a:t>L2</a:t>
            </a:r>
            <a:endParaRPr lang="en-US" sz="2000" dirty="0"/>
          </a:p>
        </p:txBody>
      </p:sp>
      <p:sp>
        <p:nvSpPr>
          <p:cNvPr id="50" name="Text 50"/>
          <p:cNvSpPr txBox="1"/>
          <p:nvPr/>
        </p:nvSpPr>
        <p:spPr>
          <a:xfrm>
            <a:off x="9098280" y="3383280"/>
            <a:ext cx="249631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Arial"/>
                <a:cs typeface="Arial"/>
              </a:rPr>
              <a:t>Backend Management (BEM) infrastructure</a:t>
            </a:r>
            <a:endParaRPr lang="en-US" sz="1300" dirty="0"/>
          </a:p>
        </p:txBody>
      </p:sp>
      <p:sp>
        <p:nvSpPr>
          <p:cNvPr id="51" name="Text 51"/>
          <p:cNvSpPr txBox="1"/>
          <p:nvPr/>
        </p:nvSpPr>
        <p:spPr>
          <a:xfrm>
            <a:off x="9098280" y="3822192"/>
            <a:ext cx="249631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C3C3C"/>
                </a:solidFill>
                <a:latin typeface="Arial"/>
                <a:cs typeface="Arial"/>
              </a:rPr>
              <a:t>servers, GPUs and platform</a:t>
            </a:r>
            <a:endParaRPr lang="en-US" sz="1100" dirty="0"/>
          </a:p>
        </p:txBody>
      </p:sp>
      <p:sp>
        <p:nvSpPr>
          <p:cNvPr id="52" name="Shape 52"/>
          <p:cNvSpPr/>
          <p:nvPr/>
        </p:nvSpPr>
        <p:spPr>
          <a:xfrm>
            <a:off x="8138160" y="4480560"/>
            <a:ext cx="35935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53" name="Shape 53"/>
          <p:cNvSpPr/>
          <p:nvPr/>
        </p:nvSpPr>
        <p:spPr>
          <a:xfrm>
            <a:off x="8138160" y="4480560"/>
            <a:ext cx="777240" cy="91440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/>
                <a:cs typeface="Arial"/>
              </a:rPr>
              <a:t>L3</a:t>
            </a:r>
            <a:endParaRPr lang="en-US" sz="2000" dirty="0"/>
          </a:p>
        </p:txBody>
      </p:sp>
      <p:sp>
        <p:nvSpPr>
          <p:cNvPr id="54" name="Text 54"/>
          <p:cNvSpPr txBox="1"/>
          <p:nvPr/>
        </p:nvSpPr>
        <p:spPr>
          <a:xfrm>
            <a:off x="9098280" y="4572000"/>
            <a:ext cx="249631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Arial"/>
                <a:cs typeface="Arial"/>
              </a:rPr>
              <a:t>Service level</a:t>
            </a:r>
            <a:endParaRPr lang="en-US" sz="1300" dirty="0"/>
          </a:p>
        </p:txBody>
      </p:sp>
      <p:sp>
        <p:nvSpPr>
          <p:cNvPr id="55" name="Text 55"/>
          <p:cNvSpPr txBox="1"/>
          <p:nvPr/>
        </p:nvSpPr>
        <p:spPr>
          <a:xfrm>
            <a:off x="9098280" y="5010912"/>
            <a:ext cx="249631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C3C3C"/>
                </a:solidFill>
                <a:latin typeface="Arial"/>
                <a:cs typeface="Arial"/>
              </a:rPr>
              <a:t>the TANYA AI service: router, guards and models</a:t>
            </a:r>
            <a:endParaRPr lang="en-US" sz="1100" dirty="0"/>
          </a:p>
        </p:txBody>
      </p:sp>
      <p:cxnSp>
        <p:nvCxnSpPr>
          <p:cNvPr id="56" name="Connector 56"/>
          <p:cNvCxnSpPr/>
          <p:nvPr/>
        </p:nvCxnSpPr>
        <p:spPr>
          <a:xfrm>
            <a:off x="8526780" y="3044952"/>
            <a:ext cx="0" cy="219456"/>
          </a:xfrm>
          <a:prstGeom prst="line">
            <a:avLst/>
          </a:prstGeom>
          <a:noFill/>
          <a:ln w="22225">
            <a:solidFill>
              <a:srgbClr val="3C3C3C"/>
            </a:solidFill>
            <a:prstDash val="solid"/>
            <a:tailEnd type="triangle" w="med" len="med"/>
          </a:ln>
        </p:spPr>
      </p:cxnSp>
      <p:sp>
        <p:nvSpPr>
          <p:cNvPr id="57" name="Text 57"/>
          <p:cNvSpPr txBox="1"/>
          <p:nvPr/>
        </p:nvSpPr>
        <p:spPr>
          <a:xfrm>
            <a:off x="8686800" y="30175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E6E6E"/>
                </a:solidFill>
                <a:latin typeface="Arial"/>
                <a:cs typeface="Arial"/>
              </a:rPr>
              <a:t>escalate</a:t>
            </a:r>
            <a:endParaRPr lang="en-US" sz="1000" dirty="0"/>
          </a:p>
        </p:txBody>
      </p:sp>
      <p:cxnSp>
        <p:nvCxnSpPr>
          <p:cNvPr id="58" name="Connector 58"/>
          <p:cNvCxnSpPr/>
          <p:nvPr/>
        </p:nvCxnSpPr>
        <p:spPr>
          <a:xfrm>
            <a:off x="8526780" y="4233672"/>
            <a:ext cx="0" cy="219456"/>
          </a:xfrm>
          <a:prstGeom prst="line">
            <a:avLst/>
          </a:prstGeom>
          <a:noFill/>
          <a:ln w="22225">
            <a:solidFill>
              <a:srgbClr val="3C3C3C"/>
            </a:solidFill>
            <a:prstDash val="solid"/>
            <a:tailEnd type="triangle" w="med" len="med"/>
          </a:ln>
        </p:spPr>
      </p:cxnSp>
      <p:sp>
        <p:nvSpPr>
          <p:cNvPr id="59" name="Text 59"/>
          <p:cNvSpPr txBox="1"/>
          <p:nvPr/>
        </p:nvSpPr>
        <p:spPr>
          <a:xfrm>
            <a:off x="8686800" y="4206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E6E6E"/>
                </a:solidFill>
                <a:latin typeface="Arial"/>
                <a:cs typeface="Arial"/>
              </a:rPr>
              <a:t>escalate</a:t>
            </a:r>
            <a:endParaRPr lang="en-US" sz="1000" dirty="0"/>
          </a:p>
        </p:txBody>
      </p:sp>
      <p:cxnSp>
        <p:nvCxnSpPr>
          <p:cNvPr id="60" name="Connector 60"/>
          <p:cNvCxnSpPr/>
          <p:nvPr/>
        </p:nvCxnSpPr>
        <p:spPr>
          <a:xfrm>
            <a:off x="7808976" y="2560320"/>
            <a:ext cx="292608" cy="0"/>
          </a:xfrm>
          <a:prstGeom prst="line">
            <a:avLst/>
          </a:prstGeom>
          <a:noFill/>
          <a:ln w="22225">
            <a:solidFill>
              <a:srgbClr val="E30613"/>
            </a:solidFill>
            <a:prstDash val="solid"/>
            <a:tailEnd type="triangle" w="med" len="med"/>
          </a:ln>
        </p:spPr>
      </p:cxnSp>
      <p:sp>
        <p:nvSpPr>
          <p:cNvPr id="61" name="Text 61"/>
          <p:cNvSpPr txBox="1"/>
          <p:nvPr/>
        </p:nvSpPr>
        <p:spPr>
          <a:xfrm>
            <a:off x="7772400" y="228600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30613"/>
                </a:solidFill>
                <a:latin typeface="Arial"/>
                <a:cs typeface="Arial"/>
              </a:rPr>
              <a:t>alerts</a:t>
            </a:r>
            <a:endParaRPr lang="en-US" sz="1000" dirty="0"/>
          </a:p>
        </p:txBody>
      </p:sp>
      <p:sp>
        <p:nvSpPr>
          <p:cNvPr id="62" name="Shape 62"/>
          <p:cNvSpPr/>
          <p:nvPr/>
        </p:nvSpPr>
        <p:spPr>
          <a:xfrm>
            <a:off x="457200" y="5715000"/>
            <a:ext cx="11274552" cy="502920"/>
          </a:xfrm>
          <a:prstGeom prst="rect">
            <a:avLst/>
          </a:prstGeom>
          <a:solidFill>
            <a:srgbClr val="FCE8E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63" name="Shape 63"/>
          <p:cNvSpPr/>
          <p:nvPr/>
        </p:nvSpPr>
        <p:spPr>
          <a:xfrm>
            <a:off x="457200" y="5715000"/>
            <a:ext cx="64008" cy="50292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64" name="Text 64"/>
          <p:cNvSpPr txBox="1"/>
          <p:nvPr/>
        </p:nvSpPr>
        <p:spPr>
          <a:xfrm>
            <a:off x="685800" y="571500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E30613"/>
                </a:solidFill>
                <a:latin typeface="Arial"/>
                <a:cs typeface="Arial"/>
              </a:rPr>
              <a:t>So what  </a:t>
            </a:r>
            <a:r>
              <a:rPr lang="en-US" sz="1300" dirty="0">
                <a:solidFill>
                  <a:srgbClr val="1F1F1F"/>
                </a:solidFill>
                <a:latin typeface="Arial"/>
                <a:cs typeface="Arial"/>
              </a:rPr>
              <a:t>one Grafana view for metrics and traces; alerts land at L1, then escalate to L2 or L3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57200" y="301752"/>
            <a:ext cx="100584" cy="100584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237744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30613"/>
                </a:solidFill>
                <a:latin typeface="Arial"/>
                <a:cs typeface="Arial"/>
              </a:rPr>
              <a:t>INFRASTRUCTURE · DEPLOYMENT</a:t>
            </a:r>
            <a:endParaRPr lang="en-US" sz="9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502920"/>
            <a:ext cx="1127455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2200" dirty="0">
                <a:solidFill>
                  <a:srgbClr val="1F1F1F"/>
                </a:solidFill>
                <a:latin typeface="Georgia"/>
                <a:cs typeface="Georgia"/>
              </a:rPr>
              <a:t>TANYA AI runs active-active on two sites: 2 × H200 in the data centre and 2 × H100 at the DR site</a:t>
            </a:r>
            <a:endParaRPr lang="en-US" sz="2200" dirty="0"/>
          </a:p>
        </p:txBody>
      </p:sp>
      <p:cxnSp>
        <p:nvCxnSpPr>
          <p:cNvPr id="5" name="Connector 5"/>
          <p:cNvCxnSpPr/>
          <p:nvPr/>
        </p:nvCxnSpPr>
        <p:spPr>
          <a:xfrm>
            <a:off x="457200" y="137160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cxnSp>
      <p:sp>
        <p:nvSpPr>
          <p:cNvPr id="6" name="Text 6"/>
          <p:cNvSpPr txBox="1"/>
          <p:nvPr/>
        </p:nvSpPr>
        <p:spPr>
          <a:xfrm>
            <a:off x="457200" y="6446520"/>
            <a:ext cx="10332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6E6E6E"/>
                </a:solidFill>
                <a:latin typeface="Arial"/>
                <a:cs typeface="Arial"/>
              </a:rPr>
              <a:t>Source: TANYA AI deployment plan; GPU memory figures are estimates to confirm with a load test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11000232" y="64465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Aft>
                <a:spcPts val="300"/>
              </a:spcAft>
              <a:buNone/>
            </a:pPr>
            <a:r>
              <a:rPr lang="en-US" sz="900" dirty="0">
                <a:solidFill>
                  <a:srgbClr val="6E6E6E"/>
                </a:solidFill>
                <a:latin typeface="Arial"/>
                <a:cs typeface="Arial"/>
              </a:rPr>
              <a:t>11</a:t>
            </a:r>
            <a:endParaRPr lang="en-US" sz="900" dirty="0"/>
          </a:p>
        </p:txBody>
      </p:sp>
      <p:sp>
        <p:nvSpPr>
          <p:cNvPr id="8" name="Shape 8"/>
          <p:cNvSpPr/>
          <p:nvPr/>
        </p:nvSpPr>
        <p:spPr>
          <a:xfrm>
            <a:off x="4270248" y="1554480"/>
            <a:ext cx="3657600" cy="658368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TANYA AI (Router)</a:t>
            </a:r>
            <a:endParaRPr lang="en-US" sz="1500" dirty="0"/>
          </a:p>
          <a:p>
            <a:pPr marL="0" indent="0" algn="ctr">
              <a:spcAft>
                <a:spcPts val="0"/>
              </a:spcAft>
              <a:buNone/>
            </a:pPr>
            <a:r>
              <a:rPr lang="en-US" sz="1100" dirty="0">
                <a:solidFill>
                  <a:srgbClr val="D0D0D0"/>
                </a:solidFill>
                <a:latin typeface="Arial"/>
                <a:cs typeface="Arial"/>
              </a:rPr>
              <a:t>guards · router · synthesis call the models</a:t>
            </a:r>
            <a:endParaRPr lang="en-US" sz="1100" dirty="0"/>
          </a:p>
        </p:txBody>
      </p:sp>
      <p:sp>
        <p:nvSpPr>
          <p:cNvPr id="9" name="Text 9"/>
          <p:cNvSpPr txBox="1"/>
          <p:nvPr/>
        </p:nvSpPr>
        <p:spPr>
          <a:xfrm>
            <a:off x="8156448" y="1554480"/>
            <a:ext cx="35661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30613"/>
                </a:solidFill>
                <a:latin typeface="Arial"/>
                <a:cs typeface="Arial"/>
              </a:rPr>
              <a:t>both sites active</a:t>
            </a:r>
            <a:endParaRPr lang="en-US" sz="1200" dirty="0"/>
          </a:p>
        </p:txBody>
      </p:sp>
      <p:cxnSp>
        <p:nvCxnSpPr>
          <p:cNvPr id="10" name="Connector 10"/>
          <p:cNvCxnSpPr/>
          <p:nvPr/>
        </p:nvCxnSpPr>
        <p:spPr>
          <a:xfrm>
            <a:off x="6099048" y="2212848"/>
            <a:ext cx="0" cy="182880"/>
          </a:xfrm>
          <a:prstGeom prst="line">
            <a:avLst/>
          </a:prstGeom>
          <a:noFill/>
          <a:ln w="19050">
            <a:solidFill>
              <a:srgbClr val="3C3C3C"/>
            </a:solidFill>
            <a:prstDash val="solid"/>
          </a:ln>
        </p:spPr>
      </p:cxnSp>
      <p:cxnSp>
        <p:nvCxnSpPr>
          <p:cNvPr id="11" name="Connector 11"/>
          <p:cNvCxnSpPr/>
          <p:nvPr/>
        </p:nvCxnSpPr>
        <p:spPr>
          <a:xfrm>
            <a:off x="3017520" y="2395728"/>
            <a:ext cx="6153912" cy="0"/>
          </a:xfrm>
          <a:prstGeom prst="line">
            <a:avLst/>
          </a:prstGeom>
          <a:noFill/>
          <a:ln w="19050">
            <a:solidFill>
              <a:srgbClr val="3C3C3C"/>
            </a:solidFill>
            <a:prstDash val="solid"/>
          </a:ln>
        </p:spPr>
      </p:cxnSp>
      <p:cxnSp>
        <p:nvCxnSpPr>
          <p:cNvPr id="12" name="Connector 12"/>
          <p:cNvCxnSpPr/>
          <p:nvPr/>
        </p:nvCxnSpPr>
        <p:spPr>
          <a:xfrm>
            <a:off x="3017520" y="2395728"/>
            <a:ext cx="0" cy="219456"/>
          </a:xfrm>
          <a:prstGeom prst="line">
            <a:avLst/>
          </a:prstGeom>
          <a:noFill/>
          <a:ln w="22225">
            <a:solidFill>
              <a:srgbClr val="3C3C3C"/>
            </a:solidFill>
            <a:prstDash val="solid"/>
            <a:tailEnd type="triangle" w="med" len="med"/>
          </a:ln>
        </p:spPr>
      </p:cxnSp>
      <p:cxnSp>
        <p:nvCxnSpPr>
          <p:cNvPr id="13" name="Connector 13"/>
          <p:cNvCxnSpPr/>
          <p:nvPr/>
        </p:nvCxnSpPr>
        <p:spPr>
          <a:xfrm>
            <a:off x="9171432" y="2395728"/>
            <a:ext cx="0" cy="219456"/>
          </a:xfrm>
          <a:prstGeom prst="line">
            <a:avLst/>
          </a:prstGeom>
          <a:noFill/>
          <a:ln w="22225">
            <a:solidFill>
              <a:srgbClr val="3C3C3C"/>
            </a:solidFill>
            <a:prstDash val="solid"/>
            <a:tailEnd type="triangle" w="med" len="med"/>
          </a:ln>
        </p:spPr>
      </p:cxnSp>
      <p:sp>
        <p:nvSpPr>
          <p:cNvPr id="14" name="Shape 14"/>
          <p:cNvSpPr/>
          <p:nvPr/>
        </p:nvSpPr>
        <p:spPr>
          <a:xfrm>
            <a:off x="457200" y="2651760"/>
            <a:ext cx="5120640" cy="29077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15" name="Shape 15"/>
          <p:cNvSpPr/>
          <p:nvPr/>
        </p:nvSpPr>
        <p:spPr>
          <a:xfrm>
            <a:off x="457200" y="2651760"/>
            <a:ext cx="5120640" cy="384048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182880" tIns="0" rIns="182880" bIns="0" rtlCol="0" anchor="ctr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PRIMARY · DATA CENTRE</a:t>
            </a:r>
            <a:endParaRPr lang="en-US" sz="1200" dirty="0"/>
          </a:p>
        </p:txBody>
      </p:sp>
      <p:sp>
        <p:nvSpPr>
          <p:cNvPr id="16" name="Shape 16"/>
          <p:cNvSpPr/>
          <p:nvPr/>
        </p:nvSpPr>
        <p:spPr>
          <a:xfrm>
            <a:off x="640080" y="3154680"/>
            <a:ext cx="4754880" cy="38404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37160" tIns="0" rIns="137160" bIns="0" rtlCol="0" anchor="ctr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Arial"/>
                <a:cs typeface="Arial"/>
              </a:rPr>
              <a:t>vLLM serve  </a:t>
            </a:r>
            <a:r>
              <a:rPr lang="en-US" sz="1100" dirty="0">
                <a:solidFill>
                  <a:srgbClr val="3C3C3C"/>
                </a:solidFill>
                <a:latin typeface="Arial"/>
                <a:cs typeface="Arial"/>
              </a:rPr>
              <a:t>Qwen 27B Flash Next (FP8) + guard models</a:t>
            </a:r>
            <a:endParaRPr lang="en-US" sz="1200" dirty="0"/>
          </a:p>
        </p:txBody>
      </p:sp>
      <p:cxnSp>
        <p:nvCxnSpPr>
          <p:cNvPr id="17" name="Connector 17"/>
          <p:cNvCxnSpPr/>
          <p:nvPr/>
        </p:nvCxnSpPr>
        <p:spPr>
          <a:xfrm>
            <a:off x="3017520" y="3557016"/>
            <a:ext cx="0" cy="118872"/>
          </a:xfrm>
          <a:prstGeom prst="line">
            <a:avLst/>
          </a:prstGeom>
          <a:noFill/>
          <a:ln w="22225">
            <a:solidFill>
              <a:srgbClr val="3C3C3C"/>
            </a:solidFill>
            <a:prstDash val="solid"/>
            <a:tailEnd type="triangle" w="med" len="med"/>
          </a:ln>
        </p:spPr>
      </p:cxnSp>
      <p:sp>
        <p:nvSpPr>
          <p:cNvPr id="18" name="Shape 18"/>
          <p:cNvSpPr/>
          <p:nvPr/>
        </p:nvSpPr>
        <p:spPr>
          <a:xfrm>
            <a:off x="640080" y="3703320"/>
            <a:ext cx="1965960" cy="749808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768096" y="373989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6B3B3"/>
                </a:solidFill>
                <a:latin typeface="Arial"/>
                <a:cs typeface="Arial"/>
              </a:rPr>
              <a:t>GPU 1</a:t>
            </a:r>
            <a:endParaRPr lang="en-US" sz="900" dirty="0"/>
          </a:p>
        </p:txBody>
      </p:sp>
      <p:sp>
        <p:nvSpPr>
          <p:cNvPr id="20" name="Text 20"/>
          <p:cNvSpPr txBox="1"/>
          <p:nvPr/>
        </p:nvSpPr>
        <p:spPr>
          <a:xfrm>
            <a:off x="768096" y="3931920"/>
            <a:ext cx="170992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/>
                <a:cs typeface="Arial"/>
              </a:rPr>
              <a:t>H200  </a:t>
            </a: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141 GB</a:t>
            </a:r>
            <a:endParaRPr lang="en-US" sz="2000" dirty="0"/>
          </a:p>
        </p:txBody>
      </p:sp>
      <p:sp>
        <p:nvSpPr>
          <p:cNvPr id="21" name="Shape 21"/>
          <p:cNvSpPr/>
          <p:nvPr/>
        </p:nvSpPr>
        <p:spPr>
          <a:xfrm>
            <a:off x="868680" y="4453128"/>
            <a:ext cx="146304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22" name="Shape 22"/>
          <p:cNvSpPr/>
          <p:nvPr/>
        </p:nvSpPr>
        <p:spPr>
          <a:xfrm>
            <a:off x="1133856" y="4453128"/>
            <a:ext cx="146304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23" name="Shape 23"/>
          <p:cNvSpPr/>
          <p:nvPr/>
        </p:nvSpPr>
        <p:spPr>
          <a:xfrm>
            <a:off x="1399032" y="4453128"/>
            <a:ext cx="146304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24" name="Shape 24"/>
          <p:cNvSpPr/>
          <p:nvPr/>
        </p:nvSpPr>
        <p:spPr>
          <a:xfrm>
            <a:off x="1664208" y="4453128"/>
            <a:ext cx="146304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25" name="Shape 25"/>
          <p:cNvSpPr/>
          <p:nvPr/>
        </p:nvSpPr>
        <p:spPr>
          <a:xfrm>
            <a:off x="1929384" y="4453128"/>
            <a:ext cx="146304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26" name="Shape 26"/>
          <p:cNvSpPr/>
          <p:nvPr/>
        </p:nvSpPr>
        <p:spPr>
          <a:xfrm>
            <a:off x="2194560" y="4453128"/>
            <a:ext cx="146304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27" name="Shape 27"/>
          <p:cNvSpPr/>
          <p:nvPr/>
        </p:nvSpPr>
        <p:spPr>
          <a:xfrm>
            <a:off x="3429000" y="3703320"/>
            <a:ext cx="1965960" cy="749808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28" name="Text 28"/>
          <p:cNvSpPr txBox="1"/>
          <p:nvPr/>
        </p:nvSpPr>
        <p:spPr>
          <a:xfrm>
            <a:off x="3557016" y="373989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6B3B3"/>
                </a:solidFill>
                <a:latin typeface="Arial"/>
                <a:cs typeface="Arial"/>
              </a:rPr>
              <a:t>GPU 2</a:t>
            </a:r>
            <a:endParaRPr lang="en-US" sz="900" dirty="0"/>
          </a:p>
        </p:txBody>
      </p:sp>
      <p:sp>
        <p:nvSpPr>
          <p:cNvPr id="29" name="Text 29"/>
          <p:cNvSpPr txBox="1"/>
          <p:nvPr/>
        </p:nvSpPr>
        <p:spPr>
          <a:xfrm>
            <a:off x="3557016" y="3931920"/>
            <a:ext cx="170992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/>
                <a:cs typeface="Arial"/>
              </a:rPr>
              <a:t>H200  </a:t>
            </a: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141 GB</a:t>
            </a:r>
            <a:endParaRPr lang="en-US" sz="2000" dirty="0"/>
          </a:p>
        </p:txBody>
      </p:sp>
      <p:sp>
        <p:nvSpPr>
          <p:cNvPr id="30" name="Shape 30"/>
          <p:cNvSpPr/>
          <p:nvPr/>
        </p:nvSpPr>
        <p:spPr>
          <a:xfrm>
            <a:off x="3657600" y="4453128"/>
            <a:ext cx="146304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31" name="Shape 31"/>
          <p:cNvSpPr/>
          <p:nvPr/>
        </p:nvSpPr>
        <p:spPr>
          <a:xfrm>
            <a:off x="3922776" y="4453128"/>
            <a:ext cx="146304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32" name="Shape 32"/>
          <p:cNvSpPr/>
          <p:nvPr/>
        </p:nvSpPr>
        <p:spPr>
          <a:xfrm>
            <a:off x="4187952" y="4453128"/>
            <a:ext cx="146304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33" name="Shape 33"/>
          <p:cNvSpPr/>
          <p:nvPr/>
        </p:nvSpPr>
        <p:spPr>
          <a:xfrm>
            <a:off x="4453128" y="4453128"/>
            <a:ext cx="146304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34" name="Shape 34"/>
          <p:cNvSpPr/>
          <p:nvPr/>
        </p:nvSpPr>
        <p:spPr>
          <a:xfrm>
            <a:off x="4718304" y="4453128"/>
            <a:ext cx="146304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35" name="Shape 35"/>
          <p:cNvSpPr/>
          <p:nvPr/>
        </p:nvSpPr>
        <p:spPr>
          <a:xfrm>
            <a:off x="4983480" y="4453128"/>
            <a:ext cx="146304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cxnSp>
        <p:nvCxnSpPr>
          <p:cNvPr id="36" name="Connector 36"/>
          <p:cNvCxnSpPr/>
          <p:nvPr/>
        </p:nvCxnSpPr>
        <p:spPr>
          <a:xfrm>
            <a:off x="2651760" y="4078224"/>
            <a:ext cx="731520" cy="0"/>
          </a:xfrm>
          <a:prstGeom prst="line">
            <a:avLst/>
          </a:prstGeom>
          <a:noFill/>
          <a:ln w="25400">
            <a:solidFill>
              <a:srgbClr val="E30613"/>
            </a:solidFill>
            <a:prstDash val="solid"/>
          </a:ln>
        </p:spPr>
      </p:cxnSp>
      <p:sp>
        <p:nvSpPr>
          <p:cNvPr id="37" name="Text 37"/>
          <p:cNvSpPr txBox="1"/>
          <p:nvPr/>
        </p:nvSpPr>
        <p:spPr>
          <a:xfrm>
            <a:off x="2606040" y="376732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850" b="1" dirty="0">
                <a:solidFill>
                  <a:srgbClr val="6E6E6E"/>
                </a:solidFill>
                <a:latin typeface="Arial"/>
                <a:cs typeface="Arial"/>
              </a:rPr>
              <a:t>tensor</a:t>
            </a:r>
            <a:endParaRPr lang="en-US" sz="850" dirty="0"/>
          </a:p>
        </p:txBody>
      </p:sp>
      <p:sp>
        <p:nvSpPr>
          <p:cNvPr id="38" name="Text 38"/>
          <p:cNvSpPr txBox="1"/>
          <p:nvPr/>
        </p:nvSpPr>
        <p:spPr>
          <a:xfrm>
            <a:off x="2606040" y="411480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850" b="1" dirty="0">
                <a:solidFill>
                  <a:srgbClr val="6E6E6E"/>
                </a:solidFill>
                <a:latin typeface="Arial"/>
                <a:cs typeface="Arial"/>
              </a:rPr>
              <a:t>parallel 2</a:t>
            </a:r>
            <a:endParaRPr lang="en-US" sz="850" dirty="0"/>
          </a:p>
        </p:txBody>
      </p:sp>
      <p:sp>
        <p:nvSpPr>
          <p:cNvPr id="39" name="Text 39"/>
          <p:cNvSpPr txBox="1"/>
          <p:nvPr/>
        </p:nvSpPr>
        <p:spPr>
          <a:xfrm>
            <a:off x="640080" y="4572000"/>
            <a:ext cx="47548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6E6E6E"/>
                </a:solidFill>
                <a:latin typeface="Arial"/>
                <a:cs typeface="Arial"/>
              </a:rPr>
              <a:t>GPU MEMORY · 282 GB TOTAL</a:t>
            </a:r>
            <a:endParaRPr lang="en-US" sz="850" dirty="0"/>
          </a:p>
        </p:txBody>
      </p:sp>
      <p:sp>
        <p:nvSpPr>
          <p:cNvPr id="40" name="Shape 40"/>
          <p:cNvSpPr/>
          <p:nvPr/>
        </p:nvSpPr>
        <p:spPr>
          <a:xfrm>
            <a:off x="640080" y="4764024"/>
            <a:ext cx="455254" cy="329184"/>
          </a:xfrm>
          <a:prstGeom prst="rect">
            <a:avLst/>
          </a:prstGeom>
          <a:solidFill>
            <a:srgbClr val="3C3C3C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Arial"/>
                <a:cs typeface="Arial"/>
              </a:rPr>
              <a:t>27</a:t>
            </a:r>
            <a:endParaRPr lang="en-US" sz="850" dirty="0"/>
          </a:p>
        </p:txBody>
      </p:sp>
      <p:sp>
        <p:nvSpPr>
          <p:cNvPr id="41" name="Shape 41"/>
          <p:cNvSpPr/>
          <p:nvPr/>
        </p:nvSpPr>
        <p:spPr>
          <a:xfrm>
            <a:off x="1095334" y="4764024"/>
            <a:ext cx="3827510" cy="329184"/>
          </a:xfrm>
          <a:prstGeom prst="rect">
            <a:avLst/>
          </a:prstGeom>
          <a:solidFill>
            <a:srgbClr val="E30613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Arial"/>
                <a:cs typeface="Arial"/>
              </a:rPr>
              <a:t>KV cache ~227 GB</a:t>
            </a:r>
            <a:endParaRPr lang="en-US" sz="950" dirty="0"/>
          </a:p>
        </p:txBody>
      </p:sp>
      <p:sp>
        <p:nvSpPr>
          <p:cNvPr id="42" name="Shape 42"/>
          <p:cNvSpPr/>
          <p:nvPr/>
        </p:nvSpPr>
        <p:spPr>
          <a:xfrm>
            <a:off x="4922844" y="4764024"/>
            <a:ext cx="472116" cy="329184"/>
          </a:xfrm>
          <a:prstGeom prst="rect">
            <a:avLst/>
          </a:prstGeom>
          <a:solidFill>
            <a:srgbClr val="9A9A9A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Arial"/>
                <a:cs typeface="Arial"/>
              </a:rPr>
              <a:t>~28</a:t>
            </a:r>
            <a:endParaRPr lang="en-US" sz="850" dirty="0"/>
          </a:p>
        </p:txBody>
      </p:sp>
      <p:sp>
        <p:nvSpPr>
          <p:cNvPr id="43" name="Text 43"/>
          <p:cNvSpPr txBox="1"/>
          <p:nvPr/>
        </p:nvSpPr>
        <p:spPr>
          <a:xfrm>
            <a:off x="640080" y="5138928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50" dirty="0">
                <a:solidFill>
                  <a:srgbClr val="3C3C3C"/>
                </a:solidFill>
                <a:latin typeface="Arial"/>
                <a:cs typeface="Arial"/>
              </a:rPr>
              <a:t>weights 27 GB · </a:t>
            </a:r>
            <a:r>
              <a:rPr lang="en-US" sz="1050" b="1" dirty="0">
                <a:solidFill>
                  <a:srgbClr val="1F1F1F"/>
                </a:solidFill>
                <a:latin typeface="Arial"/>
                <a:cs typeface="Arial"/>
              </a:rPr>
              <a:t>~227 GB for conversations</a:t>
            </a:r>
            <a:r>
              <a:rPr lang="en-US" sz="1050" dirty="0">
                <a:solidFill>
                  <a:srgbClr val="3C3C3C"/>
                </a:solidFill>
                <a:latin typeface="Arial"/>
                <a:cs typeface="Arial"/>
              </a:rPr>
              <a:t> · ~28 GB other</a:t>
            </a:r>
            <a:endParaRPr lang="en-US" sz="1050" dirty="0"/>
          </a:p>
        </p:txBody>
      </p:sp>
      <p:sp>
        <p:nvSpPr>
          <p:cNvPr id="44" name="Shape 44"/>
          <p:cNvSpPr/>
          <p:nvPr/>
        </p:nvSpPr>
        <p:spPr>
          <a:xfrm>
            <a:off x="6611112" y="2651760"/>
            <a:ext cx="5120640" cy="29077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45" name="Shape 45"/>
          <p:cNvSpPr/>
          <p:nvPr/>
        </p:nvSpPr>
        <p:spPr>
          <a:xfrm>
            <a:off x="6611112" y="2651760"/>
            <a:ext cx="5120640" cy="384048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txBody>
          <a:bodyPr wrap="square" lIns="182880" tIns="0" rIns="182880" bIns="0" rtlCol="0" anchor="ctr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DR SITE · ACTIVE</a:t>
            </a:r>
            <a:endParaRPr lang="en-US" sz="1200" dirty="0"/>
          </a:p>
        </p:txBody>
      </p:sp>
      <p:sp>
        <p:nvSpPr>
          <p:cNvPr id="46" name="Shape 46"/>
          <p:cNvSpPr/>
          <p:nvPr/>
        </p:nvSpPr>
        <p:spPr>
          <a:xfrm>
            <a:off x="6793992" y="3154680"/>
            <a:ext cx="4754880" cy="38404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37160" tIns="0" rIns="137160" bIns="0" rtlCol="0" anchor="ctr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Arial"/>
                <a:cs typeface="Arial"/>
              </a:rPr>
              <a:t>vLLM serve  </a:t>
            </a:r>
            <a:r>
              <a:rPr lang="en-US" sz="1100" dirty="0">
                <a:solidFill>
                  <a:srgbClr val="3C3C3C"/>
                </a:solidFill>
                <a:latin typeface="Arial"/>
                <a:cs typeface="Arial"/>
              </a:rPr>
              <a:t>Qwen 27B Flash Next (FP8) + guard models</a:t>
            </a:r>
            <a:endParaRPr lang="en-US" sz="1200" dirty="0"/>
          </a:p>
        </p:txBody>
      </p:sp>
      <p:cxnSp>
        <p:nvCxnSpPr>
          <p:cNvPr id="47" name="Connector 47"/>
          <p:cNvCxnSpPr/>
          <p:nvPr/>
        </p:nvCxnSpPr>
        <p:spPr>
          <a:xfrm>
            <a:off x="9171432" y="3557016"/>
            <a:ext cx="0" cy="118872"/>
          </a:xfrm>
          <a:prstGeom prst="line">
            <a:avLst/>
          </a:prstGeom>
          <a:noFill/>
          <a:ln w="22225">
            <a:solidFill>
              <a:srgbClr val="3C3C3C"/>
            </a:solidFill>
            <a:prstDash val="solid"/>
            <a:tailEnd type="triangle" w="med" len="med"/>
          </a:ln>
        </p:spPr>
      </p:cxnSp>
      <p:sp>
        <p:nvSpPr>
          <p:cNvPr id="48" name="Shape 48"/>
          <p:cNvSpPr/>
          <p:nvPr/>
        </p:nvSpPr>
        <p:spPr>
          <a:xfrm>
            <a:off x="6793992" y="3703320"/>
            <a:ext cx="1965960" cy="749808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49" name="Text 49"/>
          <p:cNvSpPr txBox="1"/>
          <p:nvPr/>
        </p:nvSpPr>
        <p:spPr>
          <a:xfrm>
            <a:off x="6922008" y="373989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BDBDBD"/>
                </a:solidFill>
                <a:latin typeface="Arial"/>
                <a:cs typeface="Arial"/>
              </a:rPr>
              <a:t>GPU 1</a:t>
            </a:r>
            <a:endParaRPr lang="en-US" sz="900" dirty="0"/>
          </a:p>
        </p:txBody>
      </p:sp>
      <p:sp>
        <p:nvSpPr>
          <p:cNvPr id="50" name="Text 50"/>
          <p:cNvSpPr txBox="1"/>
          <p:nvPr/>
        </p:nvSpPr>
        <p:spPr>
          <a:xfrm>
            <a:off x="6922008" y="3931920"/>
            <a:ext cx="170992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/>
                <a:cs typeface="Arial"/>
              </a:rPr>
              <a:t>H100  </a:t>
            </a: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80 GB</a:t>
            </a:r>
            <a:endParaRPr lang="en-US" sz="2000" dirty="0"/>
          </a:p>
        </p:txBody>
      </p:sp>
      <p:sp>
        <p:nvSpPr>
          <p:cNvPr id="51" name="Shape 51"/>
          <p:cNvSpPr/>
          <p:nvPr/>
        </p:nvSpPr>
        <p:spPr>
          <a:xfrm>
            <a:off x="7022592" y="4453128"/>
            <a:ext cx="146304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52" name="Shape 52"/>
          <p:cNvSpPr/>
          <p:nvPr/>
        </p:nvSpPr>
        <p:spPr>
          <a:xfrm>
            <a:off x="7287768" y="4453128"/>
            <a:ext cx="146304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53" name="Shape 53"/>
          <p:cNvSpPr/>
          <p:nvPr/>
        </p:nvSpPr>
        <p:spPr>
          <a:xfrm>
            <a:off x="7552944" y="4453128"/>
            <a:ext cx="146304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54" name="Shape 54"/>
          <p:cNvSpPr/>
          <p:nvPr/>
        </p:nvSpPr>
        <p:spPr>
          <a:xfrm>
            <a:off x="7818120" y="4453128"/>
            <a:ext cx="146304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55" name="Shape 55"/>
          <p:cNvSpPr/>
          <p:nvPr/>
        </p:nvSpPr>
        <p:spPr>
          <a:xfrm>
            <a:off x="8083296" y="4453128"/>
            <a:ext cx="146304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56" name="Shape 56"/>
          <p:cNvSpPr/>
          <p:nvPr/>
        </p:nvSpPr>
        <p:spPr>
          <a:xfrm>
            <a:off x="8348472" y="4453128"/>
            <a:ext cx="146304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57" name="Shape 57"/>
          <p:cNvSpPr/>
          <p:nvPr/>
        </p:nvSpPr>
        <p:spPr>
          <a:xfrm>
            <a:off x="9582912" y="3703320"/>
            <a:ext cx="1965960" cy="749808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58" name="Text 58"/>
          <p:cNvSpPr txBox="1"/>
          <p:nvPr/>
        </p:nvSpPr>
        <p:spPr>
          <a:xfrm>
            <a:off x="9710928" y="373989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BDBDBD"/>
                </a:solidFill>
                <a:latin typeface="Arial"/>
                <a:cs typeface="Arial"/>
              </a:rPr>
              <a:t>GPU 2</a:t>
            </a:r>
            <a:endParaRPr lang="en-US" sz="900" dirty="0"/>
          </a:p>
        </p:txBody>
      </p:sp>
      <p:sp>
        <p:nvSpPr>
          <p:cNvPr id="59" name="Text 59"/>
          <p:cNvSpPr txBox="1"/>
          <p:nvPr/>
        </p:nvSpPr>
        <p:spPr>
          <a:xfrm>
            <a:off x="9710928" y="3931920"/>
            <a:ext cx="170992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/>
                <a:cs typeface="Arial"/>
              </a:rPr>
              <a:t>H100  </a:t>
            </a: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80 GB</a:t>
            </a:r>
            <a:endParaRPr lang="en-US" sz="2000" dirty="0"/>
          </a:p>
        </p:txBody>
      </p:sp>
      <p:sp>
        <p:nvSpPr>
          <p:cNvPr id="60" name="Shape 60"/>
          <p:cNvSpPr/>
          <p:nvPr/>
        </p:nvSpPr>
        <p:spPr>
          <a:xfrm>
            <a:off x="9811512" y="4453128"/>
            <a:ext cx="146304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61" name="Shape 61"/>
          <p:cNvSpPr/>
          <p:nvPr/>
        </p:nvSpPr>
        <p:spPr>
          <a:xfrm>
            <a:off x="10076688" y="4453128"/>
            <a:ext cx="146304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62" name="Shape 62"/>
          <p:cNvSpPr/>
          <p:nvPr/>
        </p:nvSpPr>
        <p:spPr>
          <a:xfrm>
            <a:off x="10341864" y="4453128"/>
            <a:ext cx="146304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63" name="Shape 63"/>
          <p:cNvSpPr/>
          <p:nvPr/>
        </p:nvSpPr>
        <p:spPr>
          <a:xfrm>
            <a:off x="10607040" y="4453128"/>
            <a:ext cx="146304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64" name="Shape 64"/>
          <p:cNvSpPr/>
          <p:nvPr/>
        </p:nvSpPr>
        <p:spPr>
          <a:xfrm>
            <a:off x="10872216" y="4453128"/>
            <a:ext cx="146304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65" name="Shape 65"/>
          <p:cNvSpPr/>
          <p:nvPr/>
        </p:nvSpPr>
        <p:spPr>
          <a:xfrm>
            <a:off x="11137392" y="4453128"/>
            <a:ext cx="146304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cxnSp>
        <p:nvCxnSpPr>
          <p:cNvPr id="66" name="Connector 66"/>
          <p:cNvCxnSpPr/>
          <p:nvPr/>
        </p:nvCxnSpPr>
        <p:spPr>
          <a:xfrm>
            <a:off x="8805672" y="4078224"/>
            <a:ext cx="731520" cy="0"/>
          </a:xfrm>
          <a:prstGeom prst="line">
            <a:avLst/>
          </a:prstGeom>
          <a:noFill/>
          <a:ln w="25400">
            <a:solidFill>
              <a:srgbClr val="3C3C3C"/>
            </a:solidFill>
            <a:prstDash val="solid"/>
          </a:ln>
        </p:spPr>
      </p:cxnSp>
      <p:sp>
        <p:nvSpPr>
          <p:cNvPr id="67" name="Text 67"/>
          <p:cNvSpPr txBox="1"/>
          <p:nvPr/>
        </p:nvSpPr>
        <p:spPr>
          <a:xfrm>
            <a:off x="8759952" y="376732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850" b="1" dirty="0">
                <a:solidFill>
                  <a:srgbClr val="6E6E6E"/>
                </a:solidFill>
                <a:latin typeface="Arial"/>
                <a:cs typeface="Arial"/>
              </a:rPr>
              <a:t>tensor</a:t>
            </a:r>
            <a:endParaRPr lang="en-US" sz="850" dirty="0"/>
          </a:p>
        </p:txBody>
      </p:sp>
      <p:sp>
        <p:nvSpPr>
          <p:cNvPr id="68" name="Text 68"/>
          <p:cNvSpPr txBox="1"/>
          <p:nvPr/>
        </p:nvSpPr>
        <p:spPr>
          <a:xfrm>
            <a:off x="8759952" y="411480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850" b="1" dirty="0">
                <a:solidFill>
                  <a:srgbClr val="6E6E6E"/>
                </a:solidFill>
                <a:latin typeface="Arial"/>
                <a:cs typeface="Arial"/>
              </a:rPr>
              <a:t>parallel 2</a:t>
            </a:r>
            <a:endParaRPr lang="en-US" sz="850" dirty="0"/>
          </a:p>
        </p:txBody>
      </p:sp>
      <p:sp>
        <p:nvSpPr>
          <p:cNvPr id="69" name="Text 69"/>
          <p:cNvSpPr txBox="1"/>
          <p:nvPr/>
        </p:nvSpPr>
        <p:spPr>
          <a:xfrm>
            <a:off x="6793992" y="4572000"/>
            <a:ext cx="47548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6E6E6E"/>
                </a:solidFill>
                <a:latin typeface="Arial"/>
                <a:cs typeface="Arial"/>
              </a:rPr>
              <a:t>GPU MEMORY · 160 GB TOTAL</a:t>
            </a:r>
            <a:endParaRPr lang="en-US" sz="850" dirty="0"/>
          </a:p>
        </p:txBody>
      </p:sp>
      <p:sp>
        <p:nvSpPr>
          <p:cNvPr id="70" name="Shape 70"/>
          <p:cNvSpPr/>
          <p:nvPr/>
        </p:nvSpPr>
        <p:spPr>
          <a:xfrm>
            <a:off x="6793992" y="4764024"/>
            <a:ext cx="455254" cy="329184"/>
          </a:xfrm>
          <a:prstGeom prst="rect">
            <a:avLst/>
          </a:prstGeom>
          <a:solidFill>
            <a:srgbClr val="3C3C3C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Arial"/>
                <a:cs typeface="Arial"/>
              </a:rPr>
              <a:t>27</a:t>
            </a:r>
            <a:endParaRPr lang="en-US" sz="850" dirty="0"/>
          </a:p>
        </p:txBody>
      </p:sp>
      <p:sp>
        <p:nvSpPr>
          <p:cNvPr id="71" name="Shape 71"/>
          <p:cNvSpPr/>
          <p:nvPr/>
        </p:nvSpPr>
        <p:spPr>
          <a:xfrm>
            <a:off x="7249246" y="4764024"/>
            <a:ext cx="1972769" cy="329184"/>
          </a:xfrm>
          <a:prstGeom prst="rect">
            <a:avLst/>
          </a:prstGeom>
          <a:solidFill>
            <a:srgbClr val="E30613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Arial"/>
                <a:cs typeface="Arial"/>
              </a:rPr>
              <a:t>KV cache ~117 GB</a:t>
            </a:r>
            <a:endParaRPr lang="en-US" sz="950" dirty="0"/>
          </a:p>
        </p:txBody>
      </p:sp>
      <p:sp>
        <p:nvSpPr>
          <p:cNvPr id="72" name="Shape 72"/>
          <p:cNvSpPr/>
          <p:nvPr/>
        </p:nvSpPr>
        <p:spPr>
          <a:xfrm>
            <a:off x="9222016" y="4764024"/>
            <a:ext cx="269780" cy="329184"/>
          </a:xfrm>
          <a:prstGeom prst="rect">
            <a:avLst/>
          </a:prstGeom>
          <a:solidFill>
            <a:srgbClr val="9A9A9A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Arial"/>
                <a:cs typeface="Arial"/>
              </a:rPr>
              <a:t>~16</a:t>
            </a:r>
            <a:endParaRPr lang="en-US" sz="850" dirty="0"/>
          </a:p>
        </p:txBody>
      </p:sp>
      <p:sp>
        <p:nvSpPr>
          <p:cNvPr id="73" name="Text 73"/>
          <p:cNvSpPr txBox="1"/>
          <p:nvPr/>
        </p:nvSpPr>
        <p:spPr>
          <a:xfrm>
            <a:off x="6793992" y="5138928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50" dirty="0">
                <a:solidFill>
                  <a:srgbClr val="3C3C3C"/>
                </a:solidFill>
                <a:latin typeface="Arial"/>
                <a:cs typeface="Arial"/>
              </a:rPr>
              <a:t>weights 27 GB · </a:t>
            </a:r>
            <a:r>
              <a:rPr lang="en-US" sz="1050" b="1" dirty="0">
                <a:solidFill>
                  <a:srgbClr val="1F1F1F"/>
                </a:solidFill>
                <a:latin typeface="Arial"/>
                <a:cs typeface="Arial"/>
              </a:rPr>
              <a:t>~117 GB for conversations</a:t>
            </a:r>
            <a:r>
              <a:rPr lang="en-US" sz="1050" dirty="0">
                <a:solidFill>
                  <a:srgbClr val="3C3C3C"/>
                </a:solidFill>
                <a:latin typeface="Arial"/>
                <a:cs typeface="Arial"/>
              </a:rPr>
              <a:t> · ~16 GB other</a:t>
            </a:r>
            <a:endParaRPr lang="en-US" sz="1050" dirty="0"/>
          </a:p>
        </p:txBody>
      </p:sp>
      <p:cxnSp>
        <p:nvCxnSpPr>
          <p:cNvPr id="74" name="Connector 74"/>
          <p:cNvCxnSpPr/>
          <p:nvPr/>
        </p:nvCxnSpPr>
        <p:spPr>
          <a:xfrm>
            <a:off x="5650992" y="4078224"/>
            <a:ext cx="886968" cy="0"/>
          </a:xfrm>
          <a:prstGeom prst="line">
            <a:avLst/>
          </a:prstGeom>
          <a:noFill/>
          <a:ln w="19050">
            <a:solidFill>
              <a:srgbClr val="6E6E6E"/>
            </a:solidFill>
            <a:prstDash val="dash"/>
          </a:ln>
        </p:spPr>
      </p:cxnSp>
      <p:sp>
        <p:nvSpPr>
          <p:cNvPr id="75" name="Text 75"/>
          <p:cNvSpPr txBox="1"/>
          <p:nvPr/>
        </p:nvSpPr>
        <p:spPr>
          <a:xfrm>
            <a:off x="5577840" y="3474720"/>
            <a:ext cx="103327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100" b="1" dirty="0">
                <a:solidFill>
                  <a:srgbClr val="6E6E6E"/>
                </a:solidFill>
                <a:latin typeface="Arial"/>
                <a:cs typeface="Arial"/>
              </a:rPr>
              <a:t>failover</a:t>
            </a:r>
            <a:endParaRPr lang="en-US" sz="1100" dirty="0"/>
          </a:p>
          <a:p>
            <a:pPr marL="0" indent="0" algn="ctr">
              <a:spcAft>
                <a:spcPts val="0"/>
              </a:spcAft>
              <a:buNone/>
            </a:pPr>
            <a:r>
              <a:rPr lang="en-US" sz="950" dirty="0">
                <a:solidFill>
                  <a:srgbClr val="6E6E6E"/>
                </a:solidFill>
                <a:latin typeface="Arial"/>
                <a:cs typeface="Arial"/>
              </a:rPr>
              <a:t>either site</a:t>
            </a:r>
            <a:endParaRPr lang="en-US" sz="950" dirty="0"/>
          </a:p>
        </p:txBody>
      </p:sp>
      <p:sp>
        <p:nvSpPr>
          <p:cNvPr id="76" name="Text 76"/>
          <p:cNvSpPr txBox="1"/>
          <p:nvPr/>
        </p:nvSpPr>
        <p:spPr>
          <a:xfrm>
            <a:off x="5577840" y="4133088"/>
            <a:ext cx="103327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950" dirty="0">
                <a:solidFill>
                  <a:srgbClr val="6E6E6E"/>
                </a:solidFill>
                <a:latin typeface="Arial"/>
                <a:cs typeface="Arial"/>
              </a:rPr>
              <a:t>takes all traffic</a:t>
            </a:r>
            <a:endParaRPr lang="en-US" sz="950" dirty="0"/>
          </a:p>
        </p:txBody>
      </p:sp>
      <p:sp>
        <p:nvSpPr>
          <p:cNvPr id="77" name="Shape 77"/>
          <p:cNvSpPr/>
          <p:nvPr/>
        </p:nvSpPr>
        <p:spPr>
          <a:xfrm>
            <a:off x="457200" y="5715000"/>
            <a:ext cx="11274552" cy="502920"/>
          </a:xfrm>
          <a:prstGeom prst="rect">
            <a:avLst/>
          </a:prstGeom>
          <a:solidFill>
            <a:srgbClr val="FCE8E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78" name="Shape 78"/>
          <p:cNvSpPr/>
          <p:nvPr/>
        </p:nvSpPr>
        <p:spPr>
          <a:xfrm>
            <a:off x="457200" y="5715000"/>
            <a:ext cx="64008" cy="50292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79" name="Text 79"/>
          <p:cNvSpPr txBox="1"/>
          <p:nvPr/>
        </p:nvSpPr>
        <p:spPr>
          <a:xfrm>
            <a:off x="685800" y="571500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E30613"/>
                </a:solidFill>
                <a:latin typeface="Arial"/>
                <a:cs typeface="Arial"/>
              </a:rPr>
              <a:t>So what  </a:t>
            </a:r>
            <a:r>
              <a:rPr lang="en-US" sz="1300" dirty="0">
                <a:solidFill>
                  <a:srgbClr val="1F1F1F"/>
                </a:solidFill>
                <a:latin typeface="Arial"/>
                <a:cs typeface="Arial"/>
              </a:rPr>
              <a:t>the DR site has about half the KV cache (~117 GB vs ~227 GB): load-test it carrying all traffic alone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57200" y="301752"/>
            <a:ext cx="100584" cy="100584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237744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30613"/>
                </a:solidFill>
                <a:latin typeface="Arial"/>
                <a:cs typeface="Arial"/>
              </a:rPr>
              <a:t>ARCHITECTURE · TENCENT INTEGRATION</a:t>
            </a:r>
            <a:endParaRPr lang="en-US" sz="9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502920"/>
            <a:ext cx="1127455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2200" dirty="0">
                <a:solidFill>
                  <a:srgbClr val="1F1F1F"/>
                </a:solidFill>
                <a:latin typeface="Georgia"/>
                <a:cs typeface="Georgia"/>
              </a:rPr>
              <a:t>Tencent delivers each customer message to the Router through a signed webhook</a:t>
            </a:r>
            <a:endParaRPr lang="en-US" sz="2200" dirty="0"/>
          </a:p>
        </p:txBody>
      </p:sp>
      <p:cxnSp>
        <p:nvCxnSpPr>
          <p:cNvPr id="5" name="Connector 5"/>
          <p:cNvCxnSpPr/>
          <p:nvPr/>
        </p:nvCxnSpPr>
        <p:spPr>
          <a:xfrm>
            <a:off x="457200" y="137160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cxnSp>
      <p:sp>
        <p:nvSpPr>
          <p:cNvPr id="6" name="Text 6"/>
          <p:cNvSpPr txBox="1"/>
          <p:nvPr/>
        </p:nvSpPr>
        <p:spPr>
          <a:xfrm>
            <a:off x="457200" y="6446520"/>
            <a:ext cx="10332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6E6E6E"/>
                </a:solidFill>
                <a:latin typeface="Arial"/>
                <a:cs typeface="Arial"/>
              </a:rPr>
              <a:t>Source: TANYA AI workflow (localhost:5175) · General Workflow, step 2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11000232" y="64465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Aft>
                <a:spcPts val="300"/>
              </a:spcAft>
              <a:buNone/>
            </a:pPr>
            <a:r>
              <a:rPr lang="en-US" sz="900" dirty="0">
                <a:solidFill>
                  <a:srgbClr val="6E6E6E"/>
                </a:solidFill>
                <a:latin typeface="Arial"/>
                <a:cs typeface="Arial"/>
              </a:rPr>
              <a:t>5</a:t>
            </a:r>
            <a:endParaRPr lang="en-US" sz="900" dirty="0"/>
          </a:p>
        </p:txBody>
      </p:sp>
      <p:sp>
        <p:nvSpPr>
          <p:cNvPr id="8" name="Text 8"/>
          <p:cNvSpPr txBox="1"/>
          <p:nvPr/>
        </p:nvSpPr>
        <p:spPr>
          <a:xfrm>
            <a:off x="457200" y="1554480"/>
            <a:ext cx="1127455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Arial"/>
                <a:cs typeface="Arial"/>
              </a:rPr>
              <a:t>Tencent → Router  ·  deliver the message (Group.CallbackAfterSendMsg)</a:t>
            </a:r>
            <a:endParaRPr lang="en-US" sz="1200" dirty="0"/>
          </a:p>
        </p:txBody>
      </p:sp>
      <p:cxnSp>
        <p:nvCxnSpPr>
          <p:cNvPr id="9" name="Connector 9"/>
          <p:cNvCxnSpPr/>
          <p:nvPr/>
        </p:nvCxnSpPr>
        <p:spPr>
          <a:xfrm>
            <a:off x="457200" y="1837944"/>
            <a:ext cx="11274552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cxnSp>
      <p:sp>
        <p:nvSpPr>
          <p:cNvPr id="10" name="Text 10"/>
          <p:cNvSpPr txBox="1"/>
          <p:nvPr/>
        </p:nvSpPr>
        <p:spPr>
          <a:xfrm>
            <a:off x="457200" y="1901952"/>
            <a:ext cx="1127455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30613"/>
                </a:solidFill>
                <a:latin typeface="Courier New"/>
                <a:cs typeface="Courier New"/>
              </a:rPr>
              <a:t>POST /tencent/callback?RequestTime=…&amp;Sign=…</a:t>
            </a:r>
            <a:endParaRPr lang="en-US" sz="1300" dirty="0"/>
          </a:p>
        </p:txBody>
      </p:sp>
      <p:sp>
        <p:nvSpPr>
          <p:cNvPr id="11" name="Shape 11"/>
          <p:cNvSpPr/>
          <p:nvPr/>
        </p:nvSpPr>
        <p:spPr>
          <a:xfrm>
            <a:off x="457200" y="2240280"/>
            <a:ext cx="6766560" cy="32918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46304" tIns="109728" rIns="109728" bIns="91440" rtlCol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3C3C3C"/>
                </a:solidFill>
                <a:latin typeface="Courier New"/>
                <a:cs typeface="Courier New"/>
              </a:rPr>
              <a:t>{</a:t>
            </a:r>
            <a:endParaRPr lang="en-US" sz="950" dirty="0"/>
          </a:p>
          <a:p>
            <a:pPr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3C3C3C"/>
                </a:solidFill>
                <a:latin typeface="Courier New"/>
                <a:cs typeface="Courier New"/>
              </a:rPr>
              <a:t>  "CallbackCommand": "Group.CallbackAfterSendMsg",</a:t>
            </a:r>
            <a:endParaRPr lang="en-US" sz="950" dirty="0"/>
          </a:p>
          <a:p>
            <a:pPr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3C3C3C"/>
                </a:solidFill>
                <a:latin typeface="Courier New"/>
                <a:cs typeface="Courier New"/>
              </a:rPr>
              <a:t>  "GroupId": "t1790749600a1b2c3d4e5f6",</a:t>
            </a:r>
            <a:endParaRPr lang="en-US" sz="950" dirty="0"/>
          </a:p>
          <a:p>
            <a:pPr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3C3C3C"/>
                </a:solidFill>
                <a:latin typeface="Courier New"/>
                <a:cs typeface="Courier New"/>
              </a:rPr>
              <a:t>  "Type": "Private",</a:t>
            </a:r>
            <a:endParaRPr lang="en-US" sz="950" dirty="0"/>
          </a:p>
          <a:p>
            <a:pPr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3C3C3C"/>
                </a:solidFill>
                <a:latin typeface="Courier New"/>
                <a:cs typeface="Courier New"/>
              </a:rPr>
              <a:t>  "From_Account": "budi",</a:t>
            </a:r>
            <a:endParaRPr lang="en-US" sz="950" dirty="0"/>
          </a:p>
          <a:p>
            <a:pPr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3C3C3C"/>
                </a:solidFill>
                <a:latin typeface="Courier New"/>
                <a:cs typeface="Courier New"/>
              </a:rPr>
              <a:t>  "Operator_Account": "budi",</a:t>
            </a:r>
            <a:endParaRPr lang="en-US" sz="950" dirty="0"/>
          </a:p>
          <a:p>
            <a:pPr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3C3C3C"/>
                </a:solidFill>
                <a:latin typeface="Courier New"/>
                <a:cs typeface="Courier New"/>
              </a:rPr>
              <a:t>  "Random": 170595681,</a:t>
            </a:r>
            <a:endParaRPr lang="en-US" sz="950" dirty="0"/>
          </a:p>
          <a:p>
            <a:pPr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3C3C3C"/>
                </a:solidFill>
                <a:latin typeface="Courier New"/>
                <a:cs typeface="Courier New"/>
              </a:rPr>
              <a:t>  "MsgId": "144115233406643804-1790749679-170595681",</a:t>
            </a:r>
            <a:endParaRPr lang="en-US" sz="950" dirty="0"/>
          </a:p>
          <a:p>
            <a:pPr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3C3C3C"/>
                </a:solidFill>
                <a:latin typeface="Courier New"/>
                <a:cs typeface="Courier New"/>
              </a:rPr>
              <a:t>  "MsgSeq": 3,</a:t>
            </a:r>
            <a:endParaRPr lang="en-US" sz="950" dirty="0"/>
          </a:p>
          <a:p>
            <a:pPr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3C3C3C"/>
                </a:solidFill>
                <a:latin typeface="Courier New"/>
                <a:cs typeface="Courier New"/>
              </a:rPr>
              <a:t>  "MsgTime": 1790749679,</a:t>
            </a:r>
            <a:endParaRPr lang="en-US" sz="950" dirty="0"/>
          </a:p>
          <a:p>
            <a:pPr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3C3C3C"/>
                </a:solidFill>
                <a:latin typeface="Courier New"/>
                <a:cs typeface="Courier New"/>
              </a:rPr>
              <a:t>  "OnlineOnlyFlag": 0,</a:t>
            </a:r>
            <a:endParaRPr lang="en-US" sz="950" dirty="0"/>
          </a:p>
          <a:p>
            <a:pPr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3C3C3C"/>
                </a:solidFill>
                <a:latin typeface="Courier New"/>
                <a:cs typeface="Courier New"/>
              </a:rPr>
              <a:t>  "MsgBody": [{</a:t>
            </a:r>
            <a:endParaRPr lang="en-US" sz="950" dirty="0"/>
          </a:p>
          <a:p>
            <a:pPr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3C3C3C"/>
                </a:solidFill>
                <a:latin typeface="Courier New"/>
                <a:cs typeface="Courier New"/>
              </a:rPr>
              <a:t>    "MsgType": "TIMTextElem",</a:t>
            </a:r>
            <a:endParaRPr lang="en-US" sz="950" dirty="0"/>
          </a:p>
          <a:p>
            <a:pPr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3C3C3C"/>
                </a:solidFill>
                <a:latin typeface="Courier New"/>
                <a:cs typeface="Courier New"/>
              </a:rPr>
              <a:t>    "MsgContent": { "Text": "cara top up e-money gimana?" }</a:t>
            </a:r>
            <a:endParaRPr lang="en-US" sz="950" dirty="0"/>
          </a:p>
          <a:p>
            <a:pPr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3C3C3C"/>
                </a:solidFill>
                <a:latin typeface="Courier New"/>
                <a:cs typeface="Courier New"/>
              </a:rPr>
              <a:t>  }],</a:t>
            </a:r>
            <a:endParaRPr lang="en-US" sz="950" dirty="0"/>
          </a:p>
          <a:p>
            <a:pPr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3C3C3C"/>
                </a:solidFill>
                <a:latin typeface="Courier New"/>
                <a:cs typeface="Courier New"/>
              </a:rPr>
              <a:t>  "CloudCustomData": "{\"v\":1,\"source\":\"app\"}",</a:t>
            </a:r>
            <a:endParaRPr lang="en-US" sz="950" dirty="0"/>
          </a:p>
          <a:p>
            <a:pPr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3C3C3C"/>
                </a:solidFill>
                <a:latin typeface="Courier New"/>
                <a:cs typeface="Courier New"/>
              </a:rPr>
              <a:t>  "EventTime": "1790749679123"</a:t>
            </a:r>
            <a:endParaRPr lang="en-US" sz="950" dirty="0"/>
          </a:p>
          <a:p>
            <a:pPr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3C3C3C"/>
                </a:solidFill>
                <a:latin typeface="Courier New"/>
                <a:cs typeface="Courier New"/>
              </a:rPr>
              <a:t>}</a:t>
            </a:r>
            <a:endParaRPr lang="en-US" sz="950" dirty="0"/>
          </a:p>
        </p:txBody>
      </p:sp>
      <p:sp>
        <p:nvSpPr>
          <p:cNvPr id="12" name="Text 12"/>
          <p:cNvSpPr txBox="1"/>
          <p:nvPr/>
        </p:nvSpPr>
        <p:spPr>
          <a:xfrm>
            <a:off x="7498080" y="2240280"/>
            <a:ext cx="423367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Arial"/>
                <a:cs typeface="Arial"/>
              </a:rPr>
              <a:t>Router answers</a:t>
            </a:r>
            <a:endParaRPr lang="en-US" sz="1200" dirty="0"/>
          </a:p>
        </p:txBody>
      </p:sp>
      <p:cxnSp>
        <p:nvCxnSpPr>
          <p:cNvPr id="13" name="Connector 13"/>
          <p:cNvCxnSpPr/>
          <p:nvPr/>
        </p:nvCxnSpPr>
        <p:spPr>
          <a:xfrm>
            <a:off x="7498080" y="2523744"/>
            <a:ext cx="4233672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cxnSp>
      <p:sp>
        <p:nvSpPr>
          <p:cNvPr id="14" name="Text 14"/>
          <p:cNvSpPr txBox="1"/>
          <p:nvPr/>
        </p:nvSpPr>
        <p:spPr>
          <a:xfrm>
            <a:off x="7498080" y="2624328"/>
            <a:ext cx="423367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ourier New"/>
                <a:cs typeface="Courier New"/>
              </a:rPr>
              <a:t>{"ActionStatus":"OK","ErrorCode":0,"ErrorInfo":""}</a:t>
            </a:r>
            <a:endParaRPr lang="en-US" sz="1000" dirty="0"/>
          </a:p>
        </p:txBody>
      </p:sp>
      <p:sp>
        <p:nvSpPr>
          <p:cNvPr id="15" name="Text 15"/>
          <p:cNvSpPr txBox="1"/>
          <p:nvPr/>
        </p:nvSpPr>
        <p:spPr>
          <a:xfrm>
            <a:off x="7498080" y="3200400"/>
            <a:ext cx="423367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Arial"/>
                <a:cs typeface="Arial"/>
              </a:rPr>
              <a:t>Key fields</a:t>
            </a:r>
            <a:endParaRPr lang="en-US" sz="1200" dirty="0"/>
          </a:p>
        </p:txBody>
      </p:sp>
      <p:cxnSp>
        <p:nvCxnSpPr>
          <p:cNvPr id="16" name="Connector 16"/>
          <p:cNvCxnSpPr/>
          <p:nvPr/>
        </p:nvCxnSpPr>
        <p:spPr>
          <a:xfrm>
            <a:off x="7498080" y="3483864"/>
            <a:ext cx="4233672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cxnSp>
      <p:sp>
        <p:nvSpPr>
          <p:cNvPr id="17" name="Text 17"/>
          <p:cNvSpPr txBox="1"/>
          <p:nvPr/>
        </p:nvSpPr>
        <p:spPr>
          <a:xfrm>
            <a:off x="7498080" y="3584448"/>
            <a:ext cx="4233672" cy="1947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1F1F"/>
                </a:solidFill>
                <a:latin typeface="Courier New"/>
                <a:cs typeface="Courier New"/>
              </a:rPr>
              <a:t>Sign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C3C3C"/>
                </a:solidFill>
                <a:latin typeface="Arial"/>
                <a:cs typeface="Arial"/>
              </a:rPr>
              <a:t>sha256(callback token + RequestTime), checked first</a:t>
            </a:r>
            <a:endParaRPr lang="en-US" sz="11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1F1F"/>
                </a:solidFill>
                <a:latin typeface="Courier New"/>
                <a:cs typeface="Courier New"/>
              </a:rPr>
              <a:t>GroupId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C3C3C"/>
                </a:solidFill>
                <a:latin typeface="Arial"/>
                <a:cs typeface="Arial"/>
              </a:rPr>
              <a:t>the chat thread: the message's group</a:t>
            </a:r>
            <a:endParaRPr lang="en-US" sz="11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1F1F"/>
                </a:solidFill>
                <a:latin typeface="Courier New"/>
                <a:cs typeface="Courier New"/>
              </a:rPr>
              <a:t>From_Account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C3C3C"/>
                </a:solidFill>
                <a:latin typeface="Arial"/>
                <a:cs typeface="Arial"/>
              </a:rPr>
              <a:t>the customer who wrote</a:t>
            </a:r>
            <a:endParaRPr lang="en-US" sz="11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1F1F"/>
                </a:solidFill>
                <a:latin typeface="Courier New"/>
                <a:cs typeface="Courier New"/>
              </a:rPr>
              <a:t>MsgId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C3C3C"/>
                </a:solidFill>
                <a:latin typeface="Arial"/>
                <a:cs typeface="Arial"/>
              </a:rPr>
              <a:t>a MsgId seen before is ignored</a:t>
            </a:r>
            <a:endParaRPr lang="en-US" sz="1150" dirty="0"/>
          </a:p>
        </p:txBody>
      </p:sp>
      <p:sp>
        <p:nvSpPr>
          <p:cNvPr id="18" name="Shape 18"/>
          <p:cNvSpPr/>
          <p:nvPr/>
        </p:nvSpPr>
        <p:spPr>
          <a:xfrm>
            <a:off x="457200" y="5715000"/>
            <a:ext cx="11274552" cy="502920"/>
          </a:xfrm>
          <a:prstGeom prst="rect">
            <a:avLst/>
          </a:prstGeom>
          <a:solidFill>
            <a:srgbClr val="FCE8E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19" name="Shape 19"/>
          <p:cNvSpPr/>
          <p:nvPr/>
        </p:nvSpPr>
        <p:spPr>
          <a:xfrm>
            <a:off x="457200" y="5715000"/>
            <a:ext cx="64008" cy="50292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685800" y="571500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E30613"/>
                </a:solidFill>
                <a:latin typeface="Arial"/>
                <a:cs typeface="Arial"/>
              </a:rPr>
              <a:t>So what  </a:t>
            </a:r>
            <a:r>
              <a:rPr lang="en-US" sz="1300" dirty="0">
                <a:solidFill>
                  <a:srgbClr val="1F1F1F"/>
                </a:solidFill>
                <a:latin typeface="Arial"/>
                <a:cs typeface="Arial"/>
              </a:rPr>
              <a:t>Tencent gets a 200 OK; the Router handles the turn in the background, task by task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57200" y="301752"/>
            <a:ext cx="100584" cy="100584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237744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30613"/>
                </a:solidFill>
                <a:latin typeface="Arial"/>
                <a:cs typeface="Arial"/>
              </a:rPr>
              <a:t>ARCHITECTURE · TENCENT INTEGRATION</a:t>
            </a:r>
            <a:endParaRPr lang="en-US" sz="9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502920"/>
            <a:ext cx="1127455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2200" dirty="0">
                <a:solidFill>
                  <a:srgbClr val="1F1F1F"/>
                </a:solidFill>
                <a:latin typeface="Georgia"/>
                <a:cs typeface="Georgia"/>
              </a:rPr>
              <a:t>The Router sends the reply into the same chat group, as tanya_ai</a:t>
            </a:r>
            <a:endParaRPr lang="en-US" sz="2200" dirty="0"/>
          </a:p>
        </p:txBody>
      </p:sp>
      <p:cxnSp>
        <p:nvCxnSpPr>
          <p:cNvPr id="5" name="Connector 5"/>
          <p:cNvCxnSpPr/>
          <p:nvPr/>
        </p:nvCxnSpPr>
        <p:spPr>
          <a:xfrm>
            <a:off x="457200" y="137160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cxnSp>
      <p:sp>
        <p:nvSpPr>
          <p:cNvPr id="6" name="Text 6"/>
          <p:cNvSpPr txBox="1"/>
          <p:nvPr/>
        </p:nvSpPr>
        <p:spPr>
          <a:xfrm>
            <a:off x="457200" y="6446520"/>
            <a:ext cx="10332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6E6E6E"/>
                </a:solidFill>
                <a:latin typeface="Arial"/>
                <a:cs typeface="Arial"/>
              </a:rPr>
              <a:t>Source: TANYA AI workflow (localhost:5175) · General Workflow, step 2, task 12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11000232" y="64465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Aft>
                <a:spcPts val="300"/>
              </a:spcAft>
              <a:buNone/>
            </a:pPr>
            <a:r>
              <a:rPr lang="en-US" sz="900" dirty="0">
                <a:solidFill>
                  <a:srgbClr val="6E6E6E"/>
                </a:solidFill>
                <a:latin typeface="Arial"/>
                <a:cs typeface="Arial"/>
              </a:rPr>
              <a:t>10</a:t>
            </a:r>
            <a:endParaRPr lang="en-US" sz="900" dirty="0"/>
          </a:p>
        </p:txBody>
      </p:sp>
      <p:sp>
        <p:nvSpPr>
          <p:cNvPr id="8" name="Text 8"/>
          <p:cNvSpPr txBox="1"/>
          <p:nvPr/>
        </p:nvSpPr>
        <p:spPr>
          <a:xfrm>
            <a:off x="457200" y="1554480"/>
            <a:ext cx="1127455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Arial"/>
                <a:cs typeface="Arial"/>
              </a:rPr>
              <a:t>Router → Tencent  ·  send the reply</a:t>
            </a:r>
            <a:endParaRPr lang="en-US" sz="1200" dirty="0"/>
          </a:p>
        </p:txBody>
      </p:sp>
      <p:cxnSp>
        <p:nvCxnSpPr>
          <p:cNvPr id="9" name="Connector 9"/>
          <p:cNvCxnSpPr/>
          <p:nvPr/>
        </p:nvCxnSpPr>
        <p:spPr>
          <a:xfrm>
            <a:off x="457200" y="1837944"/>
            <a:ext cx="11274552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cxnSp>
      <p:sp>
        <p:nvSpPr>
          <p:cNvPr id="10" name="Text 10"/>
          <p:cNvSpPr txBox="1"/>
          <p:nvPr/>
        </p:nvSpPr>
        <p:spPr>
          <a:xfrm>
            <a:off x="457200" y="1901952"/>
            <a:ext cx="1127455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30613"/>
                </a:solidFill>
                <a:latin typeface="Courier New"/>
                <a:cs typeface="Courier New"/>
              </a:rPr>
              <a:t>POST {TANYA_TENCENT_BASE_URL}/v4/group_open_http_svc/send_group_msg</a:t>
            </a:r>
            <a:endParaRPr lang="en-US" sz="1300" dirty="0"/>
          </a:p>
        </p:txBody>
      </p:sp>
      <p:sp>
        <p:nvSpPr>
          <p:cNvPr id="11" name="Text 11"/>
          <p:cNvSpPr txBox="1"/>
          <p:nvPr/>
        </p:nvSpPr>
        <p:spPr>
          <a:xfrm>
            <a:off x="457200" y="2194560"/>
            <a:ext cx="1127455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6E6E6E"/>
                </a:solidFill>
                <a:latin typeface="Courier New"/>
                <a:cs typeface="Courier New"/>
              </a:rPr>
              <a:t>?sdkappid={SDKAppID}&amp;identifier=administrator&amp;usersig={UserSig}&amp;random={uint32}&amp;contenttype=json</a:t>
            </a:r>
            <a:endParaRPr lang="en-US" sz="900" dirty="0"/>
          </a:p>
        </p:txBody>
      </p:sp>
      <p:sp>
        <p:nvSpPr>
          <p:cNvPr id="12" name="Shape 12"/>
          <p:cNvSpPr/>
          <p:nvPr/>
        </p:nvSpPr>
        <p:spPr>
          <a:xfrm>
            <a:off x="457200" y="2468880"/>
            <a:ext cx="6766560" cy="30632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46304" tIns="109728" rIns="109728" bIns="91440" rtlCol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3C3C3C"/>
                </a:solidFill>
                <a:latin typeface="Courier New"/>
                <a:cs typeface="Courier New"/>
              </a:rPr>
              <a:t>{</a:t>
            </a:r>
            <a:endParaRPr lang="en-US" sz="900" dirty="0"/>
          </a:p>
          <a:p>
            <a:pPr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3C3C3C"/>
                </a:solidFill>
                <a:latin typeface="Courier New"/>
                <a:cs typeface="Courier New"/>
              </a:rPr>
              <a:t>  "GroupId": "t1790749600a1b2c3d4e5f6",</a:t>
            </a:r>
            <a:endParaRPr lang="en-US" sz="900" dirty="0"/>
          </a:p>
          <a:p>
            <a:pPr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3C3C3C"/>
                </a:solidFill>
                <a:latin typeface="Courier New"/>
                <a:cs typeface="Courier New"/>
              </a:rPr>
              <a:t>  "From_Account": "tanya_ai",</a:t>
            </a:r>
            <a:endParaRPr lang="en-US" sz="900" dirty="0"/>
          </a:p>
          <a:p>
            <a:pPr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3C3C3C"/>
                </a:solidFill>
                <a:latin typeface="Courier New"/>
                <a:cs typeface="Courier New"/>
              </a:rPr>
              <a:t>  "Random": 1287658,</a:t>
            </a:r>
            <a:endParaRPr lang="en-US" sz="900" dirty="0"/>
          </a:p>
          <a:p>
            <a:pPr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3C3C3C"/>
                </a:solidFill>
                <a:latin typeface="Courier New"/>
                <a:cs typeface="Courier New"/>
              </a:rPr>
              <a:t>  "MsgBody": [{</a:t>
            </a:r>
            <a:endParaRPr lang="en-US" sz="900" dirty="0"/>
          </a:p>
          <a:p>
            <a:pPr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3C3C3C"/>
                </a:solidFill>
                <a:latin typeface="Courier New"/>
                <a:cs typeface="Courier New"/>
              </a:rPr>
              <a:t>    "MsgType": "TIMTextElem",</a:t>
            </a:r>
            <a:endParaRPr lang="en-US" sz="900" dirty="0"/>
          </a:p>
          <a:p>
            <a:pPr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3C3C3C"/>
                </a:solidFill>
                <a:latin typeface="Courier New"/>
                <a:cs typeface="Courier New"/>
              </a:rPr>
              <a:t>    "MsgContent": { "Text": "Deposito bisa dibuka mulai</a:t>
            </a:r>
            <a:endParaRPr lang="en-US" sz="900" dirty="0"/>
          </a:p>
          <a:p>
            <a:pPr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3C3C3C"/>
                </a:solidFill>
                <a:latin typeface="Courier New"/>
                <a:cs typeface="Courier New"/>
              </a:rPr>
              <a:t>      Rp 8.000.000 dengan tenor 1, 3, 6 atau 12 bulan." }</a:t>
            </a:r>
            <a:endParaRPr lang="en-US" sz="900" dirty="0"/>
          </a:p>
          <a:p>
            <a:pPr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3C3C3C"/>
                </a:solidFill>
                <a:latin typeface="Courier New"/>
                <a:cs typeface="Courier New"/>
              </a:rPr>
              <a:t>  }],</a:t>
            </a:r>
            <a:endParaRPr lang="en-US" sz="900" dirty="0"/>
          </a:p>
          <a:p>
            <a:pPr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3C3C3C"/>
                </a:solidFill>
                <a:latin typeface="Courier New"/>
                <a:cs typeface="Courier New"/>
              </a:rPr>
              <a:t>  "CloudCustomData": "{\"v\":1,\"source\":\"tanya-ai\",</a:t>
            </a:r>
            <a:endParaRPr lang="en-US" sz="900" dirty="0"/>
          </a:p>
          <a:p>
            <a:pPr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3C3C3C"/>
                </a:solidFill>
                <a:latin typeface="Courier New"/>
                <a:cs typeface="Courier New"/>
              </a:rPr>
              <a:t>    \"request_id\":\"6f1c2a9e-3b7d-4e21-9a55-0c8d7e4f1b20\",</a:t>
            </a:r>
            <a:endParaRPr lang="en-US" sz="900" dirty="0"/>
          </a:p>
          <a:p>
            <a:pPr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3C3C3C"/>
                </a:solidFill>
                <a:latin typeface="Courier New"/>
                <a:cs typeface="Courier New"/>
              </a:rPr>
              <a:t>    \"intent\":\"knowledge_base\",\"action\":null,</a:t>
            </a:r>
            <a:endParaRPr lang="en-US" sz="900" dirty="0"/>
          </a:p>
          <a:p>
            <a:pPr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3C3C3C"/>
                </a:solidFill>
                <a:latin typeface="Courier New"/>
                <a:cs typeface="Courier New"/>
              </a:rPr>
              <a:t>    \"sources\":[\"RM Ally\"],</a:t>
            </a:r>
            <a:endParaRPr lang="en-US" sz="900" dirty="0"/>
          </a:p>
          <a:p>
            <a:pPr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3C3C3C"/>
                </a:solidFill>
                <a:latin typeface="Courier New"/>
                <a:cs typeface="Courier New"/>
              </a:rPr>
              <a:t>    \"chips\":[\"Bedanya deposito dan tabungan?\"],</a:t>
            </a:r>
            <a:endParaRPr lang="en-US" sz="900" dirty="0"/>
          </a:p>
          <a:p>
            <a:pPr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3C3C3C"/>
                </a:solidFill>
                <a:latin typeface="Courier New"/>
                <a:cs typeface="Courier New"/>
              </a:rPr>
              <a:t>    \"title\":\"Syarat buka deposito\"}",</a:t>
            </a:r>
            <a:endParaRPr lang="en-US" sz="900" dirty="0"/>
          </a:p>
          <a:p>
            <a:pPr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3C3C3C"/>
                </a:solidFill>
                <a:latin typeface="Courier New"/>
                <a:cs typeface="Courier New"/>
              </a:rPr>
              <a:t>  "ForbidCallbackControl": ["ForbidBeforeSendMsgCallback",</a:t>
            </a:r>
            <a:endParaRPr lang="en-US" sz="900" dirty="0"/>
          </a:p>
          <a:p>
            <a:pPr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3C3C3C"/>
                </a:solidFill>
                <a:latin typeface="Courier New"/>
                <a:cs typeface="Courier New"/>
              </a:rPr>
              <a:t>                            "ForbidAfterSendMsgCallback"]</a:t>
            </a:r>
            <a:endParaRPr lang="en-US" sz="900" dirty="0"/>
          </a:p>
          <a:p>
            <a:pPr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3C3C3C"/>
                </a:solidFill>
                <a:latin typeface="Courier New"/>
                <a:cs typeface="Courier New"/>
              </a:rPr>
              <a:t>}</a:t>
            </a:r>
            <a:endParaRPr lang="en-US" sz="900" dirty="0"/>
          </a:p>
        </p:txBody>
      </p:sp>
      <p:sp>
        <p:nvSpPr>
          <p:cNvPr id="13" name="Text 13"/>
          <p:cNvSpPr txBox="1"/>
          <p:nvPr/>
        </p:nvSpPr>
        <p:spPr>
          <a:xfrm>
            <a:off x="7498080" y="2468880"/>
            <a:ext cx="423367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Arial"/>
                <a:cs typeface="Arial"/>
              </a:rPr>
              <a:t>Tencent answers</a:t>
            </a:r>
            <a:endParaRPr lang="en-US" sz="1200" dirty="0"/>
          </a:p>
        </p:txBody>
      </p:sp>
      <p:cxnSp>
        <p:nvCxnSpPr>
          <p:cNvPr id="14" name="Connector 14"/>
          <p:cNvCxnSpPr/>
          <p:nvPr/>
        </p:nvCxnSpPr>
        <p:spPr>
          <a:xfrm>
            <a:off x="7498080" y="2752344"/>
            <a:ext cx="4233672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cxnSp>
      <p:sp>
        <p:nvSpPr>
          <p:cNvPr id="15" name="Text 15"/>
          <p:cNvSpPr txBox="1"/>
          <p:nvPr/>
        </p:nvSpPr>
        <p:spPr>
          <a:xfrm>
            <a:off x="7498080" y="2852928"/>
            <a:ext cx="423367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ourier New"/>
                <a:cs typeface="Courier New"/>
              </a:rPr>
              <a:t>{"ActionStatus":"OK","ErrorCode":0,"ErrorInfo":"",
 "MsgTime":1790749722,"MsgSeq":4}</a:t>
            </a:r>
            <a:endParaRPr lang="en-US" sz="1000" dirty="0"/>
          </a:p>
        </p:txBody>
      </p:sp>
      <p:sp>
        <p:nvSpPr>
          <p:cNvPr id="16" name="Text 16"/>
          <p:cNvSpPr txBox="1"/>
          <p:nvPr/>
        </p:nvSpPr>
        <p:spPr>
          <a:xfrm>
            <a:off x="7498080" y="3429000"/>
            <a:ext cx="423367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Arial"/>
                <a:cs typeface="Arial"/>
              </a:rPr>
              <a:t>Key fields</a:t>
            </a:r>
            <a:endParaRPr lang="en-US" sz="1200" dirty="0"/>
          </a:p>
        </p:txBody>
      </p:sp>
      <p:cxnSp>
        <p:nvCxnSpPr>
          <p:cNvPr id="17" name="Connector 17"/>
          <p:cNvCxnSpPr/>
          <p:nvPr/>
        </p:nvCxnSpPr>
        <p:spPr>
          <a:xfrm>
            <a:off x="7498080" y="3712464"/>
            <a:ext cx="4233672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cxnSp>
      <p:sp>
        <p:nvSpPr>
          <p:cNvPr id="18" name="Text 18"/>
          <p:cNvSpPr txBox="1"/>
          <p:nvPr/>
        </p:nvSpPr>
        <p:spPr>
          <a:xfrm>
            <a:off x="7498080" y="3813048"/>
            <a:ext cx="4233672" cy="1719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1F1F"/>
                </a:solidFill>
                <a:latin typeface="Courier New"/>
                <a:cs typeface="Courier New"/>
              </a:rPr>
              <a:t>From_Account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C3C3C"/>
                </a:solidFill>
                <a:latin typeface="Arial"/>
                <a:cs typeface="Arial"/>
              </a:rPr>
              <a:t>tanya_ai, as TIMTextElem, into the thread's group</a:t>
            </a:r>
            <a:endParaRPr lang="en-US" sz="11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1F1F"/>
                </a:solidFill>
                <a:latin typeface="Courier New"/>
                <a:cs typeface="Courier New"/>
              </a:rPr>
              <a:t>CloudCustomData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C3C3C"/>
                </a:solidFill>
                <a:latin typeface="Arial"/>
                <a:cs typeface="Arial"/>
              </a:rPr>
              <a:t>the action, sources, follow-ups (chips) and title; nothing names the thread</a:t>
            </a:r>
            <a:endParaRPr lang="en-US" sz="11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1F1F"/>
                </a:solidFill>
                <a:latin typeface="Courier New"/>
                <a:cs typeface="Courier New"/>
              </a:rPr>
              <a:t>ForbidCallbackControl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C3C3C"/>
                </a:solidFill>
                <a:latin typeface="Arial"/>
                <a:cs typeface="Arial"/>
              </a:rPr>
              <a:t>keeps this write from coming back as a new turn</a:t>
            </a:r>
            <a:endParaRPr lang="en-US" sz="1150" dirty="0"/>
          </a:p>
        </p:txBody>
      </p:sp>
      <p:sp>
        <p:nvSpPr>
          <p:cNvPr id="19" name="Shape 19"/>
          <p:cNvSpPr/>
          <p:nvPr/>
        </p:nvSpPr>
        <p:spPr>
          <a:xfrm>
            <a:off x="457200" y="5715000"/>
            <a:ext cx="11274552" cy="502920"/>
          </a:xfrm>
          <a:prstGeom prst="rect">
            <a:avLst/>
          </a:prstGeom>
          <a:solidFill>
            <a:srgbClr val="FCE8E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20" name="Shape 20"/>
          <p:cNvSpPr/>
          <p:nvPr/>
        </p:nvSpPr>
        <p:spPr>
          <a:xfrm>
            <a:off x="457200" y="5715000"/>
            <a:ext cx="64008" cy="50292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685800" y="571500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E30613"/>
                </a:solidFill>
                <a:latin typeface="Arial"/>
                <a:cs typeface="Arial"/>
              </a:rPr>
              <a:t>Then  </a:t>
            </a:r>
            <a:r>
              <a:rPr lang="en-US" sz="1300" dirty="0">
                <a:solidFill>
                  <a:srgbClr val="1F1F1F"/>
                </a:solidFill>
                <a:latin typeface="Arial"/>
                <a:cs typeface="Arial"/>
              </a:rPr>
              <a:t>task 13: on the thread's first reply, the title becomes the group's Name (modify_group_base_info)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57200" y="301752"/>
            <a:ext cx="100584" cy="100584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237744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30613"/>
                </a:solidFill>
                <a:latin typeface="Arial"/>
                <a:cs typeface="Arial"/>
              </a:rPr>
              <a:t>ARCHITECTURE · TENCENT INTEGRATION</a:t>
            </a:r>
            <a:endParaRPr lang="en-US" sz="9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502920"/>
            <a:ext cx="1127455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2200" dirty="0">
                <a:solidFill>
                  <a:srgbClr val="1F1F1F"/>
                </a:solidFill>
                <a:latin typeface="Georgia"/>
                <a:cs typeface="Georgia"/>
              </a:rPr>
              <a:t>Inside the Router: screen first, then history and intent in parallel, then tools and reply</a:t>
            </a:r>
            <a:endParaRPr lang="en-US" sz="2200" dirty="0"/>
          </a:p>
        </p:txBody>
      </p:sp>
      <p:cxnSp>
        <p:nvCxnSpPr>
          <p:cNvPr id="5" name="Connector 5"/>
          <p:cNvCxnSpPr/>
          <p:nvPr/>
        </p:nvCxnSpPr>
        <p:spPr>
          <a:xfrm>
            <a:off x="457200" y="137160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cxnSp>
      <p:sp>
        <p:nvSpPr>
          <p:cNvPr id="6" name="Text 6"/>
          <p:cNvSpPr txBox="1"/>
          <p:nvPr/>
        </p:nvSpPr>
        <p:spPr>
          <a:xfrm>
            <a:off x="457200" y="6446520"/>
            <a:ext cx="10332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6E6E6E"/>
                </a:solidFill>
                <a:latin typeface="Arial"/>
                <a:cs typeface="Arial"/>
              </a:rPr>
              <a:t>Source: TANYA AI workflow (localhost:5175) · General Workflow, step 2, tasks 1–11; order shown: screen first, history and classify in parallel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11000232" y="64465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Aft>
                <a:spcPts val="300"/>
              </a:spcAft>
              <a:buNone/>
            </a:pPr>
            <a:r>
              <a:rPr lang="en-US" sz="900" dirty="0">
                <a:solidFill>
                  <a:srgbClr val="6E6E6E"/>
                </a:solidFill>
                <a:latin typeface="Arial"/>
                <a:cs typeface="Arial"/>
              </a:rPr>
              <a:t>6</a:t>
            </a:r>
            <a:endParaRPr lang="en-US" sz="900" dirty="0"/>
          </a:p>
        </p:txBody>
      </p:sp>
      <p:sp>
        <p:nvSpPr>
          <p:cNvPr id="8" name="Shape 8"/>
          <p:cNvSpPr/>
          <p:nvPr/>
        </p:nvSpPr>
        <p:spPr>
          <a:xfrm>
            <a:off x="457200" y="1874520"/>
            <a:ext cx="207203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457200" y="1874520"/>
            <a:ext cx="2072030" cy="64008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594360" y="2093976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US" sz="1200" dirty="0"/>
          </a:p>
        </p:txBody>
      </p:sp>
      <p:sp>
        <p:nvSpPr>
          <p:cNvPr id="11" name="Text 11"/>
          <p:cNvSpPr txBox="1"/>
          <p:nvPr/>
        </p:nvSpPr>
        <p:spPr>
          <a:xfrm>
            <a:off x="1069848" y="2020824"/>
            <a:ext cx="1367942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1F1F"/>
                </a:solidFill>
                <a:latin typeface="Arial"/>
                <a:cs typeface="Arial"/>
              </a:rPr>
              <a:t>Screen</a:t>
            </a:r>
            <a:endParaRPr lang="en-US" sz="1400" dirty="0"/>
          </a:p>
        </p:txBody>
      </p:sp>
      <p:sp>
        <p:nvSpPr>
          <p:cNvPr id="12" name="Text 12"/>
          <p:cNvSpPr txBox="1"/>
          <p:nvPr/>
        </p:nvSpPr>
        <p:spPr>
          <a:xfrm>
            <a:off x="594360" y="2606040"/>
            <a:ext cx="179771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30613"/>
                </a:solidFill>
                <a:latin typeface="Arial"/>
                <a:cs typeface="Arial"/>
              </a:rPr>
              <a:t>TASK 4</a:t>
            </a:r>
            <a:endParaRPr lang="en-US" sz="1000" dirty="0"/>
          </a:p>
        </p:txBody>
      </p:sp>
      <p:sp>
        <p:nvSpPr>
          <p:cNvPr id="13" name="Text 13"/>
          <p:cNvSpPr txBox="1"/>
          <p:nvPr/>
        </p:nvSpPr>
        <p:spPr>
          <a:xfrm>
            <a:off x="594360" y="2898648"/>
            <a:ext cx="179771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C3C3C"/>
                </a:solidFill>
                <a:latin typeface="Arial"/>
                <a:cs typeface="Arial"/>
              </a:rPr>
              <a:t>the guard models and the site's own patterns: injection, content, jailbreak</a:t>
            </a:r>
            <a:endParaRPr lang="en-US" sz="1100" dirty="0"/>
          </a:p>
        </p:txBody>
      </p:sp>
      <p:sp>
        <p:nvSpPr>
          <p:cNvPr id="14" name="Text 14"/>
          <p:cNvSpPr txBox="1"/>
          <p:nvPr/>
        </p:nvSpPr>
        <p:spPr>
          <a:xfrm>
            <a:off x="594360" y="3858768"/>
            <a:ext cx="179771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6E6E6E"/>
                </a:solidFill>
                <a:latin typeface="Arial"/>
                <a:cs typeface="Arial"/>
              </a:rPr>
              <a:t>IN THE WORKFLOW EXAMPLE</a:t>
            </a:r>
            <a:endParaRPr lang="en-US" sz="850" dirty="0"/>
          </a:p>
        </p:txBody>
      </p:sp>
      <p:sp>
        <p:nvSpPr>
          <p:cNvPr id="15" name="Shape 15"/>
          <p:cNvSpPr/>
          <p:nvPr/>
        </p:nvSpPr>
        <p:spPr>
          <a:xfrm>
            <a:off x="594360" y="4114800"/>
            <a:ext cx="1797710" cy="12801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91440" tIns="73152" rIns="91440" bIns="54864" rtlCol="0" anchor="t">
            <a:no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Arial"/>
                <a:cs typeface="Arial"/>
              </a:rPr>
              <a:t>refused → stop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C3C3C"/>
                </a:solidFill>
                <a:latin typeface="Arial"/>
                <a:cs typeface="Arial"/>
              </a:rPr>
              <a:t>a polite decline; nothing is read or routed</a:t>
            </a:r>
            <a:endParaRPr lang="en-US" sz="1050" dirty="0"/>
          </a:p>
        </p:txBody>
      </p:sp>
      <p:sp>
        <p:nvSpPr>
          <p:cNvPr id="16" name="Shape 16"/>
          <p:cNvSpPr/>
          <p:nvPr/>
        </p:nvSpPr>
        <p:spPr>
          <a:xfrm>
            <a:off x="2757830" y="1874520"/>
            <a:ext cx="207203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17" name="Shape 17"/>
          <p:cNvSpPr/>
          <p:nvPr/>
        </p:nvSpPr>
        <p:spPr>
          <a:xfrm>
            <a:off x="2757830" y="1874520"/>
            <a:ext cx="2072030" cy="64008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18" name="Shape 18"/>
          <p:cNvSpPr/>
          <p:nvPr/>
        </p:nvSpPr>
        <p:spPr>
          <a:xfrm>
            <a:off x="2894990" y="2093976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2a</a:t>
            </a:r>
            <a:endParaRPr lang="en-US" sz="1200" dirty="0"/>
          </a:p>
        </p:txBody>
      </p:sp>
      <p:sp>
        <p:nvSpPr>
          <p:cNvPr id="19" name="Text 19"/>
          <p:cNvSpPr txBox="1"/>
          <p:nvPr/>
        </p:nvSpPr>
        <p:spPr>
          <a:xfrm>
            <a:off x="3370478" y="2020824"/>
            <a:ext cx="1367942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1F1F"/>
                </a:solidFill>
                <a:latin typeface="Arial"/>
                <a:cs typeface="Arial"/>
              </a:rPr>
              <a:t>Read history</a:t>
            </a:r>
            <a:endParaRPr lang="en-US" sz="1400" dirty="0"/>
          </a:p>
        </p:txBody>
      </p:sp>
      <p:sp>
        <p:nvSpPr>
          <p:cNvPr id="20" name="Text 20"/>
          <p:cNvSpPr txBox="1"/>
          <p:nvPr/>
        </p:nvSpPr>
        <p:spPr>
          <a:xfrm>
            <a:off x="2894990" y="2606040"/>
            <a:ext cx="179771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30613"/>
                </a:solidFill>
                <a:latin typeface="Arial"/>
                <a:cs typeface="Arial"/>
              </a:rPr>
              <a:t>TASKS 1–3</a:t>
            </a:r>
            <a:endParaRPr lang="en-US" sz="1000" dirty="0"/>
          </a:p>
        </p:txBody>
      </p:sp>
      <p:sp>
        <p:nvSpPr>
          <p:cNvPr id="21" name="Text 21"/>
          <p:cNvSpPr txBox="1"/>
          <p:nvPr/>
        </p:nvSpPr>
        <p:spPr>
          <a:xfrm>
            <a:off x="2894990" y="2898648"/>
            <a:ext cx="179771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C3C3C"/>
                </a:solidFill>
                <a:latin typeface="Arial"/>
                <a:cs typeface="Arial"/>
              </a:rPr>
              <a:t>build the turn, find the thread by its GroupId, read its latest messages</a:t>
            </a:r>
            <a:endParaRPr lang="en-US" sz="1100" dirty="0"/>
          </a:p>
        </p:txBody>
      </p:sp>
      <p:sp>
        <p:nvSpPr>
          <p:cNvPr id="22" name="Text 22"/>
          <p:cNvSpPr txBox="1"/>
          <p:nvPr/>
        </p:nvSpPr>
        <p:spPr>
          <a:xfrm>
            <a:off x="2894990" y="3858768"/>
            <a:ext cx="179771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6E6E6E"/>
                </a:solidFill>
                <a:latin typeface="Arial"/>
                <a:cs typeface="Arial"/>
              </a:rPr>
              <a:t>IN THE WORKFLOW EXAMPLE</a:t>
            </a:r>
            <a:endParaRPr lang="en-US" sz="850" dirty="0"/>
          </a:p>
        </p:txBody>
      </p:sp>
      <p:sp>
        <p:nvSpPr>
          <p:cNvPr id="23" name="Shape 23"/>
          <p:cNvSpPr/>
          <p:nvPr/>
        </p:nvSpPr>
        <p:spPr>
          <a:xfrm>
            <a:off x="2894990" y="4114800"/>
            <a:ext cx="1797710" cy="12801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91440" tIns="73152" rIns="91440" bIns="54864" rtlCol="0" anchor="t">
            <a:no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Arial"/>
                <a:cs typeface="Arial"/>
              </a:rPr>
              <a:t>the thread's recent messages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C3C3C"/>
                </a:solidFill>
                <a:latin typeface="Arial"/>
                <a:cs typeface="Arial"/>
              </a:rPr>
              <a:t>context for the LLM models</a:t>
            </a:r>
            <a:endParaRPr lang="en-US" sz="1050" dirty="0"/>
          </a:p>
        </p:txBody>
      </p:sp>
      <p:sp>
        <p:nvSpPr>
          <p:cNvPr id="24" name="Shape 24"/>
          <p:cNvSpPr/>
          <p:nvPr/>
        </p:nvSpPr>
        <p:spPr>
          <a:xfrm>
            <a:off x="5058461" y="1874520"/>
            <a:ext cx="207203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25" name="Shape 25"/>
          <p:cNvSpPr/>
          <p:nvPr/>
        </p:nvSpPr>
        <p:spPr>
          <a:xfrm>
            <a:off x="5058461" y="1874520"/>
            <a:ext cx="2072030" cy="64008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26" name="Shape 26"/>
          <p:cNvSpPr/>
          <p:nvPr/>
        </p:nvSpPr>
        <p:spPr>
          <a:xfrm>
            <a:off x="5195621" y="2093976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2b</a:t>
            </a:r>
            <a:endParaRPr lang="en-US" sz="1200" dirty="0"/>
          </a:p>
        </p:txBody>
      </p:sp>
      <p:sp>
        <p:nvSpPr>
          <p:cNvPr id="27" name="Text 27"/>
          <p:cNvSpPr txBox="1"/>
          <p:nvPr/>
        </p:nvSpPr>
        <p:spPr>
          <a:xfrm>
            <a:off x="5671109" y="2020824"/>
            <a:ext cx="1367942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1F1F"/>
                </a:solidFill>
                <a:latin typeface="Arial"/>
                <a:cs typeface="Arial"/>
              </a:rPr>
              <a:t>Classify</a:t>
            </a:r>
            <a:endParaRPr lang="en-US" sz="1400" dirty="0"/>
          </a:p>
        </p:txBody>
      </p:sp>
      <p:sp>
        <p:nvSpPr>
          <p:cNvPr id="28" name="Text 28"/>
          <p:cNvSpPr txBox="1"/>
          <p:nvPr/>
        </p:nvSpPr>
        <p:spPr>
          <a:xfrm>
            <a:off x="5195621" y="2606040"/>
            <a:ext cx="179771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30613"/>
                </a:solidFill>
                <a:latin typeface="Arial"/>
                <a:cs typeface="Arial"/>
              </a:rPr>
              <a:t>TASKS 5–6</a:t>
            </a:r>
            <a:endParaRPr lang="en-US" sz="1000" dirty="0"/>
          </a:p>
        </p:txBody>
      </p:sp>
      <p:sp>
        <p:nvSpPr>
          <p:cNvPr id="29" name="Text 29"/>
          <p:cNvSpPr txBox="1"/>
          <p:nvPr/>
        </p:nvSpPr>
        <p:spPr>
          <a:xfrm>
            <a:off x="5195621" y="2898648"/>
            <a:ext cx="179771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C3C3C"/>
                </a:solidFill>
                <a:latin typeface="Arial"/>
                <a:cs typeface="Arial"/>
              </a:rPr>
              <a:t>from the message: what kind of turn, its language and topic, which app pages</a:t>
            </a:r>
            <a:endParaRPr lang="en-US" sz="1100" dirty="0"/>
          </a:p>
        </p:txBody>
      </p:sp>
      <p:sp>
        <p:nvSpPr>
          <p:cNvPr id="30" name="Text 30"/>
          <p:cNvSpPr txBox="1"/>
          <p:nvPr/>
        </p:nvSpPr>
        <p:spPr>
          <a:xfrm>
            <a:off x="5195621" y="3858768"/>
            <a:ext cx="179771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6E6E6E"/>
                </a:solidFill>
                <a:latin typeface="Arial"/>
                <a:cs typeface="Arial"/>
              </a:rPr>
              <a:t>IN THE WORKFLOW EXAMPLE</a:t>
            </a:r>
            <a:endParaRPr lang="en-US" sz="850" dirty="0"/>
          </a:p>
        </p:txBody>
      </p:sp>
      <p:sp>
        <p:nvSpPr>
          <p:cNvPr id="31" name="Shape 31"/>
          <p:cNvSpPr/>
          <p:nvPr/>
        </p:nvSpPr>
        <p:spPr>
          <a:xfrm>
            <a:off x="5195621" y="4114800"/>
            <a:ext cx="1797710" cy="12801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91440" tIns="73152" rIns="91440" bIns="54864" rtlCol="0" anchor="t">
            <a:no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C3C3C"/>
                </a:solidFill>
                <a:latin typeface="Arial"/>
                <a:cs typeface="Arial"/>
              </a:rPr>
              <a:t>intent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/>
                <a:cs typeface="Courier New"/>
              </a:rPr>
              <a:t>knowledge_base</a:t>
            </a:r>
            <a:endParaRPr lang="en-US" sz="1200" dirty="0"/>
          </a:p>
        </p:txBody>
      </p:sp>
      <p:sp>
        <p:nvSpPr>
          <p:cNvPr id="32" name="Shape 32"/>
          <p:cNvSpPr/>
          <p:nvPr/>
        </p:nvSpPr>
        <p:spPr>
          <a:xfrm>
            <a:off x="7359091" y="1874520"/>
            <a:ext cx="207203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33" name="Shape 33"/>
          <p:cNvSpPr/>
          <p:nvPr/>
        </p:nvSpPr>
        <p:spPr>
          <a:xfrm>
            <a:off x="7359091" y="1874520"/>
            <a:ext cx="2072030" cy="64008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34" name="Shape 34"/>
          <p:cNvSpPr/>
          <p:nvPr/>
        </p:nvSpPr>
        <p:spPr>
          <a:xfrm>
            <a:off x="7496251" y="2093976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US" sz="1200" dirty="0"/>
          </a:p>
        </p:txBody>
      </p:sp>
      <p:sp>
        <p:nvSpPr>
          <p:cNvPr id="35" name="Text 35"/>
          <p:cNvSpPr txBox="1"/>
          <p:nvPr/>
        </p:nvSpPr>
        <p:spPr>
          <a:xfrm>
            <a:off x="7971739" y="2020824"/>
            <a:ext cx="1367942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1F1F"/>
                </a:solidFill>
                <a:latin typeface="Arial"/>
                <a:cs typeface="Arial"/>
              </a:rPr>
              <a:t>Call tools</a:t>
            </a:r>
            <a:endParaRPr lang="en-US" sz="1400" dirty="0"/>
          </a:p>
        </p:txBody>
      </p:sp>
      <p:sp>
        <p:nvSpPr>
          <p:cNvPr id="36" name="Text 36"/>
          <p:cNvSpPr txBox="1"/>
          <p:nvPr/>
        </p:nvSpPr>
        <p:spPr>
          <a:xfrm>
            <a:off x="7496251" y="2606040"/>
            <a:ext cx="179771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30613"/>
                </a:solidFill>
                <a:latin typeface="Arial"/>
                <a:cs typeface="Arial"/>
              </a:rPr>
              <a:t>TASKS 7–9</a:t>
            </a:r>
            <a:endParaRPr lang="en-US" sz="1000" dirty="0"/>
          </a:p>
        </p:txBody>
      </p:sp>
      <p:sp>
        <p:nvSpPr>
          <p:cNvPr id="37" name="Text 37"/>
          <p:cNvSpPr txBox="1"/>
          <p:nvPr/>
        </p:nvSpPr>
        <p:spPr>
          <a:xfrm>
            <a:off x="7496251" y="2898648"/>
            <a:ext cx="179771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C3C3C"/>
                </a:solidFill>
                <a:latin typeface="Arial"/>
                <a:cs typeface="Arial"/>
              </a:rPr>
              <a:t>API OM: the customer's money and transactions · RM Ally: the knowledge wiki</a:t>
            </a:r>
            <a:endParaRPr lang="en-US" sz="1100" dirty="0"/>
          </a:p>
        </p:txBody>
      </p:sp>
      <p:sp>
        <p:nvSpPr>
          <p:cNvPr id="38" name="Text 38"/>
          <p:cNvSpPr txBox="1"/>
          <p:nvPr/>
        </p:nvSpPr>
        <p:spPr>
          <a:xfrm>
            <a:off x="7496251" y="3858768"/>
            <a:ext cx="179771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6E6E6E"/>
                </a:solidFill>
                <a:latin typeface="Arial"/>
                <a:cs typeface="Arial"/>
              </a:rPr>
              <a:t>IN THE WORKFLOW EXAMPLE</a:t>
            </a:r>
            <a:endParaRPr lang="en-US" sz="850" dirty="0"/>
          </a:p>
        </p:txBody>
      </p:sp>
      <p:sp>
        <p:nvSpPr>
          <p:cNvPr id="39" name="Shape 39"/>
          <p:cNvSpPr/>
          <p:nvPr/>
        </p:nvSpPr>
        <p:spPr>
          <a:xfrm>
            <a:off x="7496251" y="4114800"/>
            <a:ext cx="1797710" cy="12801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91440" tIns="73152" rIns="91440" bIns="54864" rtlCol="0" anchor="t">
            <a:no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C3C3C"/>
                </a:solidFill>
                <a:latin typeface="Arial"/>
                <a:cs typeface="Arial"/>
              </a:rPr>
              <a:t>sources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Arial"/>
                <a:cs typeface="Arial"/>
              </a:rPr>
              <a:t>RM Ally</a:t>
            </a:r>
            <a:endParaRPr lang="en-US" sz="1200" dirty="0"/>
          </a:p>
        </p:txBody>
      </p:sp>
      <p:sp>
        <p:nvSpPr>
          <p:cNvPr id="40" name="Shape 40"/>
          <p:cNvSpPr/>
          <p:nvPr/>
        </p:nvSpPr>
        <p:spPr>
          <a:xfrm>
            <a:off x="9659722" y="1874520"/>
            <a:ext cx="207203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41" name="Shape 41"/>
          <p:cNvSpPr/>
          <p:nvPr/>
        </p:nvSpPr>
        <p:spPr>
          <a:xfrm>
            <a:off x="9659722" y="1874520"/>
            <a:ext cx="2072030" cy="64008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42" name="Shape 42"/>
          <p:cNvSpPr/>
          <p:nvPr/>
        </p:nvSpPr>
        <p:spPr>
          <a:xfrm>
            <a:off x="9796882" y="2093976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n-US" sz="1200" dirty="0"/>
          </a:p>
        </p:txBody>
      </p:sp>
      <p:sp>
        <p:nvSpPr>
          <p:cNvPr id="43" name="Text 43"/>
          <p:cNvSpPr txBox="1"/>
          <p:nvPr/>
        </p:nvSpPr>
        <p:spPr>
          <a:xfrm>
            <a:off x="10272370" y="2020824"/>
            <a:ext cx="1367942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1F1F"/>
                </a:solidFill>
                <a:latin typeface="Arial"/>
                <a:cs typeface="Arial"/>
              </a:rPr>
              <a:t>Write the reply</a:t>
            </a:r>
            <a:endParaRPr lang="en-US" sz="1400" dirty="0"/>
          </a:p>
        </p:txBody>
      </p:sp>
      <p:sp>
        <p:nvSpPr>
          <p:cNvPr id="44" name="Text 44"/>
          <p:cNvSpPr txBox="1"/>
          <p:nvPr/>
        </p:nvSpPr>
        <p:spPr>
          <a:xfrm>
            <a:off x="9796882" y="2606040"/>
            <a:ext cx="179771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30613"/>
                </a:solidFill>
                <a:latin typeface="Arial"/>
                <a:cs typeface="Arial"/>
              </a:rPr>
              <a:t>TASKS 10–11</a:t>
            </a:r>
            <a:endParaRPr lang="en-US" sz="1000" dirty="0"/>
          </a:p>
        </p:txBody>
      </p:sp>
      <p:sp>
        <p:nvSpPr>
          <p:cNvPr id="45" name="Text 45"/>
          <p:cNvSpPr txBox="1"/>
          <p:nvPr/>
        </p:nvSpPr>
        <p:spPr>
          <a:xfrm>
            <a:off x="9796882" y="2898648"/>
            <a:ext cx="179771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C3C3C"/>
                </a:solidFill>
                <a:latin typeface="Arial"/>
                <a:cs typeface="Arial"/>
              </a:rPr>
              <a:t>one generation from the persona and the briefing; then follow-ups and the title</a:t>
            </a:r>
            <a:endParaRPr lang="en-US" sz="1100" dirty="0"/>
          </a:p>
        </p:txBody>
      </p:sp>
      <p:sp>
        <p:nvSpPr>
          <p:cNvPr id="46" name="Text 46"/>
          <p:cNvSpPr txBox="1"/>
          <p:nvPr/>
        </p:nvSpPr>
        <p:spPr>
          <a:xfrm>
            <a:off x="9796882" y="3858768"/>
            <a:ext cx="179771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6E6E6E"/>
                </a:solidFill>
                <a:latin typeface="Arial"/>
                <a:cs typeface="Arial"/>
              </a:rPr>
              <a:t>IN THE WORKFLOW EXAMPLE</a:t>
            </a:r>
            <a:endParaRPr lang="en-US" sz="850" dirty="0"/>
          </a:p>
        </p:txBody>
      </p:sp>
      <p:sp>
        <p:nvSpPr>
          <p:cNvPr id="47" name="Shape 47"/>
          <p:cNvSpPr/>
          <p:nvPr/>
        </p:nvSpPr>
        <p:spPr>
          <a:xfrm>
            <a:off x="9796882" y="4114800"/>
            <a:ext cx="1797710" cy="12801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91440" tIns="73152" rIns="91440" bIns="54864" rtlCol="0" anchor="t">
            <a:no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F1F1F"/>
                </a:solidFill>
                <a:latin typeface="Arial"/>
                <a:cs typeface="Arial"/>
              </a:rPr>
              <a:t>“Deposito bisa dibuka mulai Rp 8.000.000 dengan tenor 1, 3, 6 atau 12 bulan.”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3C3C3C"/>
                </a:solidFill>
                <a:latin typeface="Arial"/>
                <a:cs typeface="Arial"/>
              </a:rPr>
              <a:t>chip: Bedanya deposito dan tabungan?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3C3C3C"/>
                </a:solidFill>
                <a:latin typeface="Arial"/>
                <a:cs typeface="Arial"/>
              </a:rPr>
              <a:t>title: Syarat buka deposito</a:t>
            </a:r>
            <a:endParaRPr lang="en-US" sz="950" dirty="0"/>
          </a:p>
        </p:txBody>
      </p:sp>
      <p:cxnSp>
        <p:nvCxnSpPr>
          <p:cNvPr id="48" name="Connector 48"/>
          <p:cNvCxnSpPr/>
          <p:nvPr/>
        </p:nvCxnSpPr>
        <p:spPr>
          <a:xfrm>
            <a:off x="2547518" y="3703320"/>
            <a:ext cx="192024" cy="0"/>
          </a:xfrm>
          <a:prstGeom prst="line">
            <a:avLst/>
          </a:prstGeom>
          <a:noFill/>
          <a:ln w="22225">
            <a:solidFill>
              <a:srgbClr val="3C3C3C"/>
            </a:solidFill>
            <a:prstDash val="solid"/>
            <a:tailEnd type="triangle" w="med" len="med"/>
          </a:ln>
        </p:spPr>
      </p:cxnSp>
      <p:cxnSp>
        <p:nvCxnSpPr>
          <p:cNvPr id="49" name="Connector 49"/>
          <p:cNvCxnSpPr/>
          <p:nvPr/>
        </p:nvCxnSpPr>
        <p:spPr>
          <a:xfrm>
            <a:off x="7148779" y="3703320"/>
            <a:ext cx="192024" cy="0"/>
          </a:xfrm>
          <a:prstGeom prst="line">
            <a:avLst/>
          </a:prstGeom>
          <a:noFill/>
          <a:ln w="22225">
            <a:solidFill>
              <a:srgbClr val="3C3C3C"/>
            </a:solidFill>
            <a:prstDash val="solid"/>
            <a:tailEnd type="triangle" w="med" len="med"/>
          </a:ln>
        </p:spPr>
      </p:cxnSp>
      <p:cxnSp>
        <p:nvCxnSpPr>
          <p:cNvPr id="50" name="Connector 50"/>
          <p:cNvCxnSpPr/>
          <p:nvPr/>
        </p:nvCxnSpPr>
        <p:spPr>
          <a:xfrm>
            <a:off x="9449410" y="3703320"/>
            <a:ext cx="192024" cy="0"/>
          </a:xfrm>
          <a:prstGeom prst="line">
            <a:avLst/>
          </a:prstGeom>
          <a:noFill/>
          <a:ln w="22225">
            <a:solidFill>
              <a:srgbClr val="3C3C3C"/>
            </a:solidFill>
            <a:prstDash val="solid"/>
            <a:tailEnd type="triangle" w="med" len="med"/>
          </a:ln>
        </p:spPr>
      </p:cxnSp>
      <p:sp>
        <p:nvSpPr>
          <p:cNvPr id="51" name="Text 51"/>
          <p:cNvSpPr txBox="1"/>
          <p:nvPr/>
        </p:nvSpPr>
        <p:spPr>
          <a:xfrm>
            <a:off x="4829861" y="352044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800" b="1" dirty="0">
                <a:solidFill>
                  <a:srgbClr val="E30613"/>
                </a:solidFill>
                <a:latin typeface="Arial"/>
                <a:cs typeface="Arial"/>
              </a:rPr>
              <a:t>+</a:t>
            </a:r>
            <a:endParaRPr lang="en-US" sz="1800" dirty="0"/>
          </a:p>
        </p:txBody>
      </p:sp>
      <p:cxnSp>
        <p:nvCxnSpPr>
          <p:cNvPr id="52" name="Connector 52"/>
          <p:cNvCxnSpPr/>
          <p:nvPr/>
        </p:nvCxnSpPr>
        <p:spPr>
          <a:xfrm>
            <a:off x="3032150" y="1746504"/>
            <a:ext cx="3824021" cy="0"/>
          </a:xfrm>
          <a:prstGeom prst="line">
            <a:avLst/>
          </a:prstGeom>
          <a:noFill/>
          <a:ln w="19050">
            <a:solidFill>
              <a:srgbClr val="E30613"/>
            </a:solidFill>
            <a:prstDash val="solid"/>
          </a:ln>
        </p:spPr>
      </p:cxnSp>
      <p:cxnSp>
        <p:nvCxnSpPr>
          <p:cNvPr id="53" name="Connector 53"/>
          <p:cNvCxnSpPr/>
          <p:nvPr/>
        </p:nvCxnSpPr>
        <p:spPr>
          <a:xfrm>
            <a:off x="3032150" y="1746504"/>
            <a:ext cx="0" cy="91440"/>
          </a:xfrm>
          <a:prstGeom prst="line">
            <a:avLst/>
          </a:prstGeom>
          <a:noFill/>
          <a:ln w="19050">
            <a:solidFill>
              <a:srgbClr val="E30613"/>
            </a:solidFill>
            <a:prstDash val="solid"/>
          </a:ln>
        </p:spPr>
      </p:cxnSp>
      <p:cxnSp>
        <p:nvCxnSpPr>
          <p:cNvPr id="54" name="Connector 54"/>
          <p:cNvCxnSpPr/>
          <p:nvPr/>
        </p:nvCxnSpPr>
        <p:spPr>
          <a:xfrm>
            <a:off x="6856171" y="1746504"/>
            <a:ext cx="0" cy="91440"/>
          </a:xfrm>
          <a:prstGeom prst="line">
            <a:avLst/>
          </a:prstGeom>
          <a:noFill/>
          <a:ln w="19050">
            <a:solidFill>
              <a:srgbClr val="E30613"/>
            </a:solidFill>
            <a:prstDash val="solid"/>
          </a:ln>
        </p:spPr>
      </p:cxnSp>
      <p:sp>
        <p:nvSpPr>
          <p:cNvPr id="55" name="Text 55"/>
          <p:cNvSpPr txBox="1"/>
          <p:nvPr/>
        </p:nvSpPr>
        <p:spPr>
          <a:xfrm>
            <a:off x="3032150" y="1472184"/>
            <a:ext cx="3824021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100" b="1" dirty="0">
                <a:solidFill>
                  <a:srgbClr val="E30613"/>
                </a:solidFill>
                <a:latin typeface="Arial"/>
                <a:cs typeface="Arial"/>
              </a:rPr>
              <a:t>in parallel</a:t>
            </a:r>
            <a:endParaRPr lang="en-US" sz="1100" dirty="0"/>
          </a:p>
        </p:txBody>
      </p:sp>
      <p:sp>
        <p:nvSpPr>
          <p:cNvPr id="56" name="Shape 56"/>
          <p:cNvSpPr/>
          <p:nvPr/>
        </p:nvSpPr>
        <p:spPr>
          <a:xfrm>
            <a:off x="457200" y="5715000"/>
            <a:ext cx="11274552" cy="502920"/>
          </a:xfrm>
          <a:prstGeom prst="rect">
            <a:avLst/>
          </a:prstGeom>
          <a:solidFill>
            <a:srgbClr val="FCE8E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57" name="Shape 57"/>
          <p:cNvSpPr/>
          <p:nvPr/>
        </p:nvSpPr>
        <p:spPr>
          <a:xfrm>
            <a:off x="457200" y="5715000"/>
            <a:ext cx="64008" cy="50292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58" name="Text 58"/>
          <p:cNvSpPr txBox="1"/>
          <p:nvPr/>
        </p:nvSpPr>
        <p:spPr>
          <a:xfrm>
            <a:off x="685800" y="571500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E30613"/>
                </a:solidFill>
                <a:latin typeface="Arial"/>
                <a:cs typeface="Arial"/>
              </a:rPr>
              <a:t>Then  </a:t>
            </a:r>
            <a:r>
              <a:rPr lang="en-US" sz="1300" dirty="0">
                <a:solidFill>
                  <a:srgbClr val="1F1F1F"/>
                </a:solidFill>
                <a:latin typeface="Arial"/>
                <a:cs typeface="Arial"/>
              </a:rPr>
              <a:t>task 12 sends the reply into the thread's group; task 13 names the thread on its first reply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57200" y="301752"/>
            <a:ext cx="100584" cy="100584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237744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30613"/>
                </a:solidFill>
                <a:latin typeface="Arial"/>
                <a:cs typeface="Arial"/>
              </a:rPr>
              <a:t>ARCHITECTURE · TENCENT INTEGRATION</a:t>
            </a:r>
            <a:endParaRPr lang="en-US" sz="9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502920"/>
            <a:ext cx="1127455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2200" dirty="0">
                <a:solidFill>
                  <a:srgbClr val="1F1F1F"/>
                </a:solidFill>
                <a:latin typeface="Georgia"/>
                <a:cs typeface="Georgia"/>
              </a:rPr>
              <a:t>The Router reads the thread's chat history from Tencent, as context for the LLM models</a:t>
            </a:r>
            <a:endParaRPr lang="en-US" sz="2200" dirty="0"/>
          </a:p>
        </p:txBody>
      </p:sp>
      <p:cxnSp>
        <p:nvCxnSpPr>
          <p:cNvPr id="5" name="Connector 5"/>
          <p:cNvCxnSpPr/>
          <p:nvPr/>
        </p:nvCxnSpPr>
        <p:spPr>
          <a:xfrm>
            <a:off x="457200" y="137160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cxnSp>
      <p:sp>
        <p:nvSpPr>
          <p:cNvPr id="6" name="Text 6"/>
          <p:cNvSpPr txBox="1"/>
          <p:nvPr/>
        </p:nvSpPr>
        <p:spPr>
          <a:xfrm>
            <a:off x="457200" y="6446520"/>
            <a:ext cx="10332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6E6E6E"/>
                </a:solidFill>
                <a:latin typeface="Arial"/>
                <a:cs typeface="Arial"/>
              </a:rPr>
              <a:t>Source: TANYA AI workflow (localhost:5175) · General Workflow, step 2, task 3; response abridged (IsPlaceMsg, MsgPriority, MsgRandom, MsgTimeStamp, CloudCustomData left out)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11000232" y="64465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Aft>
                <a:spcPts val="300"/>
              </a:spcAft>
              <a:buNone/>
            </a:pPr>
            <a:r>
              <a:rPr lang="en-US" sz="900" dirty="0">
                <a:solidFill>
                  <a:srgbClr val="6E6E6E"/>
                </a:solidFill>
                <a:latin typeface="Arial"/>
                <a:cs typeface="Arial"/>
              </a:rPr>
              <a:t>7</a:t>
            </a:r>
            <a:endParaRPr lang="en-US" sz="900" dirty="0"/>
          </a:p>
        </p:txBody>
      </p:sp>
      <p:sp>
        <p:nvSpPr>
          <p:cNvPr id="8" name="Text 8"/>
          <p:cNvSpPr txBox="1"/>
          <p:nvPr/>
        </p:nvSpPr>
        <p:spPr>
          <a:xfrm>
            <a:off x="457200" y="1554480"/>
            <a:ext cx="1127455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Arial"/>
                <a:cs typeface="Arial"/>
              </a:rPr>
              <a:t>Router → Tencent  ·  read this thread's conversation</a:t>
            </a:r>
            <a:endParaRPr lang="en-US" sz="1200" dirty="0"/>
          </a:p>
        </p:txBody>
      </p:sp>
      <p:cxnSp>
        <p:nvCxnSpPr>
          <p:cNvPr id="9" name="Connector 9"/>
          <p:cNvCxnSpPr/>
          <p:nvPr/>
        </p:nvCxnSpPr>
        <p:spPr>
          <a:xfrm>
            <a:off x="457200" y="1837944"/>
            <a:ext cx="11274552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cxnSp>
      <p:sp>
        <p:nvSpPr>
          <p:cNvPr id="10" name="Text 10"/>
          <p:cNvSpPr txBox="1"/>
          <p:nvPr/>
        </p:nvSpPr>
        <p:spPr>
          <a:xfrm>
            <a:off x="457200" y="1901952"/>
            <a:ext cx="1127455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30613"/>
                </a:solidFill>
                <a:latin typeface="Courier New"/>
                <a:cs typeface="Courier New"/>
              </a:rPr>
              <a:t>POST {TANYA_TENCENT_BASE_URL}/v4/group_open_http_svc/group_msg_get_simple</a:t>
            </a:r>
            <a:endParaRPr lang="en-US" sz="1300" dirty="0"/>
          </a:p>
        </p:txBody>
      </p:sp>
      <p:sp>
        <p:nvSpPr>
          <p:cNvPr id="11" name="Text 11"/>
          <p:cNvSpPr txBox="1"/>
          <p:nvPr/>
        </p:nvSpPr>
        <p:spPr>
          <a:xfrm>
            <a:off x="457200" y="2194560"/>
            <a:ext cx="1127455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6E6E6E"/>
                </a:solidFill>
                <a:latin typeface="Courier New"/>
                <a:cs typeface="Courier New"/>
              </a:rPr>
              <a:t>?sdkappid={SDKAppID}&amp;identifier=administrator&amp;usersig={UserSig}&amp;random={uint32}&amp;contenttype=json</a:t>
            </a:r>
            <a:endParaRPr lang="en-US" sz="900" dirty="0"/>
          </a:p>
        </p:txBody>
      </p:sp>
      <p:sp>
        <p:nvSpPr>
          <p:cNvPr id="12" name="Shape 12"/>
          <p:cNvSpPr/>
          <p:nvPr/>
        </p:nvSpPr>
        <p:spPr>
          <a:xfrm>
            <a:off x="457200" y="2468880"/>
            <a:ext cx="6766560" cy="30632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46304" tIns="109728" rIns="109728" bIns="91440" rtlCol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850" dirty="0">
                <a:solidFill>
                  <a:srgbClr val="3C3C3C"/>
                </a:solidFill>
                <a:latin typeface="Courier New"/>
                <a:cs typeface="Courier New"/>
              </a:rPr>
              <a:t>{</a:t>
            </a:r>
            <a:endParaRPr lang="en-US" sz="850" dirty="0"/>
          </a:p>
          <a:p>
            <a:pPr marL="0" indent="0">
              <a:spcAft>
                <a:spcPts val="0"/>
              </a:spcAft>
              <a:buNone/>
            </a:pPr>
            <a:r>
              <a:rPr lang="en-US" sz="850" dirty="0">
                <a:solidFill>
                  <a:srgbClr val="3C3C3C"/>
                </a:solidFill>
                <a:latin typeface="Courier New"/>
                <a:cs typeface="Courier New"/>
              </a:rPr>
              <a:t>  "ActionStatus": "OK", "ErrorCode": 0, "ErrorInfo": "",</a:t>
            </a:r>
            <a:endParaRPr lang="en-US" sz="850" dirty="0"/>
          </a:p>
          <a:p>
            <a:pPr marL="0" indent="0">
              <a:spcAft>
                <a:spcPts val="0"/>
              </a:spcAft>
              <a:buNone/>
            </a:pPr>
            <a:r>
              <a:rPr lang="en-US" sz="850" dirty="0">
                <a:solidFill>
                  <a:srgbClr val="3C3C3C"/>
                </a:solidFill>
                <a:latin typeface="Courier New"/>
                <a:cs typeface="Courier New"/>
              </a:rPr>
              <a:t>  "GroupId": "t1790749600a1b2c3d4e5f6", "IsFinished": 1,</a:t>
            </a:r>
            <a:endParaRPr lang="en-US" sz="850" dirty="0"/>
          </a:p>
          <a:p>
            <a:pPr marL="0" indent="0">
              <a:spcAft>
                <a:spcPts val="0"/>
              </a:spcAft>
              <a:buNone/>
            </a:pPr>
            <a:r>
              <a:rPr lang="en-US" sz="850" dirty="0">
                <a:solidFill>
                  <a:srgbClr val="3C3C3C"/>
                </a:solidFill>
                <a:latin typeface="Courier New"/>
                <a:cs typeface="Courier New"/>
              </a:rPr>
              <a:t>  "RspMsgList": [</a:t>
            </a:r>
            <a:endParaRPr lang="en-US" sz="850" dirty="0"/>
          </a:p>
          <a:p>
            <a:pPr marL="0" indent="0">
              <a:spcAft>
                <a:spcPts val="0"/>
              </a:spcAft>
              <a:buNone/>
            </a:pPr>
            <a:r>
              <a:rPr lang="en-US" sz="850" dirty="0">
                <a:solidFill>
                  <a:srgbClr val="3C3C3C"/>
                </a:solidFill>
                <a:latin typeface="Courier New"/>
                <a:cs typeface="Courier New"/>
              </a:rPr>
              <a:t>    { "From_Account": "tanya_ai", "MsgSeq": 4, "MsgBody": [{ "MsgType": "TIMTextElem",</a:t>
            </a:r>
            <a:endParaRPr lang="en-US" sz="850" dirty="0"/>
          </a:p>
          <a:p>
            <a:pPr marL="0" indent="0">
              <a:spcAft>
                <a:spcPts val="0"/>
              </a:spcAft>
              <a:buNone/>
            </a:pPr>
            <a:r>
              <a:rPr lang="en-US" sz="850" dirty="0">
                <a:solidFill>
                  <a:srgbClr val="3C3C3C"/>
                </a:solidFill>
                <a:latin typeface="Courier New"/>
                <a:cs typeface="Courier New"/>
              </a:rPr>
              <a:t>      "MsgContent": { "Text": "Aku sambungkan ke live agent ya, mereka sudah</a:t>
            </a:r>
            <a:endParaRPr lang="en-US" sz="850" dirty="0"/>
          </a:p>
          <a:p>
            <a:pPr marL="0" indent="0">
              <a:spcAft>
                <a:spcPts val="0"/>
              </a:spcAft>
              <a:buNone/>
            </a:pPr>
            <a:r>
              <a:rPr lang="en-US" sz="850" dirty="0">
                <a:solidFill>
                  <a:srgbClr val="3C3C3C"/>
                </a:solidFill>
                <a:latin typeface="Courier New"/>
                <a:cs typeface="Courier New"/>
              </a:rPr>
              <a:t>        menerima percakapan ini." } }] },</a:t>
            </a:r>
            <a:endParaRPr lang="en-US" sz="850" dirty="0"/>
          </a:p>
          <a:p>
            <a:pPr marL="0" indent="0">
              <a:spcAft>
                <a:spcPts val="0"/>
              </a:spcAft>
              <a:buNone/>
            </a:pPr>
            <a:r>
              <a:rPr lang="en-US" sz="850" dirty="0">
                <a:solidFill>
                  <a:srgbClr val="3C3C3C"/>
                </a:solidFill>
                <a:latin typeface="Courier New"/>
                <a:cs typeface="Courier New"/>
              </a:rPr>
              <a:t>    { "From_Account": "budi", "MsgSeq": 3, "MsgBody": [{ "MsgType": "TIMTextElem",</a:t>
            </a:r>
            <a:endParaRPr lang="en-US" sz="850" dirty="0"/>
          </a:p>
          <a:p>
            <a:pPr marL="0" indent="0">
              <a:spcAft>
                <a:spcPts val="0"/>
              </a:spcAft>
              <a:buNone/>
            </a:pPr>
            <a:r>
              <a:rPr lang="en-US" sz="850" dirty="0">
                <a:solidFill>
                  <a:srgbClr val="3C3C3C"/>
                </a:solidFill>
                <a:latin typeface="Courier New"/>
                <a:cs typeface="Courier New"/>
              </a:rPr>
              <a:t>      "MsgContent": { "Text": "iya, mau ngobrol sama orang" } }] },</a:t>
            </a:r>
            <a:endParaRPr lang="en-US" sz="850" dirty="0"/>
          </a:p>
          <a:p>
            <a:pPr marL="0" indent="0">
              <a:spcAft>
                <a:spcPts val="0"/>
              </a:spcAft>
              <a:buNone/>
            </a:pPr>
            <a:r>
              <a:rPr lang="en-US" sz="850" dirty="0">
                <a:solidFill>
                  <a:srgbClr val="3C3C3C"/>
                </a:solidFill>
                <a:latin typeface="Courier New"/>
                <a:cs typeface="Courier New"/>
              </a:rPr>
              <a:t>    { "From_Account": "tanya_ai", "MsgSeq": 2, "MsgBody": [{ "MsgType": "TIMTextElem",</a:t>
            </a:r>
            <a:endParaRPr lang="en-US" sz="850" dirty="0"/>
          </a:p>
          <a:p>
            <a:pPr marL="0" indent="0">
              <a:spcAft>
                <a:spcPts val="0"/>
              </a:spcAft>
              <a:buNone/>
            </a:pPr>
            <a:r>
              <a:rPr lang="en-US" sz="850" dirty="0">
                <a:solidFill>
                  <a:srgbClr val="3C3C3C"/>
                </a:solidFill>
                <a:latin typeface="Courier New"/>
                <a:cs typeface="Courier New"/>
              </a:rPr>
              <a:t>      "MsgContent": { "Text": "Wah, itu perlu dicek. Mau aku sambungkan</a:t>
            </a:r>
            <a:endParaRPr lang="en-US" sz="850" dirty="0"/>
          </a:p>
          <a:p>
            <a:pPr marL="0" indent="0">
              <a:spcAft>
                <a:spcPts val="0"/>
              </a:spcAft>
              <a:buNone/>
            </a:pPr>
            <a:r>
              <a:rPr lang="en-US" sz="850" dirty="0">
                <a:solidFill>
                  <a:srgbClr val="3C3C3C"/>
                </a:solidFill>
                <a:latin typeface="Courier New"/>
                <a:cs typeface="Courier New"/>
              </a:rPr>
              <a:t>        ke live agent?" } }] },</a:t>
            </a:r>
            <a:endParaRPr lang="en-US" sz="850" dirty="0"/>
          </a:p>
          <a:p>
            <a:pPr marL="0" indent="0">
              <a:spcAft>
                <a:spcPts val="0"/>
              </a:spcAft>
              <a:buNone/>
            </a:pPr>
            <a:r>
              <a:rPr lang="en-US" sz="850" dirty="0">
                <a:solidFill>
                  <a:srgbClr val="3C3C3C"/>
                </a:solidFill>
                <a:latin typeface="Courier New"/>
                <a:cs typeface="Courier New"/>
              </a:rPr>
              <a:t>    { "From_Account": "budi", "MsgSeq": 1, "MsgBody": [{ "MsgType": "TIMTextElem",</a:t>
            </a:r>
            <a:endParaRPr lang="en-US" sz="850" dirty="0"/>
          </a:p>
          <a:p>
            <a:pPr marL="0" indent="0">
              <a:spcAft>
                <a:spcPts val="0"/>
              </a:spcAft>
              <a:buNone/>
            </a:pPr>
            <a:r>
              <a:rPr lang="en-US" sz="850" dirty="0">
                <a:solidFill>
                  <a:srgbClr val="3C3C3C"/>
                </a:solidFill>
                <a:latin typeface="Courier New"/>
                <a:cs typeface="Courier New"/>
              </a:rPr>
              <a:t>      "MsgContent": { "Text": "kartu kreditku ketagih dua kali" } }] }</a:t>
            </a:r>
            <a:endParaRPr lang="en-US" sz="850" dirty="0"/>
          </a:p>
          <a:p>
            <a:pPr marL="0" indent="0">
              <a:spcAft>
                <a:spcPts val="0"/>
              </a:spcAft>
              <a:buNone/>
            </a:pPr>
            <a:r>
              <a:rPr lang="en-US" sz="850" dirty="0">
                <a:solidFill>
                  <a:srgbClr val="3C3C3C"/>
                </a:solidFill>
                <a:latin typeface="Courier New"/>
                <a:cs typeface="Courier New"/>
              </a:rPr>
              <a:t>  ]</a:t>
            </a:r>
            <a:endParaRPr lang="en-US" sz="850" dirty="0"/>
          </a:p>
          <a:p>
            <a:pPr marL="0" indent="0">
              <a:spcAft>
                <a:spcPts val="0"/>
              </a:spcAft>
              <a:buNone/>
            </a:pPr>
            <a:r>
              <a:rPr lang="en-US" sz="850" dirty="0">
                <a:solidFill>
                  <a:srgbClr val="3C3C3C"/>
                </a:solidFill>
                <a:latin typeface="Courier New"/>
                <a:cs typeface="Courier New"/>
              </a:rPr>
              <a:t>}</a:t>
            </a:r>
            <a:endParaRPr lang="en-US" sz="850" dirty="0"/>
          </a:p>
        </p:txBody>
      </p:sp>
      <p:sp>
        <p:nvSpPr>
          <p:cNvPr id="13" name="Text 13"/>
          <p:cNvSpPr txBox="1"/>
          <p:nvPr/>
        </p:nvSpPr>
        <p:spPr>
          <a:xfrm>
            <a:off x="7498080" y="2468880"/>
            <a:ext cx="423367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Arial"/>
                <a:cs typeface="Arial"/>
              </a:rPr>
              <a:t>Request</a:t>
            </a:r>
            <a:endParaRPr lang="en-US" sz="1200" dirty="0"/>
          </a:p>
        </p:txBody>
      </p:sp>
      <p:cxnSp>
        <p:nvCxnSpPr>
          <p:cNvPr id="14" name="Connector 14"/>
          <p:cNvCxnSpPr/>
          <p:nvPr/>
        </p:nvCxnSpPr>
        <p:spPr>
          <a:xfrm>
            <a:off x="7498080" y="2752344"/>
            <a:ext cx="4233672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cxnSp>
      <p:sp>
        <p:nvSpPr>
          <p:cNvPr id="15" name="Text 15"/>
          <p:cNvSpPr txBox="1"/>
          <p:nvPr/>
        </p:nvSpPr>
        <p:spPr>
          <a:xfrm>
            <a:off x="7498080" y="2852928"/>
            <a:ext cx="423367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ourier New"/>
                <a:cs typeface="Courier New"/>
              </a:rPr>
              <a:t>{ "GroupId": "t1790749600a1b2c3d4e5f6", "ReqMsgNumber": 20 }</a:t>
            </a:r>
            <a:endParaRPr lang="en-US" sz="1000" dirty="0"/>
          </a:p>
        </p:txBody>
      </p:sp>
      <p:sp>
        <p:nvSpPr>
          <p:cNvPr id="16" name="Text 16"/>
          <p:cNvSpPr txBox="1"/>
          <p:nvPr/>
        </p:nvSpPr>
        <p:spPr>
          <a:xfrm>
            <a:off x="7498080" y="3429000"/>
            <a:ext cx="423367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Arial"/>
                <a:cs typeface="Arial"/>
              </a:rPr>
              <a:t>Key fields</a:t>
            </a:r>
            <a:endParaRPr lang="en-US" sz="1200" dirty="0"/>
          </a:p>
        </p:txBody>
      </p:sp>
      <p:cxnSp>
        <p:nvCxnSpPr>
          <p:cNvPr id="17" name="Connector 17"/>
          <p:cNvCxnSpPr/>
          <p:nvPr/>
        </p:nvCxnSpPr>
        <p:spPr>
          <a:xfrm>
            <a:off x="7498080" y="3712464"/>
            <a:ext cx="4233672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cxnSp>
      <p:sp>
        <p:nvSpPr>
          <p:cNvPr id="18" name="Text 18"/>
          <p:cNvSpPr txBox="1"/>
          <p:nvPr/>
        </p:nvSpPr>
        <p:spPr>
          <a:xfrm>
            <a:off x="7498080" y="3813048"/>
            <a:ext cx="4233672" cy="1719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1F1F"/>
                </a:solidFill>
                <a:latin typeface="Courier New"/>
                <a:cs typeface="Courier New"/>
              </a:rPr>
              <a:t>ReqMsgNumber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C3C3C"/>
                </a:solidFill>
                <a:latin typeface="Arial"/>
                <a:cs typeface="Arial"/>
              </a:rPr>
              <a:t>20 a page, newest first</a:t>
            </a:r>
            <a:endParaRPr lang="en-US" sz="11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1F1F"/>
                </a:solidFill>
                <a:latin typeface="Courier New"/>
                <a:cs typeface="Courier New"/>
              </a:rPr>
              <a:t>TANYA_HISTORY_MESSAGES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C3C3C"/>
                </a:solidFill>
                <a:latin typeface="Arial"/>
                <a:cs typeface="Arial"/>
              </a:rPr>
              <a:t>how many recent messages the Router keeps, starting at a customer message</a:t>
            </a:r>
            <a:endParaRPr lang="en-US" sz="11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1F1F"/>
                </a:solidFill>
                <a:latin typeface="Courier New"/>
                <a:cs typeface="Courier New"/>
              </a:rPr>
              <a:t>RspMsgList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C3C3C"/>
                </a:solidFill>
                <a:latin typeface="Arial"/>
                <a:cs typeface="Arial"/>
              </a:rPr>
              <a:t>the turn's chat history: context for the LLM models</a:t>
            </a:r>
            <a:endParaRPr lang="en-US" sz="11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1F1F"/>
                </a:solidFill>
                <a:latin typeface="Courier New"/>
                <a:cs typeface="Courier New"/>
              </a:rPr>
              <a:t>GroupId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C3C3C"/>
                </a:solidFill>
                <a:latin typeface="Arial"/>
                <a:cs typeface="Arial"/>
              </a:rPr>
              <a:t>nothing is filtered: every message in the group is this thread's</a:t>
            </a:r>
            <a:endParaRPr lang="en-US" sz="1150" dirty="0"/>
          </a:p>
        </p:txBody>
      </p:sp>
      <p:sp>
        <p:nvSpPr>
          <p:cNvPr id="19" name="Shape 19"/>
          <p:cNvSpPr/>
          <p:nvPr/>
        </p:nvSpPr>
        <p:spPr>
          <a:xfrm>
            <a:off x="457200" y="5715000"/>
            <a:ext cx="11274552" cy="502920"/>
          </a:xfrm>
          <a:prstGeom prst="rect">
            <a:avLst/>
          </a:prstGeom>
          <a:solidFill>
            <a:srgbClr val="FCE8E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20" name="Shape 20"/>
          <p:cNvSpPr/>
          <p:nvPr/>
        </p:nvSpPr>
        <p:spPr>
          <a:xfrm>
            <a:off x="457200" y="5715000"/>
            <a:ext cx="64008" cy="50292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685800" y="571500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E30613"/>
                </a:solidFill>
                <a:latin typeface="Arial"/>
                <a:cs typeface="Arial"/>
              </a:rPr>
              <a:t>So what  </a:t>
            </a:r>
            <a:r>
              <a:rPr lang="en-US" sz="1300" dirty="0">
                <a:solidFill>
                  <a:srgbClr val="1F1F1F"/>
                </a:solidFill>
                <a:latin typeface="Arial"/>
                <a:cs typeface="Arial"/>
              </a:rPr>
              <a:t>the models answer with the conversation so far; Tencent is the only store of the chat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57200" y="301752"/>
            <a:ext cx="100584" cy="100584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237744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30613"/>
                </a:solidFill>
                <a:latin typeface="Arial"/>
                <a:cs typeface="Arial"/>
              </a:rPr>
              <a:t>EXECUTIVE SUMMARY</a:t>
            </a:r>
            <a:endParaRPr lang="en-US" sz="9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502920"/>
            <a:ext cx="1127455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2200" dirty="0">
                <a:solidFill>
                  <a:srgbClr val="1F1F1F"/>
                </a:solidFill>
                <a:latin typeface="Georgia"/>
                <a:cs typeface="Georgia"/>
              </a:rPr>
              <a:t>TANYA AI answers customers safely, from grounded facts, on two active sites</a:t>
            </a:r>
            <a:endParaRPr lang="en-US" sz="2200" dirty="0"/>
          </a:p>
        </p:txBody>
      </p:sp>
      <p:cxnSp>
        <p:nvCxnSpPr>
          <p:cNvPr id="5" name="Connector 5"/>
          <p:cNvCxnSpPr/>
          <p:nvPr/>
        </p:nvCxnSpPr>
        <p:spPr>
          <a:xfrm>
            <a:off x="457200" y="137160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cxnSp>
      <p:sp>
        <p:nvSpPr>
          <p:cNvPr id="6" name="Text 6"/>
          <p:cNvSpPr txBox="1"/>
          <p:nvPr/>
        </p:nvSpPr>
        <p:spPr>
          <a:xfrm>
            <a:off x="457200" y="6446520"/>
            <a:ext cx="10332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6E6E6E"/>
                </a:solidFill>
                <a:latin typeface="Arial"/>
                <a:cs typeface="Arial"/>
              </a:rPr>
              <a:t>Source: TANYA AI architecture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11000232" y="64465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Aft>
                <a:spcPts val="300"/>
              </a:spcAft>
              <a:buNone/>
            </a:pPr>
            <a:r>
              <a:rPr lang="en-US" sz="900" dirty="0">
                <a:solidFill>
                  <a:srgbClr val="6E6E6E"/>
                </a:solidFill>
                <a:latin typeface="Arial"/>
                <a:cs typeface="Arial"/>
              </a:rPr>
              <a:t>2</a:t>
            </a:r>
            <a:endParaRPr lang="en-US" sz="900" dirty="0"/>
          </a:p>
        </p:txBody>
      </p:sp>
      <p:sp>
        <p:nvSpPr>
          <p:cNvPr id="8" name="Shape 8"/>
          <p:cNvSpPr/>
          <p:nvPr/>
        </p:nvSpPr>
        <p:spPr>
          <a:xfrm>
            <a:off x="457200" y="1943100"/>
            <a:ext cx="365760" cy="365760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US" sz="1200" dirty="0"/>
          </a:p>
        </p:txBody>
      </p:sp>
      <p:sp>
        <p:nvSpPr>
          <p:cNvPr id="9" name="Text 9"/>
          <p:cNvSpPr txBox="1"/>
          <p:nvPr/>
        </p:nvSpPr>
        <p:spPr>
          <a:xfrm>
            <a:off x="1051560" y="1691640"/>
            <a:ext cx="32918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1F1F"/>
                </a:solidFill>
                <a:latin typeface="Arial"/>
                <a:cs typeface="Arial"/>
              </a:rPr>
              <a:t>Chat in the app</a:t>
            </a:r>
            <a:endParaRPr lang="en-US" sz="1800" dirty="0"/>
          </a:p>
        </p:txBody>
      </p:sp>
      <p:sp>
        <p:nvSpPr>
          <p:cNvPr id="10" name="Text 10"/>
          <p:cNvSpPr txBox="1"/>
          <p:nvPr/>
        </p:nvSpPr>
        <p:spPr>
          <a:xfrm>
            <a:off x="4480560" y="1691640"/>
            <a:ext cx="7251192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3C3C3C"/>
                </a:solidFill>
                <a:latin typeface="Arial"/>
                <a:cs typeface="Arial"/>
              </a:rPr>
              <a:t>customers ask TANYA AI through Tencent Chat</a:t>
            </a:r>
            <a:endParaRPr lang="en-US" sz="1600" dirty="0"/>
          </a:p>
        </p:txBody>
      </p:sp>
      <p:cxnSp>
        <p:nvCxnSpPr>
          <p:cNvPr id="11" name="Connector 11"/>
          <p:cNvCxnSpPr/>
          <p:nvPr/>
        </p:nvCxnSpPr>
        <p:spPr>
          <a:xfrm>
            <a:off x="457200" y="25603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cxnSp>
      <p:sp>
        <p:nvSpPr>
          <p:cNvPr id="12" name="Shape 12"/>
          <p:cNvSpPr/>
          <p:nvPr/>
        </p:nvSpPr>
        <p:spPr>
          <a:xfrm>
            <a:off x="457200" y="2811780"/>
            <a:ext cx="365760" cy="365760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US" sz="1200" dirty="0"/>
          </a:p>
        </p:txBody>
      </p:sp>
      <p:sp>
        <p:nvSpPr>
          <p:cNvPr id="13" name="Text 13"/>
          <p:cNvSpPr txBox="1"/>
          <p:nvPr/>
        </p:nvSpPr>
        <p:spPr>
          <a:xfrm>
            <a:off x="1051560" y="2560320"/>
            <a:ext cx="32918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1F1F"/>
                </a:solidFill>
                <a:latin typeface="Arial"/>
                <a:cs typeface="Arial"/>
              </a:rPr>
              <a:t>Safe first</a:t>
            </a:r>
            <a:endParaRPr lang="en-US" sz="1800" dirty="0"/>
          </a:p>
        </p:txBody>
      </p:sp>
      <p:sp>
        <p:nvSpPr>
          <p:cNvPr id="14" name="Text 14"/>
          <p:cNvSpPr txBox="1"/>
          <p:nvPr/>
        </p:nvSpPr>
        <p:spPr>
          <a:xfrm>
            <a:off x="4480560" y="2560320"/>
            <a:ext cx="7251192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3C3C3C"/>
                </a:solidFill>
                <a:latin typeface="Arial"/>
                <a:cs typeface="Arial"/>
              </a:rPr>
              <a:t>two guard models screen every message</a:t>
            </a:r>
            <a:endParaRPr lang="en-US" sz="1600" dirty="0"/>
          </a:p>
        </p:txBody>
      </p:sp>
      <p:cxnSp>
        <p:nvCxnSpPr>
          <p:cNvPr id="15" name="Connector 15"/>
          <p:cNvCxnSpPr/>
          <p:nvPr/>
        </p:nvCxnSpPr>
        <p:spPr>
          <a:xfrm>
            <a:off x="457200" y="342900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cxnSp>
      <p:sp>
        <p:nvSpPr>
          <p:cNvPr id="16" name="Shape 16"/>
          <p:cNvSpPr/>
          <p:nvPr/>
        </p:nvSpPr>
        <p:spPr>
          <a:xfrm>
            <a:off x="457200" y="3680460"/>
            <a:ext cx="365760" cy="365760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US" sz="1200" dirty="0"/>
          </a:p>
        </p:txBody>
      </p:sp>
      <p:sp>
        <p:nvSpPr>
          <p:cNvPr id="17" name="Text 17"/>
          <p:cNvSpPr txBox="1"/>
          <p:nvPr/>
        </p:nvSpPr>
        <p:spPr>
          <a:xfrm>
            <a:off x="1051560" y="3429000"/>
            <a:ext cx="32918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1F1F"/>
                </a:solidFill>
                <a:latin typeface="Arial"/>
                <a:cs typeface="Arial"/>
              </a:rPr>
              <a:t>Smart routing</a:t>
            </a:r>
            <a:endParaRPr lang="en-US" sz="1800" dirty="0"/>
          </a:p>
        </p:txBody>
      </p:sp>
      <p:sp>
        <p:nvSpPr>
          <p:cNvPr id="18" name="Text 18"/>
          <p:cNvSpPr txBox="1"/>
          <p:nvPr/>
        </p:nvSpPr>
        <p:spPr>
          <a:xfrm>
            <a:off x="4480560" y="3429000"/>
            <a:ext cx="7251192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3C3C3C"/>
                </a:solidFill>
                <a:latin typeface="Arial"/>
                <a:cs typeface="Arial"/>
              </a:rPr>
              <a:t>the Router LLM works out what the customer needs</a:t>
            </a:r>
            <a:endParaRPr lang="en-US" sz="1600" dirty="0"/>
          </a:p>
        </p:txBody>
      </p:sp>
      <p:cxnSp>
        <p:nvCxnSpPr>
          <p:cNvPr id="19" name="Connector 19"/>
          <p:cNvCxnSpPr/>
          <p:nvPr/>
        </p:nvCxnSpPr>
        <p:spPr>
          <a:xfrm>
            <a:off x="457200" y="429768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cxnSp>
      <p:sp>
        <p:nvSpPr>
          <p:cNvPr id="20" name="Shape 20"/>
          <p:cNvSpPr/>
          <p:nvPr/>
        </p:nvSpPr>
        <p:spPr>
          <a:xfrm>
            <a:off x="457200" y="4549140"/>
            <a:ext cx="365760" cy="365760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n-US" sz="1200" dirty="0"/>
          </a:p>
        </p:txBody>
      </p:sp>
      <p:sp>
        <p:nvSpPr>
          <p:cNvPr id="21" name="Text 21"/>
          <p:cNvSpPr txBox="1"/>
          <p:nvPr/>
        </p:nvSpPr>
        <p:spPr>
          <a:xfrm>
            <a:off x="1051560" y="4297680"/>
            <a:ext cx="32918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1F1F"/>
                </a:solidFill>
                <a:latin typeface="Arial"/>
                <a:cs typeface="Arial"/>
              </a:rPr>
              <a:t>Grounded answers</a:t>
            </a:r>
            <a:endParaRPr lang="en-US" sz="1800" dirty="0"/>
          </a:p>
        </p:txBody>
      </p:sp>
      <p:sp>
        <p:nvSpPr>
          <p:cNvPr id="22" name="Text 22"/>
          <p:cNvSpPr txBox="1"/>
          <p:nvPr/>
        </p:nvSpPr>
        <p:spPr>
          <a:xfrm>
            <a:off x="4480560" y="4297680"/>
            <a:ext cx="7251192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3C3C3C"/>
                </a:solidFill>
                <a:latin typeface="Arial"/>
                <a:cs typeface="Arial"/>
              </a:rPr>
              <a:t>replies use only facts from RM Ally and BE OM</a:t>
            </a:r>
            <a:endParaRPr lang="en-US" sz="1600" dirty="0"/>
          </a:p>
        </p:txBody>
      </p:sp>
      <p:cxnSp>
        <p:nvCxnSpPr>
          <p:cNvPr id="23" name="Connector 23"/>
          <p:cNvCxnSpPr/>
          <p:nvPr/>
        </p:nvCxnSpPr>
        <p:spPr>
          <a:xfrm>
            <a:off x="457200" y="516636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cxnSp>
      <p:sp>
        <p:nvSpPr>
          <p:cNvPr id="24" name="Shape 24"/>
          <p:cNvSpPr/>
          <p:nvPr/>
        </p:nvSpPr>
        <p:spPr>
          <a:xfrm>
            <a:off x="457200" y="5417820"/>
            <a:ext cx="365760" cy="365760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en-US" sz="1200" dirty="0"/>
          </a:p>
        </p:txBody>
      </p:sp>
      <p:sp>
        <p:nvSpPr>
          <p:cNvPr id="25" name="Text 25"/>
          <p:cNvSpPr txBox="1"/>
          <p:nvPr/>
        </p:nvSpPr>
        <p:spPr>
          <a:xfrm>
            <a:off x="1051560" y="5166360"/>
            <a:ext cx="32918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1F1F"/>
                </a:solidFill>
                <a:latin typeface="Arial"/>
                <a:cs typeface="Arial"/>
              </a:rPr>
              <a:t>Always watched</a:t>
            </a:r>
            <a:endParaRPr lang="en-US" sz="1800" dirty="0"/>
          </a:p>
        </p:txBody>
      </p:sp>
      <p:sp>
        <p:nvSpPr>
          <p:cNvPr id="26" name="Text 26"/>
          <p:cNvSpPr txBox="1"/>
          <p:nvPr/>
        </p:nvSpPr>
        <p:spPr>
          <a:xfrm>
            <a:off x="4480560" y="5166360"/>
            <a:ext cx="7251192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3C3C3C"/>
                </a:solidFill>
                <a:latin typeface="Arial"/>
                <a:cs typeface="Arial"/>
              </a:rPr>
              <a:t>two active sites, monitored in Grafana with L1–L3 support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57200" y="301752"/>
            <a:ext cx="100584" cy="100584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237744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30613"/>
                </a:solidFill>
                <a:latin typeface="Arial"/>
                <a:cs typeface="Arial"/>
              </a:rPr>
              <a:t>REQUIREMENTS &amp; DEPENDENCIES</a:t>
            </a:r>
            <a:endParaRPr lang="en-US" sz="9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502920"/>
            <a:ext cx="1127455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2200" dirty="0">
                <a:solidFill>
                  <a:srgbClr val="1F1F1F"/>
                </a:solidFill>
                <a:latin typeface="Georgia"/>
                <a:cs typeface="Georgia"/>
              </a:rPr>
              <a:t>Three dependencies need to be settled with other teams</a:t>
            </a:r>
            <a:endParaRPr lang="en-US" sz="2200" dirty="0"/>
          </a:p>
        </p:txBody>
      </p:sp>
      <p:cxnSp>
        <p:nvCxnSpPr>
          <p:cNvPr id="5" name="Connector 5"/>
          <p:cNvCxnSpPr/>
          <p:nvPr/>
        </p:nvCxnSpPr>
        <p:spPr>
          <a:xfrm>
            <a:off x="457200" y="137160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cxnSp>
      <p:sp>
        <p:nvSpPr>
          <p:cNvPr id="6" name="Text 6"/>
          <p:cNvSpPr txBox="1"/>
          <p:nvPr/>
        </p:nvSpPr>
        <p:spPr>
          <a:xfrm>
            <a:off x="457200" y="6446520"/>
            <a:ext cx="10332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6E6E6E"/>
                </a:solidFill>
                <a:latin typeface="Arial"/>
                <a:cs typeface="Arial"/>
              </a:rPr>
              <a:t>Source: TANYA AI project team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11000232" y="64465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Aft>
                <a:spcPts val="300"/>
              </a:spcAft>
              <a:buNone/>
            </a:pPr>
            <a:r>
              <a:rPr lang="en-US" sz="900" dirty="0">
                <a:solidFill>
                  <a:srgbClr val="6E6E6E"/>
                </a:solidFill>
                <a:latin typeface="Arial"/>
                <a:cs typeface="Arial"/>
              </a:rPr>
              <a:t>14</a:t>
            </a:r>
            <a:endParaRPr lang="en-US" sz="900" dirty="0"/>
          </a:p>
        </p:txBody>
      </p:sp>
      <p:sp>
        <p:nvSpPr>
          <p:cNvPr id="8" name="Text 8"/>
          <p:cNvSpPr txBox="1"/>
          <p:nvPr/>
        </p:nvSpPr>
        <p:spPr>
          <a:xfrm>
            <a:off x="457200" y="15544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6E6E6E"/>
                </a:solidFill>
                <a:latin typeface="Arial"/>
                <a:cs typeface="Arial"/>
              </a:rPr>
              <a:t>#</a:t>
            </a:r>
            <a:endParaRPr lang="en-US" sz="1100" dirty="0"/>
          </a:p>
        </p:txBody>
      </p:sp>
      <p:sp>
        <p:nvSpPr>
          <p:cNvPr id="9" name="Text 9"/>
          <p:cNvSpPr txBox="1"/>
          <p:nvPr/>
        </p:nvSpPr>
        <p:spPr>
          <a:xfrm>
            <a:off x="1051560" y="15544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6E6E6E"/>
                </a:solidFill>
                <a:latin typeface="Arial"/>
                <a:cs typeface="Arial"/>
              </a:rPr>
              <a:t>WHAT IS NEEDED</a:t>
            </a:r>
            <a:endParaRPr lang="en-US" sz="1100" dirty="0"/>
          </a:p>
        </p:txBody>
      </p:sp>
      <p:sp>
        <p:nvSpPr>
          <p:cNvPr id="10" name="Text 10"/>
          <p:cNvSpPr txBox="1"/>
          <p:nvPr/>
        </p:nvSpPr>
        <p:spPr>
          <a:xfrm>
            <a:off x="4526280" y="155448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6E6E6E"/>
                </a:solidFill>
                <a:latin typeface="Arial"/>
                <a:cs typeface="Arial"/>
              </a:rPr>
              <a:t>DETAIL</a:t>
            </a:r>
            <a:endParaRPr lang="en-US" sz="1100" dirty="0"/>
          </a:p>
        </p:txBody>
      </p:sp>
      <p:sp>
        <p:nvSpPr>
          <p:cNvPr id="11" name="Text 11"/>
          <p:cNvSpPr txBox="1"/>
          <p:nvPr/>
        </p:nvSpPr>
        <p:spPr>
          <a:xfrm>
            <a:off x="8915400" y="1554480"/>
            <a:ext cx="281635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6E6E6E"/>
                </a:solidFill>
                <a:latin typeface="Arial"/>
                <a:cs typeface="Arial"/>
              </a:rPr>
              <a:t>WITH WHOM</a:t>
            </a:r>
            <a:endParaRPr lang="en-US" sz="1100" dirty="0"/>
          </a:p>
        </p:txBody>
      </p:sp>
      <p:cxnSp>
        <p:nvCxnSpPr>
          <p:cNvPr id="12" name="Connector 12"/>
          <p:cNvCxnSpPr/>
          <p:nvPr/>
        </p:nvCxnSpPr>
        <p:spPr>
          <a:xfrm>
            <a:off x="457200" y="1874520"/>
            <a:ext cx="11274552" cy="0"/>
          </a:xfrm>
          <a:prstGeom prst="line">
            <a:avLst/>
          </a:prstGeom>
          <a:noFill/>
          <a:ln w="15875">
            <a:solidFill>
              <a:srgbClr val="1F1F1F"/>
            </a:solidFill>
            <a:prstDash val="solid"/>
          </a:ln>
        </p:spPr>
      </p:cxnSp>
      <p:sp>
        <p:nvSpPr>
          <p:cNvPr id="13" name="Shape 13"/>
          <p:cNvSpPr/>
          <p:nvPr/>
        </p:nvSpPr>
        <p:spPr>
          <a:xfrm>
            <a:off x="457200" y="2336292"/>
            <a:ext cx="402336" cy="402336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US" sz="1200" dirty="0"/>
          </a:p>
        </p:txBody>
      </p:sp>
      <p:sp>
        <p:nvSpPr>
          <p:cNvPr id="14" name="Text 14"/>
          <p:cNvSpPr txBox="1"/>
          <p:nvPr/>
        </p:nvSpPr>
        <p:spPr>
          <a:xfrm>
            <a:off x="1051560" y="1965960"/>
            <a:ext cx="329184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1F1F"/>
                </a:solidFill>
                <a:latin typeface="Arial"/>
                <a:cs typeface="Arial"/>
              </a:rPr>
              <a:t>Network access to the OM API</a:t>
            </a:r>
            <a:endParaRPr lang="en-US" sz="1600" dirty="0"/>
          </a:p>
        </p:txBody>
      </p:sp>
      <p:sp>
        <p:nvSpPr>
          <p:cNvPr id="15" name="Text 15"/>
          <p:cNvSpPr txBox="1"/>
          <p:nvPr/>
        </p:nvSpPr>
        <p:spPr>
          <a:xfrm>
            <a:off x="4526280" y="1965960"/>
            <a:ext cx="420624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C3C3C"/>
                </a:solidFill>
                <a:latin typeface="Arial"/>
                <a:cs typeface="Arial"/>
              </a:rPr>
              <a:t>CML must open a network access request (NAR) to the OM API in SIT and UAT, so the Router can reach BE OM</a:t>
            </a:r>
            <a:endParaRPr lang="en-US" sz="1300" dirty="0"/>
          </a:p>
        </p:txBody>
      </p:sp>
      <p:sp>
        <p:nvSpPr>
          <p:cNvPr id="16" name="Shape 16"/>
          <p:cNvSpPr/>
          <p:nvPr/>
        </p:nvSpPr>
        <p:spPr>
          <a:xfrm>
            <a:off x="8915400" y="2167128"/>
            <a:ext cx="2816352" cy="740664"/>
          </a:xfrm>
          <a:prstGeom prst="rect">
            <a:avLst/>
          </a:prstGeom>
          <a:solidFill>
            <a:srgbClr val="FCE8E8"/>
          </a:solidFill>
          <a:ln>
            <a:noFill/>
          </a:ln>
        </p:spPr>
        <p:txBody>
          <a:bodyPr wrap="square" lIns="137160" tIns="45720" rIns="137160" bIns="45720" rtlCol="0" anchor="ctr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A1050E"/>
                </a:solidFill>
                <a:latin typeface="Arial"/>
                <a:cs typeface="Arial"/>
              </a:rPr>
              <a:t>To discuss with IT Security, DevOps and OM</a:t>
            </a:r>
            <a:endParaRPr lang="en-US" sz="1200" dirty="0"/>
          </a:p>
        </p:txBody>
      </p:sp>
      <p:cxnSp>
        <p:nvCxnSpPr>
          <p:cNvPr id="17" name="Connector 17"/>
          <p:cNvCxnSpPr/>
          <p:nvPr/>
        </p:nvCxnSpPr>
        <p:spPr>
          <a:xfrm>
            <a:off x="457200" y="310896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cxnSp>
      <p:sp>
        <p:nvSpPr>
          <p:cNvPr id="18" name="Shape 18"/>
          <p:cNvSpPr/>
          <p:nvPr/>
        </p:nvSpPr>
        <p:spPr>
          <a:xfrm>
            <a:off x="457200" y="3479292"/>
            <a:ext cx="402336" cy="402336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US" sz="1200" dirty="0"/>
          </a:p>
        </p:txBody>
      </p:sp>
      <p:sp>
        <p:nvSpPr>
          <p:cNvPr id="19" name="Text 19"/>
          <p:cNvSpPr txBox="1"/>
          <p:nvPr/>
        </p:nvSpPr>
        <p:spPr>
          <a:xfrm>
            <a:off x="1051560" y="3108960"/>
            <a:ext cx="329184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1F1F"/>
                </a:solidFill>
                <a:latin typeface="Arial"/>
                <a:cs typeface="Arial"/>
              </a:rPr>
              <a:t>Final API contract for the Router</a:t>
            </a:r>
            <a:endParaRPr lang="en-US" sz="1600" dirty="0"/>
          </a:p>
        </p:txBody>
      </p:sp>
      <p:sp>
        <p:nvSpPr>
          <p:cNvPr id="20" name="Text 20"/>
          <p:cNvSpPr txBox="1"/>
          <p:nvPr/>
        </p:nvSpPr>
        <p:spPr>
          <a:xfrm>
            <a:off x="4526280" y="3108960"/>
            <a:ext cx="420624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C3C3C"/>
                </a:solidFill>
                <a:latin typeface="Arial"/>
                <a:cs typeface="Arial"/>
              </a:rPr>
              <a:t>the Router's API contract, written from the final requirements</a:t>
            </a:r>
            <a:endParaRPr lang="en-US" sz="1300" dirty="0"/>
          </a:p>
        </p:txBody>
      </p:sp>
      <p:sp>
        <p:nvSpPr>
          <p:cNvPr id="21" name="Shape 21"/>
          <p:cNvSpPr/>
          <p:nvPr/>
        </p:nvSpPr>
        <p:spPr>
          <a:xfrm>
            <a:off x="8915400" y="3310128"/>
            <a:ext cx="2816352" cy="740664"/>
          </a:xfrm>
          <a:prstGeom prst="rect">
            <a:avLst/>
          </a:prstGeom>
          <a:solidFill>
            <a:srgbClr val="FCE8E8"/>
          </a:solidFill>
          <a:ln>
            <a:noFill/>
          </a:ln>
        </p:spPr>
        <p:txBody>
          <a:bodyPr wrap="square" lIns="137160" tIns="45720" rIns="137160" bIns="45720" rtlCol="0" anchor="ctr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A1050E"/>
                </a:solidFill>
                <a:latin typeface="Arial"/>
                <a:cs typeface="Arial"/>
              </a:rPr>
              <a:t>Depends on the final requirements</a:t>
            </a:r>
            <a:endParaRPr lang="en-US" sz="1200" dirty="0"/>
          </a:p>
        </p:txBody>
      </p:sp>
      <p:cxnSp>
        <p:nvCxnSpPr>
          <p:cNvPr id="22" name="Connector 22"/>
          <p:cNvCxnSpPr/>
          <p:nvPr/>
        </p:nvCxnSpPr>
        <p:spPr>
          <a:xfrm>
            <a:off x="457200" y="425196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cxnSp>
      <p:sp>
        <p:nvSpPr>
          <p:cNvPr id="23" name="Shape 23"/>
          <p:cNvSpPr/>
          <p:nvPr/>
        </p:nvSpPr>
        <p:spPr>
          <a:xfrm>
            <a:off x="457200" y="4622292"/>
            <a:ext cx="402336" cy="402336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US" sz="1200" dirty="0"/>
          </a:p>
        </p:txBody>
      </p:sp>
      <p:sp>
        <p:nvSpPr>
          <p:cNvPr id="24" name="Text 24"/>
          <p:cNvSpPr txBox="1"/>
          <p:nvPr/>
        </p:nvSpPr>
        <p:spPr>
          <a:xfrm>
            <a:off x="1051560" y="4251960"/>
            <a:ext cx="329184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1F1F"/>
                </a:solidFill>
                <a:latin typeface="Arial"/>
                <a:cs typeface="Arial"/>
              </a:rPr>
              <a:t>API contracts from OM and Live Agent</a:t>
            </a:r>
            <a:endParaRPr lang="en-US" sz="1600" dirty="0"/>
          </a:p>
        </p:txBody>
      </p:sp>
      <p:sp>
        <p:nvSpPr>
          <p:cNvPr id="25" name="Text 25"/>
          <p:cNvSpPr txBox="1"/>
          <p:nvPr/>
        </p:nvSpPr>
        <p:spPr>
          <a:xfrm>
            <a:off x="4526280" y="4251960"/>
            <a:ext cx="420624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C3C3C"/>
                </a:solidFill>
                <a:latin typeface="Arial"/>
                <a:cs typeface="Arial"/>
              </a:rPr>
              <a:t>OM: get the user ID by CIF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C3C3C"/>
                </a:solidFill>
                <a:latin typeface="Arial"/>
                <a:cs typeface="Arial"/>
              </a:rPr>
              <a:t>Live Agent: get the list of topics</a:t>
            </a:r>
            <a:endParaRPr lang="en-US" sz="1300" dirty="0"/>
          </a:p>
        </p:txBody>
      </p:sp>
      <p:sp>
        <p:nvSpPr>
          <p:cNvPr id="26" name="Shape 26"/>
          <p:cNvSpPr/>
          <p:nvPr/>
        </p:nvSpPr>
        <p:spPr>
          <a:xfrm>
            <a:off x="8915400" y="4453128"/>
            <a:ext cx="2816352" cy="740664"/>
          </a:xfrm>
          <a:prstGeom prst="rect">
            <a:avLst/>
          </a:prstGeom>
          <a:solidFill>
            <a:srgbClr val="FCE8E8"/>
          </a:solidFill>
          <a:ln>
            <a:noFill/>
          </a:ln>
        </p:spPr>
        <p:txBody>
          <a:bodyPr wrap="square" lIns="137160" tIns="45720" rIns="137160" bIns="45720" rtlCol="0" anchor="ctr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A1050E"/>
                </a:solidFill>
                <a:latin typeface="Arial"/>
                <a:cs typeface="Arial"/>
              </a:rPr>
              <a:t>From OM and the Live Agent team</a:t>
            </a:r>
            <a:endParaRPr lang="en-US" sz="1200" dirty="0"/>
          </a:p>
        </p:txBody>
      </p:sp>
      <p:cxnSp>
        <p:nvCxnSpPr>
          <p:cNvPr id="27" name="Connector 27"/>
          <p:cNvCxnSpPr/>
          <p:nvPr/>
        </p:nvCxnSpPr>
        <p:spPr>
          <a:xfrm>
            <a:off x="457200" y="539496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30613"/>
              </a:gs>
              <a:gs pos="100000">
                <a:srgbClr val="8A0410"/>
              </a:gs>
            </a:gsLst>
            <a:lin ang="2100000" scaled="0"/>
          </a:gra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3" name="Shape 3"/>
          <p:cNvSpPr/>
          <p:nvPr/>
        </p:nvSpPr>
        <p:spPr>
          <a:xfrm>
            <a:off x="6766560" y="-2011680"/>
            <a:ext cx="7315200" cy="7315200"/>
          </a:xfrm>
          <a:prstGeom prst="ellipse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4" name="Shape 4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822960" y="210312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6600" b="1" dirty="0">
                <a:solidFill>
                  <a:srgbClr val="FFFFFF"/>
                </a:solidFill>
                <a:latin typeface="Georgia"/>
                <a:cs typeface="Georgia"/>
              </a:rPr>
              <a:t>Thank you</a:t>
            </a:r>
            <a:endParaRPr lang="en-US" sz="6600" dirty="0"/>
          </a:p>
        </p:txBody>
      </p:sp>
      <p:cxnSp>
        <p:nvCxnSpPr>
          <p:cNvPr id="6" name="Connector 6"/>
          <p:cNvCxnSpPr/>
          <p:nvPr/>
        </p:nvCxnSpPr>
        <p:spPr>
          <a:xfrm>
            <a:off x="822960" y="3520440"/>
            <a:ext cx="155448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cxnSp>
      <p:sp>
        <p:nvSpPr>
          <p:cNvPr id="7" name="Text 7"/>
          <p:cNvSpPr txBox="1"/>
          <p:nvPr/>
        </p:nvSpPr>
        <p:spPr>
          <a:xfrm>
            <a:off x="822960" y="37490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dirty="0">
                <a:solidFill>
                  <a:srgbClr val="F9D0D0"/>
                </a:solidFill>
                <a:latin typeface="Arial"/>
                <a:cs typeface="Arial"/>
              </a:rPr>
              <a:t>Questions and discussion</a:t>
            </a:r>
            <a:endParaRPr lang="en-US" sz="2000" dirty="0"/>
          </a:p>
        </p:txBody>
      </p:sp>
      <p:sp>
        <p:nvSpPr>
          <p:cNvPr id="8" name="Shape 8"/>
          <p:cNvSpPr/>
          <p:nvPr/>
        </p:nvSpPr>
        <p:spPr>
          <a:xfrm>
            <a:off x="822960" y="5961888"/>
            <a:ext cx="118872" cy="118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1051560" y="589788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cs typeface="Arial"/>
              </a:rPr>
              <a:t>TANYA AI  ·  ARCHITECTURE OVERVIEW  ·  OCTOBER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TANYA AI — Architecture overview</dc:title>
  <dc:subject>PptxGenJS Presentation</dc:subject>
  <dc:creator>PptxGenJS</dc:creator>
  <cp:lastModifiedBy>PptxGenJS</cp:lastModifiedBy>
  <cp:revision>1</cp:revision>
  <dcterms:created xsi:type="dcterms:W3CDTF">2026-09-17T08:42:12Z</dcterms:created>
  <dcterms:modified xsi:type="dcterms:W3CDTF">2026-09-17T08:42:12Z</dcterms:modified>
</cp:coreProperties>
</file>