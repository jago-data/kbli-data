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1" r:id="rId7"/>
    <p:sldId id="268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9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586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 i="0" dirty="0">
                <a:solidFill>
                  <a:srgbClr val="24282C"/>
                </a:solidFill>
                <a:latin typeface="Calibri"/>
              </a:rPr>
              <a:t>NPS 2025: </a:t>
            </a:r>
            <a:r>
              <a:rPr sz="1900" b="1" i="0" dirty="0">
                <a:solidFill>
                  <a:srgbClr val="24282C"/>
                </a:solidFill>
                <a:latin typeface="Calibri"/>
              </a:rPr>
              <a:t>38% of customers complained about </a:t>
            </a:r>
            <a:r>
              <a:rPr lang="en-US" sz="1900" b="1" dirty="0">
                <a:solidFill>
                  <a:srgbClr val="24282C"/>
                </a:solidFill>
                <a:latin typeface="Calibri"/>
              </a:rPr>
              <a:t>f</a:t>
            </a:r>
            <a:r>
              <a:rPr lang="en-US" sz="1900" b="1" i="0" dirty="0">
                <a:solidFill>
                  <a:srgbClr val="24282C"/>
                </a:solidFill>
                <a:latin typeface="Calibri"/>
              </a:rPr>
              <a:t>rontliners quality answer</a:t>
            </a:r>
            <a:r>
              <a:rPr lang="en-US" sz="1900" b="1" dirty="0">
                <a:solidFill>
                  <a:srgbClr val="24282C"/>
                </a:solidFill>
                <a:latin typeface="Calibri"/>
              </a:rPr>
              <a:t>.</a:t>
            </a:r>
            <a:r>
              <a:rPr sz="1900" b="1" i="0" dirty="0">
                <a:solidFill>
                  <a:srgbClr val="24282C"/>
                </a:solidFill>
                <a:latin typeface="Calibri"/>
              </a:rPr>
              <a:t> </a:t>
            </a:r>
            <a:endParaRPr lang="en-US" sz="1900" b="1" i="0" dirty="0">
              <a:solidFill>
                <a:srgbClr val="24282C"/>
              </a:solidFill>
              <a:latin typeface="Calibr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24282C"/>
                </a:solidFill>
                <a:latin typeface="Calibri"/>
              </a:rPr>
              <a:t>EES 2025 shows why, with 36% of 1,200 frontliners unable to easily find the answer</a:t>
            </a:r>
            <a:r>
              <a:rPr lang="en-US" sz="1900" b="1" i="0" dirty="0">
                <a:solidFill>
                  <a:srgbClr val="24282C"/>
                </a:solidFill>
                <a:latin typeface="Calibri"/>
              </a:rPr>
              <a:t>.</a:t>
            </a:r>
            <a:endParaRPr sz="1900" b="1" i="0" dirty="0">
              <a:solidFill>
                <a:srgbClr val="24282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820095" cy="603504"/>
          </a:xfrm>
          <a:prstGeom prst="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64008" cy="60350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1792224"/>
            <a:ext cx="642805" cy="3436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dirty="0">
                <a:solidFill>
                  <a:srgbClr val="24282C"/>
                </a:solidFill>
                <a:latin typeface="Calibri"/>
              </a:rPr>
              <a:t>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066543"/>
            <a:ext cx="23026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5359"/>
                </a:solidFill>
                <a:latin typeface="Calibri"/>
              </a:rPr>
              <a:t>frontliners on the front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823" y="1828800"/>
            <a:ext cx="12700" cy="420624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8567" y="1792224"/>
            <a:ext cx="12801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4002B"/>
                </a:solidFill>
                <a:latin typeface="Calibr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567" y="2066543"/>
            <a:ext cx="23026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5359"/>
                </a:solidFill>
                <a:latin typeface="Calibri"/>
              </a:rPr>
              <a:t>of customers complained · NPS H1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1828800"/>
            <a:ext cx="12700" cy="420624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3591" y="1792224"/>
            <a:ext cx="12801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4002B"/>
                </a:solidFill>
                <a:latin typeface="Calibri"/>
              </a:rPr>
              <a:t>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066543"/>
            <a:ext cx="230268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5359"/>
                </a:solidFill>
                <a:latin typeface="Calibri"/>
              </a:rPr>
              <a:t>cannot find the answer · EES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00871" y="1828800"/>
            <a:ext cx="12700" cy="420624"/>
          </a:xfrm>
          <a:prstGeom prst="rect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38615" y="1792224"/>
            <a:ext cx="1115690" cy="3436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dirty="0">
                <a:solidFill>
                  <a:srgbClr val="E4002B"/>
                </a:solidFill>
                <a:latin typeface="Calibri"/>
              </a:rPr>
              <a:t>&gt; </a:t>
            </a:r>
            <a:r>
              <a:rPr lang="en-US" sz="2200" b="1" dirty="0">
                <a:solidFill>
                  <a:srgbClr val="E4002B"/>
                </a:solidFill>
                <a:latin typeface="Calibri"/>
              </a:rPr>
              <a:t>20 mins</a:t>
            </a:r>
            <a:endParaRPr sz="2200" b="1" i="0" dirty="0">
              <a:solidFill>
                <a:srgbClr val="E4002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38615" y="2066543"/>
            <a:ext cx="230268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4C5359"/>
                </a:solidFill>
                <a:latin typeface="Calibri"/>
              </a:rPr>
              <a:t>searching, per case, per 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450592"/>
            <a:ext cx="3448202" cy="318211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5800" y="2450592"/>
            <a:ext cx="3448202" cy="310896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2450592"/>
            <a:ext cx="344820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BEFORE · WHAT DOES THE RM NEED TO KNOW?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" y="2816352"/>
            <a:ext cx="322874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8" y="2816352"/>
            <a:ext cx="54864" cy="1298448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" y="2907792"/>
            <a:ext cx="28629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01   </a:t>
            </a:r>
            <a:r>
              <a:rPr sz="1250" b="1" i="0">
                <a:solidFill>
                  <a:srgbClr val="24282C"/>
                </a:solidFill>
                <a:latin typeface="Calibri"/>
              </a:rPr>
              <a:t>PRODUCT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3163824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3291840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C5359"/>
                </a:solidFill>
                <a:latin typeface="Calibri"/>
              </a:rPr>
              <a:t>PDF manuals and intranet pages, mixed in with expired documents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" y="3602736"/>
            <a:ext cx="2862986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" y="3657600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4002B"/>
                </a:solidFill>
                <a:latin typeface="Calibri"/>
              </a:rPr>
              <a:t>WHAT IT COSTS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3785616"/>
            <a:ext cx="2862986" cy="156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24282C"/>
                </a:solidFill>
                <a:latin typeface="Calibri"/>
              </a:rPr>
              <a:t>F</a:t>
            </a:r>
            <a:r>
              <a:rPr sz="1000" b="1" i="0" dirty="0">
                <a:solidFill>
                  <a:srgbClr val="24282C"/>
                </a:solidFill>
                <a:latin typeface="Calibri"/>
              </a:rPr>
              <a:t>rontliners cannot </a:t>
            </a:r>
            <a:r>
              <a:rPr lang="en-US" sz="1000" b="1" i="0" dirty="0">
                <a:solidFill>
                  <a:srgbClr val="24282C"/>
                </a:solidFill>
                <a:latin typeface="Calibri"/>
              </a:rPr>
              <a:t>easily </a:t>
            </a:r>
            <a:r>
              <a:rPr sz="1000" b="1" i="0" dirty="0">
                <a:solidFill>
                  <a:srgbClr val="24282C"/>
                </a:solidFill>
                <a:latin typeface="Calibri"/>
              </a:rPr>
              <a:t>find </a:t>
            </a:r>
            <a:r>
              <a:rPr sz="1000" b="1" i="0">
                <a:solidFill>
                  <a:srgbClr val="24282C"/>
                </a:solidFill>
                <a:latin typeface="Calibri"/>
              </a:rPr>
              <a:t>the answer</a:t>
            </a:r>
            <a:endParaRPr sz="1000" b="1" i="0" dirty="0">
              <a:solidFill>
                <a:srgbClr val="24282C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95528" y="4206240"/>
            <a:ext cx="322874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5528" y="4206240"/>
            <a:ext cx="54864" cy="1298448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" y="4297680"/>
            <a:ext cx="28629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02   </a:t>
            </a:r>
            <a:r>
              <a:rPr sz="1250" b="1" i="0">
                <a:solidFill>
                  <a:srgbClr val="24282C"/>
                </a:solidFill>
                <a:latin typeface="Calibri"/>
              </a:rPr>
              <a:t>LIVE PROMOTIONS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553712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4681728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C5359"/>
                </a:solidFill>
                <a:latin typeface="Calibri"/>
              </a:rPr>
              <a:t>Email blasts; the latest version is whoever's inbox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" y="4992624"/>
            <a:ext cx="2862986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5047488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4002B"/>
                </a:solidFill>
                <a:latin typeface="Calibri"/>
              </a:rPr>
              <a:t>WHAT IT COSTS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" y="5175504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Expired offers are still quoted at the counter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1746" y="2450592"/>
            <a:ext cx="3448202" cy="318211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371746" y="2450592"/>
            <a:ext cx="3448202" cy="310896"/>
          </a:xfrm>
          <a:prstGeom prst="round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71746" y="2450592"/>
            <a:ext cx="344820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DURING · WHO IS THE RM WITH, AND WHAT TO ADVISE?</a:t>
            </a:r>
          </a:p>
        </p:txBody>
      </p:sp>
      <p:sp>
        <p:nvSpPr>
          <p:cNvPr id="45" name="Chevron 44"/>
          <p:cNvSpPr/>
          <p:nvPr/>
        </p:nvSpPr>
        <p:spPr>
          <a:xfrm>
            <a:off x="4161434" y="2496312"/>
            <a:ext cx="182880" cy="219456"/>
          </a:xfrm>
          <a:prstGeom prst="chevron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481474" y="2816352"/>
            <a:ext cx="322874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481474" y="2816352"/>
            <a:ext cx="54864" cy="1298448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64354" y="2907792"/>
            <a:ext cx="28629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03   </a:t>
            </a:r>
            <a:r>
              <a:rPr sz="1250" b="1" i="0">
                <a:solidFill>
                  <a:srgbClr val="395268"/>
                </a:solidFill>
                <a:latin typeface="Calibri"/>
              </a:rPr>
              <a:t>CUSTOMER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4354" y="3163824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4354" y="3291840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C5359"/>
                </a:solidFill>
                <a:latin typeface="Calibri"/>
              </a:rPr>
              <a:t>A desk-only system; none of it travels to the meeting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4354" y="3602736"/>
            <a:ext cx="2862986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64354" y="3657600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4002B"/>
                </a:solidFill>
                <a:latin typeface="Calibri"/>
              </a:rPr>
              <a:t>WHAT IT COSTS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4354" y="3785616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The RM meets the customer without their full picture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81474" y="4206240"/>
            <a:ext cx="322874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481474" y="4206240"/>
            <a:ext cx="54864" cy="1298448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4354" y="4297680"/>
            <a:ext cx="28629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04   </a:t>
            </a:r>
            <a:r>
              <a:rPr sz="1250" b="1" i="0">
                <a:solidFill>
                  <a:srgbClr val="395268"/>
                </a:solidFill>
                <a:latin typeface="Calibri"/>
              </a:rPr>
              <a:t>ADVISORY TOOLS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4354" y="4553712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4354" y="4681728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C5359"/>
                </a:solidFill>
                <a:latin typeface="Calibri"/>
              </a:rPr>
              <a:t>Spreadsheets on a laptop, back at the branch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4354" y="4992624"/>
            <a:ext cx="2862986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64354" y="5047488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4002B"/>
                </a:solidFill>
                <a:latin typeface="Calibri"/>
              </a:rPr>
              <a:t>WHAT IT COSTS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4354" y="5175504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Advice waits until after the conversation has ended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57692" y="2450592"/>
            <a:ext cx="3448202" cy="318211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057692" y="2450592"/>
            <a:ext cx="3448202" cy="310896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57692" y="2450592"/>
            <a:ext cx="344820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AFTER · WHAT TO OFFER, AND WHAT DID THE RM LEARN?</a:t>
            </a:r>
          </a:p>
        </p:txBody>
      </p:sp>
      <p:sp>
        <p:nvSpPr>
          <p:cNvPr id="65" name="Chevron 64"/>
          <p:cNvSpPr/>
          <p:nvPr/>
        </p:nvSpPr>
        <p:spPr>
          <a:xfrm>
            <a:off x="7847380" y="2496312"/>
            <a:ext cx="182880" cy="219456"/>
          </a:xfrm>
          <a:prstGeom prst="chevron">
            <a:avLst/>
          </a:prstGeom>
          <a:solidFill>
            <a:srgbClr val="CBC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167420" y="2816352"/>
            <a:ext cx="322874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167420" y="2816352"/>
            <a:ext cx="54864" cy="1298448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50300" y="2907792"/>
            <a:ext cx="28629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05   </a:t>
            </a:r>
            <a:r>
              <a:rPr sz="1250" b="1" i="0">
                <a:solidFill>
                  <a:srgbClr val="B0812C"/>
                </a:solidFill>
                <a:latin typeface="Calibri"/>
              </a:rPr>
              <a:t>NEXT BEST RECOMMENDATION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50300" y="3163824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50300" y="3291840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C5359"/>
                </a:solidFill>
                <a:latin typeface="Calibri"/>
              </a:rPr>
              <a:t>Judgement and memory, one RM at a time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50300" y="3602736"/>
            <a:ext cx="2862986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50300" y="3657600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4002B"/>
                </a:solidFill>
                <a:latin typeface="Calibri"/>
              </a:rPr>
              <a:t>WHAT IT COSTS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50300" y="3785616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Offers stay generic; cross-sell is left on the table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67420" y="4206240"/>
            <a:ext cx="322874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167420" y="4206240"/>
            <a:ext cx="54864" cy="1298448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50300" y="4297680"/>
            <a:ext cx="28629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BA1A7"/>
                </a:solidFill>
                <a:latin typeface="Calibri"/>
              </a:rPr>
              <a:t>06   </a:t>
            </a:r>
            <a:r>
              <a:rPr sz="1250" b="1" i="0">
                <a:solidFill>
                  <a:srgbClr val="B0812C"/>
                </a:solidFill>
                <a:latin typeface="Calibri"/>
              </a:rPr>
              <a:t>VOICE: WHAT WAS SAID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50300" y="4553712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9BA1A7"/>
                </a:solidFill>
                <a:latin typeface="Calibri"/>
              </a:rPr>
              <a:t>TODAY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50300" y="4681728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C5359"/>
                </a:solidFill>
                <a:latin typeface="Calibri"/>
              </a:rPr>
              <a:t>A call report typed up later, if it is typed at all; nothing is captured while it is still fresh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50300" y="4992624"/>
            <a:ext cx="2862986" cy="12700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50300" y="5047488"/>
            <a:ext cx="286298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4002B"/>
                </a:solidFill>
                <a:latin typeface="Calibri"/>
              </a:rPr>
              <a:t>WHAT IT COSTS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50300" y="5175504"/>
            <a:ext cx="28629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282C"/>
                </a:solidFill>
                <a:latin typeface="Calibri"/>
              </a:rPr>
              <a:t>What the customer said is lost before the next meeting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" y="5742432"/>
            <a:ext cx="10820095" cy="420624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85800" y="5742432"/>
            <a:ext cx="64008" cy="420624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41832" y="5742432"/>
            <a:ext cx="1036289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4002B"/>
                </a:solidFill>
                <a:latin typeface="Calibri"/>
              </a:rPr>
              <a:t>THE COST COMPOUNDS:  </a:t>
            </a:r>
            <a:r>
              <a:rPr sz="1150" b="0" i="0">
                <a:solidFill>
                  <a:srgbClr val="24282C"/>
                </a:solidFill>
                <a:latin typeface="Calibri"/>
              </a:rPr>
              <a:t>the customer waits, the offer is generic, and what they told us is gone before the next meeting.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Calibri"/>
              </a:rPr>
              <a:t>PROBLEM STATEMENT · WHO THE RM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4282C"/>
                </a:solidFill>
                <a:latin typeface="Calibri"/>
              </a:rPr>
              <a:t>RMs work away from their desks and differ widely in age and comfort with technology, so an assistant that is desk-bound or text-only will miss most of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7177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5291175" cy="3767327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5291175" cy="310896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529117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HIGH MOBILITY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139696"/>
            <a:ext cx="48888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RMs spend most of their time outside the office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9" y="1737360"/>
            <a:ext cx="5291175" cy="3767327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4719" y="1737360"/>
            <a:ext cx="5291175" cy="310896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4719" y="1737360"/>
            <a:ext cx="529117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DIVERSE AGE AND TECH LITERACY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139696"/>
            <a:ext cx="48888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4282C"/>
                </a:solidFill>
                <a:latin typeface="Calibri"/>
              </a:rPr>
              <a:t>Not all RMs are comfortable or efficient with text-based chatbot interaction</a:t>
            </a:r>
          </a:p>
        </p:txBody>
      </p:sp>
      <p:pic>
        <p:nvPicPr>
          <p:cNvPr id="19" name="Picture 18" descr="orbit-rm-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7" y="2915014"/>
            <a:ext cx="4888839" cy="216182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85800" y="5614416"/>
            <a:ext cx="10820095" cy="548640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5614416"/>
            <a:ext cx="64008" cy="5486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5614416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Calibri"/>
              </a:rPr>
              <a:t>THE TOOL HAS TO GO WHERE THE RM GOES:  </a:t>
            </a:r>
            <a:r>
              <a:rPr sz="1150" b="0" i="0">
                <a:solidFill>
                  <a:srgbClr val="24282C"/>
                </a:solidFill>
                <a:latin typeface="Calibri"/>
              </a:rPr>
              <a:t>mobile first, and voice as well as text, or it reaches only part of the front line.</a:t>
            </a:r>
          </a:p>
        </p:txBody>
      </p:sp>
      <p:pic>
        <p:nvPicPr>
          <p:cNvPr id="23" name="Google Shape;98;p15" title="ChatGPT Image Aug 21, 2026, 09_19_28 AM.png">
            <a:extLst>
              <a:ext uri="{FF2B5EF4-FFF2-40B4-BE49-F238E27FC236}">
                <a16:creationId xmlns:a16="http://schemas.microsoft.com/office/drawing/2014/main" id="{1CEC2D69-C77C-4797-BBA0-3DA1D366FB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1496" t="13758" b="45443"/>
          <a:stretch/>
        </p:blipFill>
        <p:spPr>
          <a:xfrm>
            <a:off x="1508760" y="2651761"/>
            <a:ext cx="3576775" cy="2587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E4002B"/>
                </a:solidFill>
                <a:latin typeface="Calibri"/>
              </a:rPr>
              <a:t>PROPOSED SOLUTION · ORBIT</a:t>
            </a:r>
          </a:p>
        </p:txBody>
      </p:sp>
      <p:sp>
        <p:nvSpPr>
          <p:cNvPr id="81" name="Google Shape;488;p24">
            <a:extLst>
              <a:ext uri="{FF2B5EF4-FFF2-40B4-BE49-F238E27FC236}">
                <a16:creationId xmlns:a16="http://schemas.microsoft.com/office/drawing/2014/main" id="{ED7BC6C3-F281-44AE-92B4-E118F491017F}"/>
              </a:ext>
            </a:extLst>
          </p:cNvPr>
          <p:cNvSpPr/>
          <p:nvPr/>
        </p:nvSpPr>
        <p:spPr>
          <a:xfrm>
            <a:off x="3611880" y="3364992"/>
            <a:ext cx="4160520" cy="1188720"/>
          </a:xfrm>
          <a:prstGeom prst="roundRect">
            <a:avLst>
              <a:gd name="adj" fmla="val 1371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489;p24" title="03_faster_access_to_information.png">
            <a:extLst>
              <a:ext uri="{FF2B5EF4-FFF2-40B4-BE49-F238E27FC236}">
                <a16:creationId xmlns:a16="http://schemas.microsoft.com/office/drawing/2014/main" id="{89F6F284-8F61-40B1-9196-96B4249CC03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58768" y="3518584"/>
            <a:ext cx="1728000" cy="88153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490;p24">
            <a:extLst>
              <a:ext uri="{FF2B5EF4-FFF2-40B4-BE49-F238E27FC236}">
                <a16:creationId xmlns:a16="http://schemas.microsoft.com/office/drawing/2014/main" id="{23698A7A-56FF-4A6D-9B0D-3226571A1ECB}"/>
              </a:ext>
            </a:extLst>
          </p:cNvPr>
          <p:cNvSpPr/>
          <p:nvPr/>
        </p:nvSpPr>
        <p:spPr>
          <a:xfrm>
            <a:off x="3611880" y="4754880"/>
            <a:ext cx="4160520" cy="1188720"/>
          </a:xfrm>
          <a:prstGeom prst="roundRect">
            <a:avLst>
              <a:gd name="adj" fmla="val 1143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491;p24" title="02_inclusive_for_all_rms.png">
            <a:extLst>
              <a:ext uri="{FF2B5EF4-FFF2-40B4-BE49-F238E27FC236}">
                <a16:creationId xmlns:a16="http://schemas.microsoft.com/office/drawing/2014/main" id="{8FFA0BA3-7785-4DFE-B8C5-2CA9F71947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768" y="4910973"/>
            <a:ext cx="1728000" cy="87653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492;p24">
            <a:extLst>
              <a:ext uri="{FF2B5EF4-FFF2-40B4-BE49-F238E27FC236}">
                <a16:creationId xmlns:a16="http://schemas.microsoft.com/office/drawing/2014/main" id="{4CF5D128-EA52-41A6-9A2D-69CE16D470D4}"/>
              </a:ext>
            </a:extLst>
          </p:cNvPr>
          <p:cNvSpPr/>
          <p:nvPr/>
        </p:nvSpPr>
        <p:spPr>
          <a:xfrm>
            <a:off x="3611880" y="1975104"/>
            <a:ext cx="4160520" cy="1188720"/>
          </a:xfrm>
          <a:prstGeom prst="roundRect">
            <a:avLst>
              <a:gd name="adj" fmla="val 988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508;p24">
            <a:extLst>
              <a:ext uri="{FF2B5EF4-FFF2-40B4-BE49-F238E27FC236}">
                <a16:creationId xmlns:a16="http://schemas.microsoft.com/office/drawing/2014/main" id="{1FB739A2-8B4A-40E4-9E08-43A8ADB36579}"/>
              </a:ext>
            </a:extLst>
          </p:cNvPr>
          <p:cNvSpPr/>
          <p:nvPr/>
        </p:nvSpPr>
        <p:spPr>
          <a:xfrm>
            <a:off x="3776472" y="3218688"/>
            <a:ext cx="2197500" cy="294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5262A"/>
              </a:gs>
              <a:gs pos="100000">
                <a:srgbClr val="ED1C25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5F6F8"/>
                </a:solidFill>
                <a:latin typeface="Poppins"/>
                <a:ea typeface="Poppins"/>
                <a:cs typeface="Poppins"/>
                <a:sym typeface="Poppins"/>
              </a:rPr>
              <a:t>Faster to get information</a:t>
            </a:r>
            <a:endParaRPr sz="1100">
              <a:solidFill>
                <a:srgbClr val="F5F6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510;p24">
            <a:extLst>
              <a:ext uri="{FF2B5EF4-FFF2-40B4-BE49-F238E27FC236}">
                <a16:creationId xmlns:a16="http://schemas.microsoft.com/office/drawing/2014/main" id="{96243801-AC02-41DB-8686-03747B7ED502}"/>
              </a:ext>
            </a:extLst>
          </p:cNvPr>
          <p:cNvSpPr/>
          <p:nvPr/>
        </p:nvSpPr>
        <p:spPr>
          <a:xfrm>
            <a:off x="3776472" y="4608576"/>
            <a:ext cx="1849800" cy="294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5262A"/>
              </a:gs>
              <a:gs pos="100000">
                <a:srgbClr val="ED1C25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5F6F8"/>
                </a:solidFill>
                <a:latin typeface="Poppins"/>
                <a:ea typeface="Poppins"/>
                <a:cs typeface="Poppins"/>
                <a:sym typeface="Poppins"/>
              </a:rPr>
              <a:t>Inclusive for all RMs</a:t>
            </a:r>
            <a:endParaRPr sz="1100">
              <a:solidFill>
                <a:srgbClr val="F5F6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511;p24">
            <a:extLst>
              <a:ext uri="{FF2B5EF4-FFF2-40B4-BE49-F238E27FC236}">
                <a16:creationId xmlns:a16="http://schemas.microsoft.com/office/drawing/2014/main" id="{9F37D8BF-060E-4B9A-8E1B-A52C84BFA726}"/>
              </a:ext>
            </a:extLst>
          </p:cNvPr>
          <p:cNvSpPr txBox="1"/>
          <p:nvPr/>
        </p:nvSpPr>
        <p:spPr>
          <a:xfrm>
            <a:off x="5705856" y="22494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Hands-free access</a:t>
            </a:r>
            <a:endParaRPr sz="12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" name="Google Shape;512;p24" title="01_works_on_the_move.png">
            <a:extLst>
              <a:ext uri="{FF2B5EF4-FFF2-40B4-BE49-F238E27FC236}">
                <a16:creationId xmlns:a16="http://schemas.microsoft.com/office/drawing/2014/main" id="{8B65DE3A-BB1D-46CA-AE91-6C02935ECE0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8768" y="2120814"/>
            <a:ext cx="1820991" cy="8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513;p24">
            <a:extLst>
              <a:ext uri="{FF2B5EF4-FFF2-40B4-BE49-F238E27FC236}">
                <a16:creationId xmlns:a16="http://schemas.microsoft.com/office/drawing/2014/main" id="{9165867D-B0EC-42D6-A2FC-78C209EB0AA6}"/>
              </a:ext>
            </a:extLst>
          </p:cNvPr>
          <p:cNvSpPr/>
          <p:nvPr/>
        </p:nvSpPr>
        <p:spPr>
          <a:xfrm>
            <a:off x="3776472" y="1828800"/>
            <a:ext cx="1849800" cy="294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5262A"/>
              </a:gs>
              <a:gs pos="100000">
                <a:srgbClr val="ED1C25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5F6F8"/>
                </a:solidFill>
                <a:latin typeface="Poppins"/>
                <a:ea typeface="Poppins"/>
                <a:cs typeface="Poppins"/>
                <a:sym typeface="Poppins"/>
              </a:rPr>
              <a:t>Works on the move</a:t>
            </a:r>
            <a:endParaRPr sz="1100">
              <a:solidFill>
                <a:srgbClr val="F5F6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516;p24">
            <a:extLst>
              <a:ext uri="{FF2B5EF4-FFF2-40B4-BE49-F238E27FC236}">
                <a16:creationId xmlns:a16="http://schemas.microsoft.com/office/drawing/2014/main" id="{682030FE-383B-459D-ADFF-DBA20584E156}"/>
              </a:ext>
            </a:extLst>
          </p:cNvPr>
          <p:cNvSpPr txBox="1"/>
          <p:nvPr/>
        </p:nvSpPr>
        <p:spPr>
          <a:xfrm>
            <a:off x="5705856" y="2542032"/>
            <a:ext cx="210312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25" tIns="76025" rIns="76025" bIns="760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998"/>
              </a:spcBef>
              <a:spcAft>
                <a:spcPts val="998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Access information on the move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517;p24">
            <a:extLst>
              <a:ext uri="{FF2B5EF4-FFF2-40B4-BE49-F238E27FC236}">
                <a16:creationId xmlns:a16="http://schemas.microsoft.com/office/drawing/2014/main" id="{ABB0B253-106F-45D2-93D6-C7AF171A2101}"/>
              </a:ext>
            </a:extLst>
          </p:cNvPr>
          <p:cNvSpPr txBox="1"/>
          <p:nvPr/>
        </p:nvSpPr>
        <p:spPr>
          <a:xfrm>
            <a:off x="5705856" y="36393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Less reading and typing</a:t>
            </a:r>
            <a:endParaRPr sz="12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518;p24">
            <a:extLst>
              <a:ext uri="{FF2B5EF4-FFF2-40B4-BE49-F238E27FC236}">
                <a16:creationId xmlns:a16="http://schemas.microsoft.com/office/drawing/2014/main" id="{0165F0FF-C22B-41E4-AD59-16BCE5906413}"/>
              </a:ext>
            </a:extLst>
          </p:cNvPr>
          <p:cNvSpPr txBox="1"/>
          <p:nvPr/>
        </p:nvSpPr>
        <p:spPr>
          <a:xfrm>
            <a:off x="5705856" y="3931920"/>
            <a:ext cx="210312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25" tIns="76025" rIns="76025" bIns="760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998"/>
              </a:spcBef>
              <a:spcAft>
                <a:spcPts val="998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60+ words → 20–30 words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519;p24">
            <a:extLst>
              <a:ext uri="{FF2B5EF4-FFF2-40B4-BE49-F238E27FC236}">
                <a16:creationId xmlns:a16="http://schemas.microsoft.com/office/drawing/2014/main" id="{4BAA18C1-CF39-4FC6-9AE3-2B323E6F7160}"/>
              </a:ext>
            </a:extLst>
          </p:cNvPr>
          <p:cNvSpPr txBox="1"/>
          <p:nvPr/>
        </p:nvSpPr>
        <p:spPr>
          <a:xfrm>
            <a:off x="5705856" y="50292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Easier for every RM to use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520;p24">
            <a:extLst>
              <a:ext uri="{FF2B5EF4-FFF2-40B4-BE49-F238E27FC236}">
                <a16:creationId xmlns:a16="http://schemas.microsoft.com/office/drawing/2014/main" id="{0F03FE91-327D-4670-AEAF-104EF0ADA297}"/>
              </a:ext>
            </a:extLst>
          </p:cNvPr>
          <p:cNvSpPr txBox="1"/>
          <p:nvPr/>
        </p:nvSpPr>
        <p:spPr>
          <a:xfrm>
            <a:off x="5705856" y="5321808"/>
            <a:ext cx="210312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025" tIns="76025" rIns="76025" bIns="760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998"/>
              </a:spcBef>
              <a:spcAft>
                <a:spcPts val="998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 natural for different ages &amp; tech familiarity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509;p24">
            <a:extLst>
              <a:ext uri="{FF2B5EF4-FFF2-40B4-BE49-F238E27FC236}">
                <a16:creationId xmlns:a16="http://schemas.microsoft.com/office/drawing/2014/main" id="{572700E8-A28E-41FC-A4BB-658665ECB84B}"/>
              </a:ext>
            </a:extLst>
          </p:cNvPr>
          <p:cNvSpPr/>
          <p:nvPr/>
        </p:nvSpPr>
        <p:spPr>
          <a:xfrm rot="5400000">
            <a:off x="7100250" y="3701549"/>
            <a:ext cx="2258700" cy="3693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514;p24" title="04_better_prepared_rm.png">
            <a:extLst>
              <a:ext uri="{FF2B5EF4-FFF2-40B4-BE49-F238E27FC236}">
                <a16:creationId xmlns:a16="http://schemas.microsoft.com/office/drawing/2014/main" id="{171A2214-2914-4F59-A374-F49A5FE5A19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1372" y="2881735"/>
            <a:ext cx="3136392" cy="28318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515;p24">
            <a:extLst>
              <a:ext uri="{FF2B5EF4-FFF2-40B4-BE49-F238E27FC236}">
                <a16:creationId xmlns:a16="http://schemas.microsoft.com/office/drawing/2014/main" id="{E1ECFF84-FEFA-439D-AFB4-26AD3A0B6638}"/>
              </a:ext>
            </a:extLst>
          </p:cNvPr>
          <p:cNvSpPr/>
          <p:nvPr/>
        </p:nvSpPr>
        <p:spPr>
          <a:xfrm>
            <a:off x="8689518" y="1828800"/>
            <a:ext cx="3140100" cy="615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5262A"/>
              </a:gs>
              <a:gs pos="100000">
                <a:srgbClr val="ED1C25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5F6F8"/>
                </a:solidFill>
                <a:latin typeface="Poppins"/>
                <a:ea typeface="Poppins"/>
                <a:cs typeface="Poppins"/>
                <a:sym typeface="Poppins"/>
              </a:rPr>
              <a:t>Better prepared for every conversation</a:t>
            </a:r>
            <a:endParaRPr sz="1300">
              <a:solidFill>
                <a:srgbClr val="F5F6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900" b="1">
                <a:solidFill>
                  <a:srgbClr val="24282C"/>
                </a:solidFill>
                <a:latin typeface="Calibri"/>
              </a:rPr>
              <a:t>ORBIT fixes every one of these problems: one platform that holds everything an RM needs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00" b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2000"/>
              </a:lnSpc>
            </a:pPr>
            <a:r>
              <a:rPr sz="950" b="1">
                <a:solidFill>
                  <a:srgbClr val="6A7177"/>
                </a:solidFill>
                <a:latin typeface="Calibri"/>
              </a:rPr>
              <a:t>03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5800" y="1828800"/>
            <a:ext cx="2468880" cy="411480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85800" y="1828800"/>
            <a:ext cx="2468880" cy="603504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85800" y="192024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ORBIT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2194560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ADCDF"/>
                </a:solidFill>
                <a:latin typeface="Calibri"/>
              </a:rPr>
              <a:t>one tool, five capabilities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5528" y="2560320"/>
            <a:ext cx="224942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59536" y="2670046"/>
            <a:ext cx="365760" cy="365760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957558" y="2781860"/>
            <a:ext cx="169712" cy="25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957558" y="2840199"/>
            <a:ext cx="169712" cy="25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957558" y="2898538"/>
            <a:ext cx="169712" cy="25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325880" y="2560320"/>
            <a:ext cx="162763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282C"/>
                </a:solidFill>
                <a:latin typeface="Calibri"/>
              </a:rPr>
              <a:t>Product &amp; promo wiki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95528" y="3227832"/>
            <a:ext cx="224942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859536" y="3337558"/>
            <a:ext cx="365760" cy="365760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Donut 123"/>
          <p:cNvSpPr/>
          <p:nvPr/>
        </p:nvSpPr>
        <p:spPr>
          <a:xfrm>
            <a:off x="941647" y="3419672"/>
            <a:ext cx="201533" cy="201533"/>
          </a:xfrm>
          <a:prstGeom prst="don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325880" y="3227832"/>
            <a:ext cx="162763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282C"/>
                </a:solidFill>
                <a:latin typeface="Calibri"/>
              </a:rPr>
              <a:t>Customer 360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95528" y="3895344"/>
            <a:ext cx="224942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859536" y="4005072"/>
            <a:ext cx="365760" cy="365760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Up Arrow 127"/>
          <p:cNvSpPr/>
          <p:nvPr/>
        </p:nvSpPr>
        <p:spPr>
          <a:xfrm>
            <a:off x="962863" y="4087185"/>
            <a:ext cx="159105" cy="201533"/>
          </a:xfrm>
          <a:prstGeom prst="up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325880" y="3895344"/>
            <a:ext cx="162763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282C"/>
                </a:solidFill>
                <a:latin typeface="Calibri"/>
              </a:rPr>
              <a:t>Next best recommendation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95528" y="4562856"/>
            <a:ext cx="224942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859536" y="4672583"/>
            <a:ext cx="365760" cy="365760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941647" y="4754697"/>
            <a:ext cx="159105" cy="1060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1005291" y="4871374"/>
            <a:ext cx="137891" cy="9546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325880" y="4562856"/>
            <a:ext cx="162763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282C"/>
                </a:solidFill>
                <a:latin typeface="Calibri"/>
              </a:rPr>
              <a:t>Conversation: voice &amp; text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95528" y="5230368"/>
            <a:ext cx="224942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859536" y="5340096"/>
            <a:ext cx="365760" cy="365760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973470" y="5422209"/>
            <a:ext cx="137891" cy="2015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Isosceles Triangle 137"/>
          <p:cNvSpPr/>
          <p:nvPr/>
        </p:nvSpPr>
        <p:spPr>
          <a:xfrm>
            <a:off x="973470" y="5560100"/>
            <a:ext cx="137891" cy="65762"/>
          </a:xfrm>
          <a:prstGeom prst="triangl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325880" y="5230368"/>
            <a:ext cx="162763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282C"/>
                </a:solidFill>
                <a:latin typeface="Calibri"/>
              </a:rPr>
              <a:t>Memory of every meeting</a:t>
            </a:r>
          </a:p>
        </p:txBody>
      </p:sp>
      <p:sp>
        <p:nvSpPr>
          <p:cNvPr id="57" name="Google Shape;509;p24">
            <a:extLst>
              <a:ext uri="{FF2B5EF4-FFF2-40B4-BE49-F238E27FC236}">
                <a16:creationId xmlns:a16="http://schemas.microsoft.com/office/drawing/2014/main" id="{A894F14F-FA2E-4C53-BCED-9B282307768A}"/>
              </a:ext>
            </a:extLst>
          </p:cNvPr>
          <p:cNvSpPr/>
          <p:nvPr/>
        </p:nvSpPr>
        <p:spPr>
          <a:xfrm rot="5400000">
            <a:off x="2253930" y="3701549"/>
            <a:ext cx="2258700" cy="3693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02336"/>
            <a:ext cx="8229600" cy="187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E4002B"/>
                </a:solidFill>
                <a:latin typeface="Calibri"/>
              </a:rPr>
              <a:t>ORBIT </a:t>
            </a:r>
            <a:r>
              <a:rPr lang="en-US" sz="1200" b="1" i="0" dirty="0">
                <a:solidFill>
                  <a:srgbClr val="E4002B"/>
                </a:solidFill>
                <a:latin typeface="Calibri"/>
              </a:rPr>
              <a:t>·  </a:t>
            </a:r>
            <a:r>
              <a:rPr sz="1200" b="1" dirty="0">
                <a:solidFill>
                  <a:srgbClr val="E4002B"/>
                </a:solidFill>
                <a:latin typeface="Calibri"/>
              </a:rPr>
              <a:t>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282C"/>
                </a:solidFill>
                <a:latin typeface="Calibri"/>
              </a:rPr>
              <a:t>ORBIT in action: one RM's day end to end, from the first meeting to a personalised pitch deck built from what the customer said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9527" y="5961888"/>
            <a:ext cx="715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BA1A7"/>
                </a:solidFill>
                <a:latin typeface="Calibri"/>
              </a:rPr>
              <a:t>Click to play. Everything after the opening is the live application, with real model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A717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002B"/>
                </a:solidFill>
                <a:latin typeface="Calibri"/>
              </a:rPr>
              <a:t>COST &amp; BENEFIT ANALYSIS ·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282C"/>
                </a:solidFill>
                <a:latin typeface="Calibri"/>
              </a:rPr>
              <a:t>On projection, ORBIT returns far more each month than it costs to run: hours released back to the front line, and new-to-product sales opened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755648"/>
            <a:ext cx="2286000" cy="246888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2286000" cy="310896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21408"/>
            <a:ext cx="199339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E4002B"/>
                </a:solidFill>
                <a:latin typeface="Calibri"/>
              </a:rPr>
              <a:t>CAPEX · ONE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40280"/>
            <a:ext cx="199339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282C"/>
                </a:solidFill>
                <a:latin typeface="Calibri"/>
              </a:rPr>
              <a:t>Database, 500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23160"/>
            <a:ext cx="19933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A7177"/>
                </a:solidFill>
                <a:latin typeface="Calibri"/>
              </a:rPr>
              <a:t>One off. Amount not yet costed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615184"/>
            <a:ext cx="1993392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670048"/>
            <a:ext cx="199339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E4002B"/>
                </a:solidFill>
                <a:latin typeface="Calibri"/>
              </a:rPr>
              <a:t>OPEX · 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816352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5359"/>
                </a:solidFill>
                <a:latin typeface="Calibri"/>
              </a:rPr>
              <a:t>Database IT direct charge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2816352"/>
            <a:ext cx="80467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282C"/>
                </a:solidFill>
                <a:latin typeface="Calibri"/>
              </a:rPr>
              <a:t>3 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03804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5359"/>
                </a:solidFill>
                <a:latin typeface="Calibri"/>
              </a:rPr>
              <a:t>Develop ORBIT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9112" y="3003804"/>
            <a:ext cx="80467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282C"/>
                </a:solidFill>
                <a:latin typeface="Calibri"/>
              </a:rPr>
              <a:t>30 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191256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5359"/>
                </a:solidFill>
                <a:latin typeface="Calibri"/>
              </a:rP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3191256"/>
            <a:ext cx="80467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282C"/>
                </a:solidFill>
                <a:latin typeface="Calibri"/>
              </a:rPr>
              <a:t>15 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378708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5359"/>
                </a:solidFill>
                <a:latin typeface="Calibri"/>
              </a:rPr>
              <a:t>Cloudera licence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9112" y="3378708"/>
            <a:ext cx="80467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282C"/>
                </a:solidFill>
                <a:latin typeface="Calibri"/>
              </a:rPr>
              <a:t>IDR 200 Mio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566160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5359"/>
                </a:solidFill>
                <a:latin typeface="Calibri"/>
              </a:rPr>
              <a:t>Cloudera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3566160"/>
            <a:ext cx="80467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282C"/>
                </a:solidFill>
                <a:latin typeface="Calibri"/>
              </a:rPr>
              <a:t>IDR 6 Mio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" y="3799332"/>
            <a:ext cx="1993392" cy="1270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3845052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4002B"/>
                </a:solidFill>
                <a:latin typeface="Calibri"/>
              </a:rPr>
              <a:t>IDR 240 Mio</a:t>
            </a:r>
            <a:r>
              <a:rPr sz="800" b="0">
                <a:solidFill>
                  <a:srgbClr val="6A7177"/>
                </a:solidFill>
                <a:latin typeface="Calibri"/>
              </a:rPr>
              <a:t>  a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037076"/>
            <a:ext cx="199339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A7177"/>
                </a:solidFill>
                <a:latin typeface="Calibri"/>
              </a:rPr>
              <a:t>IDR 20 Mio a month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99816" y="1755648"/>
            <a:ext cx="3383280" cy="246888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099816" y="1755648"/>
            <a:ext cx="3383280" cy="310896"/>
          </a:xfrm>
          <a:prstGeom prst="round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99816" y="1755648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FINANCIAL BENEFIT 1 · PRODUCTIVITY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21396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10712" y="2139696"/>
            <a:ext cx="1792589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Cases handled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8709" y="2139696"/>
            <a:ext cx="129808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18,000 /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23682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10712" y="2368296"/>
            <a:ext cx="1792589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Handling: today → ORBIT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709" y="2368296"/>
            <a:ext cx="129808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~20 min → 1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25968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4002B"/>
                </a:solidFill>
                <a:latin typeface="Calibri"/>
              </a:rPr>
              <a:t>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2596896"/>
            <a:ext cx="1792589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Time saved per case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8709" y="2596896"/>
            <a:ext cx="129808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19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28254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4002B"/>
                </a:solidFill>
                <a:latin typeface="Calibri"/>
              </a:rPr>
              <a:t>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0712" y="2825496"/>
            <a:ext cx="1792589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Hours released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8709" y="2825496"/>
            <a:ext cx="129808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5,700 h /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30540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4002B"/>
                </a:solidFill>
                <a:latin typeface="Calibri"/>
              </a:rPr>
              <a:t>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10712" y="3054096"/>
            <a:ext cx="1792589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Value of an hour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38709" y="3054096"/>
            <a:ext cx="129808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IDR 60,000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3346704"/>
            <a:ext cx="3090672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46120" y="3346704"/>
            <a:ext cx="309067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95268"/>
                </a:solidFill>
                <a:latin typeface="Calibri"/>
              </a:rPr>
              <a:t>18,000 x 19 min / 60 x IDR 60,000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46120" y="3621024"/>
            <a:ext cx="3090672" cy="530352"/>
          </a:xfrm>
          <a:prstGeom prst="round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46120" y="3621024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E4002B"/>
                </a:solidFill>
                <a:latin typeface="Calibri"/>
              </a:rPr>
              <a:t>IDR 342 Mio / month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IDR 4.1 Bio / year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11112" y="1755648"/>
            <a:ext cx="2697480" cy="246888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611112" y="1755648"/>
            <a:ext cx="2697480" cy="310896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11112" y="175564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FINANCIAL BENEFIT 2 · NTP (NEW TO PRODUCT)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57416" y="21396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22007" y="2139696"/>
            <a:ext cx="139482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Cases handled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2241" y="2139696"/>
            <a:ext cx="101004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18,000 / 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7416" y="23682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4002B"/>
                </a:solidFill>
                <a:latin typeface="Calibri"/>
              </a:rPr>
              <a:t>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7" y="2368296"/>
            <a:ext cx="139482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Ask what to buy</a:t>
            </a:r>
            <a:r>
              <a:rPr sz="900" b="1">
                <a:solidFill>
                  <a:srgbClr val="E4002B"/>
                </a:solidFill>
                <a:latin typeface="Calibri"/>
              </a:rPr>
              <a:t> 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2241" y="2368296"/>
            <a:ext cx="101004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10% = 1,800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57416" y="25968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4002B"/>
                </a:solidFill>
                <a:latin typeface="Calibri"/>
              </a:rPr>
              <a:t>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7" y="2596896"/>
            <a:ext cx="139482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Accept and buy</a:t>
            </a:r>
            <a:r>
              <a:rPr sz="900" b="1">
                <a:solidFill>
                  <a:srgbClr val="E4002B"/>
                </a:solidFill>
                <a:latin typeface="Calibri"/>
              </a:rPr>
              <a:t> 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52241" y="2596896"/>
            <a:ext cx="101004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10% = 180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57416" y="2825496"/>
            <a:ext cx="146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4002B"/>
                </a:solidFill>
                <a:latin typeface="Calibri"/>
              </a:rPr>
              <a:t>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22007" y="2825496"/>
            <a:ext cx="139482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C5359"/>
                </a:solidFill>
                <a:latin typeface="Calibri"/>
              </a:rPr>
              <a:t>Value per purchase</a:t>
            </a:r>
            <a:r>
              <a:rPr sz="900" b="1">
                <a:solidFill>
                  <a:srgbClr val="E4002B"/>
                </a:solidFill>
                <a:latin typeface="Calibri"/>
              </a:rPr>
              <a:t> 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52241" y="2825496"/>
            <a:ext cx="101004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IDR 2.5 Mio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57416" y="3090672"/>
            <a:ext cx="240487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4002B"/>
                </a:solidFill>
                <a:latin typeface="Calibri"/>
              </a:rPr>
              <a:t>*  </a:t>
            </a:r>
            <a:r>
              <a:rPr sz="750" b="0">
                <a:solidFill>
                  <a:srgbClr val="6A7177"/>
                </a:solidFill>
                <a:latin typeface="Calibri"/>
              </a:rPr>
              <a:t>Assumption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57416" y="3346704"/>
            <a:ext cx="2404872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757416" y="3346704"/>
            <a:ext cx="240487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95268"/>
                </a:solidFill>
                <a:latin typeface="Calibri"/>
              </a:rPr>
              <a:t>18,000 x 10% x 10% x IDR 2.5 Mio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57416" y="3621024"/>
            <a:ext cx="2404872" cy="530352"/>
          </a:xfrm>
          <a:prstGeom prst="round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57416" y="3621024"/>
            <a:ext cx="24048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E4002B"/>
                </a:solidFill>
                <a:latin typeface="Calibri"/>
              </a:rPr>
              <a:t>IDR 450 Mio / month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IDR 5.4 Bio / year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36608" y="1755648"/>
            <a:ext cx="2066543" cy="246888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9436608" y="1755648"/>
            <a:ext cx="2066543" cy="310896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36608" y="1755648"/>
            <a:ext cx="206654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FINANCIAL BENEFIT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82912" y="2157984"/>
            <a:ext cx="17739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BA1A7"/>
                </a:solidFill>
                <a:latin typeface="Calibri"/>
              </a:rPr>
              <a:t>PRODUCTIVITY VALUE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82912" y="2286000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282C"/>
                </a:solidFill>
                <a:latin typeface="Calibri"/>
              </a:rPr>
              <a:t>IDR 342 Mio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82912" y="2523744"/>
            <a:ext cx="177393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A7177"/>
                </a:solidFill>
                <a:latin typeface="Calibri"/>
              </a:rPr>
              <a:t>hours released, not cash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82912" y="2688336"/>
            <a:ext cx="1773936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582912" y="2743200"/>
            <a:ext cx="17739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BA1A7"/>
                </a:solidFill>
                <a:latin typeface="Calibri"/>
              </a:rPr>
              <a:t>NTP REVENUE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82912" y="2871216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4002B"/>
                </a:solidFill>
                <a:latin typeface="Calibri"/>
              </a:rPr>
              <a:t>IDR 450 Mio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82912" y="3108960"/>
            <a:ext cx="177393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A7177"/>
                </a:solidFill>
                <a:latin typeface="Calibri"/>
              </a:rPr>
              <a:t>new product sales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82912" y="3273552"/>
            <a:ext cx="1773936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582912" y="332841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A7177"/>
                </a:solidFill>
                <a:latin typeface="Calibri"/>
              </a:rPr>
              <a:t>Running cost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43032" y="3328416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282C"/>
                </a:solidFill>
                <a:latin typeface="Calibri"/>
              </a:rPr>
              <a:t>− IDR 20 Mio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82912" y="3602736"/>
            <a:ext cx="1773936" cy="1270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582912" y="3657600"/>
            <a:ext cx="17739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BA1A7"/>
                </a:solidFill>
                <a:latin typeface="Calibri"/>
              </a:rPr>
              <a:t>A YEAR OF COST, COVERED BY NTP 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82912" y="3785615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82C"/>
                </a:solidFill>
                <a:latin typeface="Calibri"/>
              </a:rPr>
              <a:t>Under a month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82912" y="4005072"/>
            <a:ext cx="17739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BA1A7"/>
                </a:solidFill>
                <a:latin typeface="Calibri"/>
              </a:rPr>
              <a:t>The two are not added: one is time, one is cash.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5800" y="4334256"/>
            <a:ext cx="10820095" cy="292608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85800" y="4334256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NON-FINANCIAL BENEFIT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5800" y="4736592"/>
            <a:ext cx="20616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850392" y="4882896"/>
            <a:ext cx="256032" cy="256032"/>
          </a:xfrm>
          <a:prstGeom prst="ellipse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50392" y="48828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" y="5212080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Faster customer service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0392" y="5687568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7177"/>
                </a:solidFill>
                <a:latin typeface="Calibri"/>
              </a:rPr>
              <a:t>Waiting and response time both come down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875422" y="4736592"/>
            <a:ext cx="20616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3040014" y="4882896"/>
            <a:ext cx="256032" cy="256032"/>
          </a:xfrm>
          <a:prstGeom prst="ellipse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040014" y="48828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40014" y="5212080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Consistent, accurate information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40014" y="5687568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7177"/>
                </a:solidFill>
                <a:latin typeface="Calibri"/>
              </a:rPr>
              <a:t>One source; expired terms are never quoted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065044" y="4736592"/>
            <a:ext cx="20616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229636" y="4882896"/>
            <a:ext cx="256032" cy="256032"/>
          </a:xfrm>
          <a:prstGeom prst="ellipse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229636" y="48828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29636" y="5212080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Higher frontliner productivity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29636" y="5687568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7177"/>
                </a:solidFill>
                <a:latin typeface="Calibri"/>
              </a:rPr>
              <a:t>Time returns to selling and serving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254666" y="4736592"/>
            <a:ext cx="20616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7419258" y="4882896"/>
            <a:ext cx="256032" cy="256032"/>
          </a:xfrm>
          <a:prstGeom prst="ellipse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419258" y="48828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19258" y="5212080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Less dependence on Product Owners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19258" y="5687568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7177"/>
                </a:solidFill>
                <a:latin typeface="Calibri"/>
              </a:rPr>
              <a:t>Fewer escalations for routine answers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444288" y="4736592"/>
            <a:ext cx="20616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9608880" y="4882896"/>
            <a:ext cx="256032" cy="256032"/>
          </a:xfrm>
          <a:prstGeom prst="ellipse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608880" y="48828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8880" y="5212080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Better customer experience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08880" y="5687568"/>
            <a:ext cx="173242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7177"/>
                </a:solidFill>
                <a:latin typeface="Calibri"/>
              </a:rPr>
              <a:t>Answered in the conversation, first time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A717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002B"/>
                </a:solidFill>
                <a:latin typeface="Calibri"/>
              </a:rPr>
              <a:t>PATH TO VALUE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282C"/>
                </a:solidFill>
                <a:latin typeface="Calibri"/>
              </a:rPr>
              <a:t>Capturing the value takes integration, upskilling and a changed workflow; the risk to manage is a full customer view travelling on a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20095" cy="292608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PATH TO VALUE CAPTURE · WHAT HAS TO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21408"/>
            <a:ext cx="2499283" cy="171907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121408"/>
            <a:ext cx="2499283" cy="45720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49424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BA1A7"/>
                </a:solidFill>
                <a:latin typeface="Calibri"/>
              </a:rPr>
              <a:t>ENABLER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7"/>
            <a:ext cx="20969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4282C"/>
                </a:solidFill>
                <a:latin typeface="Calibri"/>
              </a:rPr>
              <a:t>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670048"/>
            <a:ext cx="209694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C5359"/>
                </a:solidFill>
                <a:latin typeface="Calibri"/>
              </a:rPr>
              <a:t>Connect the product content, core banking and the customer feeds so one tool holds product, promo and 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182111"/>
            <a:ext cx="2096947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255263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4282C"/>
                </a:solidFill>
                <a:latin typeface="Calibri"/>
              </a:rPr>
              <a:t>WHAT IT UNLOCKS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01568"/>
            <a:ext cx="209694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282C"/>
                </a:solidFill>
                <a:latin typeface="Calibri"/>
              </a:rPr>
              <a:t>One source behind every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9403" y="2121408"/>
            <a:ext cx="2499283" cy="171907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59403" y="2121408"/>
            <a:ext cx="2499283" cy="45720"/>
          </a:xfrm>
          <a:prstGeom prst="round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60571" y="2249424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BA1A7"/>
                </a:solidFill>
                <a:latin typeface="Calibri"/>
              </a:rPr>
              <a:t>ENABLER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0571" y="2395727"/>
            <a:ext cx="20969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95268"/>
                </a:solidFill>
                <a:latin typeface="Calibri"/>
              </a:rPr>
              <a:t>UPSKILLING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0571" y="2670048"/>
            <a:ext cx="209694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C5359"/>
                </a:solidFill>
                <a:latin typeface="Calibri"/>
              </a:rPr>
              <a:t>RMs learn to ask in plain words and to capture by voice. Light, because voice needs no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0571" y="3182111"/>
            <a:ext cx="2096947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60571" y="3255263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395268"/>
                </a:solidFill>
                <a:latin typeface="Calibri"/>
              </a:rPr>
              <a:t>WHAT IT UNLOCKS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0571" y="3401568"/>
            <a:ext cx="209694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282C"/>
                </a:solidFill>
                <a:latin typeface="Calibri"/>
              </a:rPr>
              <a:t>Every RM can use it, whatever their tech literacy</a:t>
            </a:r>
          </a:p>
        </p:txBody>
      </p:sp>
      <p:sp>
        <p:nvSpPr>
          <p:cNvPr id="25" name="Chevron 24"/>
          <p:cNvSpPr/>
          <p:nvPr/>
        </p:nvSpPr>
        <p:spPr>
          <a:xfrm>
            <a:off x="3212515" y="2862072"/>
            <a:ext cx="219456" cy="237744"/>
          </a:xfrm>
          <a:prstGeom prst="chevron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33007" y="2121408"/>
            <a:ext cx="2499283" cy="171907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33007" y="2121408"/>
            <a:ext cx="2499283" cy="45720"/>
          </a:xfrm>
          <a:prstGeom prst="round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4175" y="2249424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BA1A7"/>
                </a:solidFill>
                <a:latin typeface="Calibri"/>
              </a:rPr>
              <a:t>ENABLER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4175" y="2395727"/>
            <a:ext cx="20969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E6B84"/>
                </a:solidFill>
                <a:latin typeface="Calibri"/>
              </a:rPr>
              <a:t>WORKFLOW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4175" y="2670048"/>
            <a:ext cx="209694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C5359"/>
                </a:solidFill>
                <a:latin typeface="Calibri"/>
              </a:rPr>
              <a:t>The call report becomes a voice note, the pitch deck becomes one click, and the day starts from the ranked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4175" y="3182111"/>
            <a:ext cx="2096947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4175" y="3255263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E6B84"/>
                </a:solidFill>
                <a:latin typeface="Calibri"/>
              </a:rPr>
              <a:t>WHAT IT UNLOCKS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4175" y="3401568"/>
            <a:ext cx="209694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282C"/>
                </a:solidFill>
                <a:latin typeface="Calibri"/>
              </a:rPr>
              <a:t>Time saved becomes time actually released</a:t>
            </a:r>
          </a:p>
        </p:txBody>
      </p:sp>
      <p:sp>
        <p:nvSpPr>
          <p:cNvPr id="34" name="Chevron 33"/>
          <p:cNvSpPr/>
          <p:nvPr/>
        </p:nvSpPr>
        <p:spPr>
          <a:xfrm>
            <a:off x="5986119" y="2862072"/>
            <a:ext cx="219456" cy="237744"/>
          </a:xfrm>
          <a:prstGeom prst="chevron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006611" y="2121408"/>
            <a:ext cx="2499283" cy="171907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006611" y="2121408"/>
            <a:ext cx="2499283" cy="45720"/>
          </a:xfrm>
          <a:prstGeom prst="round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07779" y="2249424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BA1A7"/>
                </a:solidFill>
                <a:latin typeface="Calibri"/>
              </a:rPr>
              <a:t>ENABLER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7779" y="2395727"/>
            <a:ext cx="20969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812C"/>
                </a:solidFill>
                <a:latin typeface="Calibri"/>
              </a:rPr>
              <a:t>ADOPTION &amp; MEASUREMENT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7779" y="2670048"/>
            <a:ext cx="209694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C5359"/>
                </a:solidFill>
                <a:latin typeface="Calibri"/>
              </a:rPr>
              <a:t>Track usage and outcomes so the hours released and the sales opened can be evidenced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7779" y="3182111"/>
            <a:ext cx="2096947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07779" y="3255263"/>
            <a:ext cx="209694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812C"/>
                </a:solidFill>
                <a:latin typeface="Calibri"/>
              </a:rPr>
              <a:t>WHAT IT UNLOCKS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7779" y="3401568"/>
            <a:ext cx="209694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282C"/>
                </a:solidFill>
                <a:latin typeface="Calibri"/>
              </a:rPr>
              <a:t>The benefit can be proven, not claimed</a:t>
            </a:r>
          </a:p>
        </p:txBody>
      </p:sp>
      <p:sp>
        <p:nvSpPr>
          <p:cNvPr id="43" name="Chevron 42"/>
          <p:cNvSpPr/>
          <p:nvPr/>
        </p:nvSpPr>
        <p:spPr>
          <a:xfrm>
            <a:off x="8759723" y="2862072"/>
            <a:ext cx="219456" cy="237744"/>
          </a:xfrm>
          <a:prstGeom prst="chevron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85800" y="3968496"/>
            <a:ext cx="10820095" cy="292608"/>
          </a:xfrm>
          <a:prstGeom prst="round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3968496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CHALLENGES · DATA, ACCESS AND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352544"/>
            <a:ext cx="2087209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50392" y="4498848"/>
            <a:ext cx="256032" cy="256032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0392" y="44988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4828031"/>
            <a:ext cx="175802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Data feeds and integration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5212079"/>
            <a:ext cx="175802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0392" y="5266944"/>
            <a:ext cx="175802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95268"/>
                </a:solidFill>
                <a:latin typeface="Calibri"/>
              </a:rPr>
              <a:t>HOW IT IS MANAGED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" y="5413248"/>
            <a:ext cx="175802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The customer 360 is only as good as the systems behind 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Sequence the feeds before the rollout.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01025" y="4352544"/>
            <a:ext cx="2087209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065617" y="4498848"/>
            <a:ext cx="256032" cy="256032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65617" y="44988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65617" y="4828031"/>
            <a:ext cx="175802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Access rights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5617" y="5212079"/>
            <a:ext cx="175802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65617" y="5266944"/>
            <a:ext cx="175802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95268"/>
                </a:solidFill>
                <a:latin typeface="Calibri"/>
              </a:rPr>
              <a:t>HOW IT IS MANAGED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65617" y="5413248"/>
            <a:ext cx="175802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An RM sees only their own book.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Entitlements enforced at the source, not inside the app.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16250" y="4352544"/>
            <a:ext cx="4174418" cy="1911095"/>
          </a:xfrm>
          <a:prstGeom prst="roundRect">
            <a:avLst/>
          </a:prstGeom>
          <a:solidFill>
            <a:srgbClr val="FBEEF0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280842" y="4498848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80842" y="44988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80842" y="4828031"/>
            <a:ext cx="384523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Customer 360 on a phone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80842" y="5212079"/>
            <a:ext cx="3845234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280842" y="5266944"/>
            <a:ext cx="384523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4002B"/>
                </a:solidFill>
                <a:latin typeface="Calibri"/>
              </a:rPr>
              <a:t>HOW IT IS MANAGED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80842" y="5413248"/>
            <a:ext cx="384523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·  Supervisor approval away from the branch, time limited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·  Session bound: nothing cached, screenshots blocked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·  Sensitive fields masked by default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·  Every view logged against the RM and the customer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18685" y="4352544"/>
            <a:ext cx="2087209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583277" y="4498848"/>
            <a:ext cx="256032" cy="256032"/>
          </a:xfrm>
          <a:prstGeom prst="ellipse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83277" y="44988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83277" y="4828031"/>
            <a:ext cx="175802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4282C"/>
                </a:solidFill>
                <a:latin typeface="Calibri"/>
              </a:rPr>
              <a:t>Data stays inside, and is traceable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83277" y="5212079"/>
            <a:ext cx="175802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583277" y="5266944"/>
            <a:ext cx="1758025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95268"/>
                </a:solidFill>
                <a:latin typeface="Calibri"/>
              </a:rPr>
              <a:t>HOW IT IS MANAGED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83277" y="5413248"/>
            <a:ext cx="1758025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It runs inside the bank's own network; nothing leaves the perimeter.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A7177"/>
                </a:solidFill>
                <a:latin typeface="Calibri"/>
              </a:rPr>
              <a:t>Every answer cites its document and every view is attributable.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A717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E4002B"/>
                </a:solidFill>
                <a:latin typeface="Calibri"/>
              </a:rPr>
              <a:t>APPENDIX · ARCHITECTURE AND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>
                <a:solidFill>
                  <a:srgbClr val="24282C"/>
                </a:solidFill>
                <a:latin typeface="Calibri"/>
              </a:rPr>
              <a:t>Four layers, each replaceable on its own: the model can move on-prem without touching the app, and the app can change without touching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20095" cy="71323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64008" cy="713232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93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24282C"/>
                </a:solidFill>
                <a:latin typeface="Calibri"/>
              </a:rP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what the RM touches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929384"/>
            <a:ext cx="290870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0048" y="1929384"/>
            <a:ext cx="268925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ORBIT web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8754" y="1929384"/>
            <a:ext cx="290870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88482" y="1929384"/>
            <a:ext cx="268925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Voice in, voice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7188" y="1929384"/>
            <a:ext cx="290870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06916" y="1929384"/>
            <a:ext cx="268925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Phone, tablet, desktop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587752"/>
            <a:ext cx="10820095" cy="71323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587752"/>
            <a:ext cx="64008" cy="713232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73405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395268"/>
                </a:solidFill>
                <a:latin typeface="Calibri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what listens, answers and speaks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2734056"/>
            <a:ext cx="2154097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70048" y="2734056"/>
            <a:ext cx="193464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Qwen ASR: speech to 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4145" y="2734056"/>
            <a:ext cx="2154097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3873" y="2734056"/>
            <a:ext cx="193464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Chat orchestration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7971" y="2734056"/>
            <a:ext cx="2154097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97699" y="2734056"/>
            <a:ext cx="193464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Librarian: walks the wiki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51797" y="2734056"/>
            <a:ext cx="2154097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1525" y="2734056"/>
            <a:ext cx="193464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Qwen TTS: text to speech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392424"/>
            <a:ext cx="10820095" cy="71323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3392424"/>
            <a:ext cx="64008" cy="713232"/>
          </a:xfrm>
          <a:prstGeom prst="rect">
            <a:avLst/>
          </a:prstGeom>
          <a:solidFill>
            <a:srgbClr val="4E6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53872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4E6B84"/>
                </a:solidFill>
                <a:latin typeface="Calibri"/>
              </a:rPr>
              <a:t>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77647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what it knows about the customer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538728"/>
            <a:ext cx="4417923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70048" y="3538728"/>
            <a:ext cx="41984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RM service: customers, portfolios, holdings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7971" y="3538728"/>
            <a:ext cx="4417923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97699" y="3538728"/>
            <a:ext cx="419846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Transactions and interaction 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197096"/>
            <a:ext cx="10820095" cy="713232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4197096"/>
            <a:ext cx="64008" cy="713232"/>
          </a:xfrm>
          <a:prstGeom prst="rect">
            <a:avLst/>
          </a:prstGeom>
          <a:solidFill>
            <a:srgbClr val="B0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B0812C"/>
                </a:solidFill>
                <a:latin typeface="Calibri"/>
              </a:rPr>
              <a:t>DATA AND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81144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what it runs 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0" y="4343400"/>
            <a:ext cx="290870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70048" y="4343400"/>
            <a:ext cx="268925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Wiki corpus: product and promo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8754" y="4343400"/>
            <a:ext cx="290870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88482" y="4343400"/>
            <a:ext cx="268925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Customer and portfolio data store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7188" y="4343400"/>
            <a:ext cx="290870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06916" y="4343400"/>
            <a:ext cx="268925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0">
                <a:solidFill>
                  <a:srgbClr val="24282C"/>
                </a:solidFill>
                <a:latin typeface="Calibri"/>
              </a:rPr>
              <a:t>Qwen 3.8 27B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029200"/>
            <a:ext cx="10820095" cy="274320"/>
          </a:xfrm>
          <a:prstGeom prst="round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50292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376672"/>
            <a:ext cx="353354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5800" y="5376672"/>
            <a:ext cx="45720" cy="402336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" y="5422392"/>
            <a:ext cx="325922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24282C"/>
                </a:solidFill>
                <a:latin typeface="Calibri"/>
              </a:rPr>
              <a:t>Python + FastAPI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" y="5596128"/>
            <a:ext cx="325922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Librarian, chat orchestration, customer and portfolio APIs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29074" y="5376672"/>
            <a:ext cx="353354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29074" y="5376672"/>
            <a:ext cx="45720" cy="402336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75378" y="5422392"/>
            <a:ext cx="325922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24282C"/>
                </a:solidFill>
                <a:latin typeface="Calibri"/>
              </a:rPr>
              <a:t>React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378" y="5596128"/>
            <a:ext cx="325922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ORBIT web app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72348" y="5376672"/>
            <a:ext cx="353354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972348" y="5376672"/>
            <a:ext cx="45720" cy="402336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18652" y="5422392"/>
            <a:ext cx="325922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24282C"/>
                </a:solidFill>
                <a:latin typeface="Calibri"/>
              </a:rPr>
              <a:t>Qwen 3.8 27B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8652" y="5596128"/>
            <a:ext cx="325922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The language model, on-prem capable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5852160"/>
            <a:ext cx="353354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85800" y="5852160"/>
            <a:ext cx="45720" cy="402336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2104" y="5897880"/>
            <a:ext cx="325922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24282C"/>
                </a:solidFill>
                <a:latin typeface="Calibri"/>
              </a:rPr>
              <a:t>Qwen ASR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" y="6071616"/>
            <a:ext cx="325922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Speech to text, so the RM can just talk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29074" y="5852160"/>
            <a:ext cx="353354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329074" y="5852160"/>
            <a:ext cx="45720" cy="402336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75378" y="5897880"/>
            <a:ext cx="325922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24282C"/>
                </a:solidFill>
                <a:latin typeface="Calibri"/>
              </a:rPr>
              <a:t>Qwen TTS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5378" y="6071616"/>
            <a:ext cx="325922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Text to speech, for answers read back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72348" y="5852160"/>
            <a:ext cx="353354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972348" y="5852160"/>
            <a:ext cx="45720" cy="402336"/>
          </a:xfrm>
          <a:prstGeom prst="rect">
            <a:avLst/>
          </a:prstGeom>
          <a:solidFill>
            <a:srgbClr val="39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118652" y="5897880"/>
            <a:ext cx="325922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24282C"/>
                </a:solidFill>
                <a:latin typeface="Calibri"/>
              </a:rPr>
              <a:t>Wiki corpus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18652" y="6071616"/>
            <a:ext cx="325922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>
                <a:solidFill>
                  <a:srgbClr val="6A7177"/>
                </a:solidFill>
                <a:latin typeface="Calibri"/>
              </a:rPr>
              <a:t>One document per page, every answer cited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1">
                <a:solidFill>
                  <a:srgbClr val="6A717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E4002B"/>
                </a:solidFill>
                <a:latin typeface="Calibri"/>
              </a:rPr>
              <a:t>APPENDIX · BENEFIT AND COST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>
                <a:solidFill>
                  <a:srgbClr val="24282C"/>
                </a:solidFill>
                <a:latin typeface="Calibri"/>
              </a:rPr>
              <a:t>How every figure in this deck was arrived at, with the formula behind each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0820095" cy="21590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822960" cy="2159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27632"/>
          <a:ext cx="10817352" cy="4590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Cost or benefit</a:t>
                      </a:r>
                    </a:p>
                  </a:txBody>
                  <a:tcPr marL="73152" marR="73152" marT="27432" marB="27432" anchor="ctr">
                    <a:solidFill>
                      <a:srgbClr val="2428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2428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Metric, and the formula</a:t>
                      </a:r>
                    </a:p>
                  </a:txBody>
                  <a:tcPr marL="73152" marR="73152" marT="27432" marB="27432" anchor="ctr">
                    <a:solidFill>
                      <a:srgbClr val="2428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Assumption and source</a:t>
                      </a:r>
                    </a:p>
                  </a:txBody>
                  <a:tcPr marL="73152" marR="73152" marT="27432" marB="27432" anchor="ctr">
                    <a:solidFill>
                      <a:srgbClr val="2428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73152" marR="73152" marT="27432" marB="27432" anchor="ctr">
                    <a:solidFill>
                      <a:srgbClr val="242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CAPEX, one 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1">
                          <a:solidFill>
                            <a:srgbClr val="E4002B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Database, 500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Storage provisioning for the wiki corpus and the system of record. Not yet costed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E4002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OPEX, per year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1">
                          <a:solidFill>
                            <a:srgbClr val="E4002B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IDR 240 Mio a year, IDR 20 Mio a month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750" b="1">
                          <a:solidFill>
                            <a:srgbClr val="395268"/>
                          </a:solidFill>
                          <a:latin typeface="Calibri"/>
                        </a:rPr>
                        <a:t>3 MD + 30 MD + 15 MD + IDR 200 Mio + IDR 6 Mio = IDR 240 Mio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Database IT direct charge 3 MD, develop ORBIT 30 MD, deployment 15 MD, Cloudera licence IDR 200 Mio, Cloudera maintenance IDR 6 Mio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B0812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Productivity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0">
                          <a:solidFill>
                            <a:srgbClr val="4C5359"/>
                          </a:solidFill>
                          <a:latin typeface="Calibri"/>
                        </a:rPr>
                        <a:t>Quantified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5,700 hours a month, IDR 342 Mio a month, IDR 4.1 Bio a year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750" b="1">
                          <a:solidFill>
                            <a:srgbClr val="395268"/>
                          </a:solidFill>
                          <a:latin typeface="Calibri"/>
                        </a:rPr>
                        <a:t>18,000 x 19 min / 60 x IDR 60,000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18,000 cases a month; 20 min today to 1 min; IDR 60,000 an hour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B0812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New-to-product revenue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0">
                          <a:solidFill>
                            <a:srgbClr val="4C5359"/>
                          </a:solidFill>
                          <a:latin typeface="Calibri"/>
                        </a:rPr>
                        <a:t>Quantified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180 purchases a month, IDR 450 Mio a month, IDR 5.4 Bio a year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750" b="1">
                          <a:solidFill>
                            <a:srgbClr val="395268"/>
                          </a:solidFill>
                          <a:latin typeface="Calibri"/>
                        </a:rPr>
                        <a:t>18,000 x 10% x 10% x IDR 2.5 Mio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1 in 10 ask what to buy, 1 in 10 of those buy, IDR 2.5 Mio each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B0812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Faster customer service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0">
                          <a:solidFill>
                            <a:srgbClr val="4C5359"/>
                          </a:solidFill>
                          <a:latin typeface="Calibri"/>
                        </a:rPr>
                        <a:t>Qualitative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Waiting and response time at the counter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Follows from the handling-time reduction above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B0812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Consistent, accurate information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0">
                          <a:solidFill>
                            <a:srgbClr val="4C5359"/>
                          </a:solidFill>
                          <a:latin typeface="Calibri"/>
                        </a:rPr>
                        <a:t>Qualitative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Variance between answers; expired offers quoted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One sourced wiki; every answer cites its document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39526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Higher frontliner productivity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0">
                          <a:solidFill>
                            <a:srgbClr val="4C5359"/>
                          </a:solidFill>
                          <a:latin typeface="Calibri"/>
                        </a:rPr>
                        <a:t>Qualitative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Share of time serving rather than searching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Same basis as the productivity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B0812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Less dependence on Product Owners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0">
                          <a:solidFill>
                            <a:srgbClr val="4C5359"/>
                          </a:solidFill>
                          <a:latin typeface="Calibri"/>
                        </a:rPr>
                        <a:t>Qualitative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Routine escalations a month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Fewer escalations once answers are self-serve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B0812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24282C"/>
                          </a:solidFill>
                          <a:latin typeface="Calibri"/>
                        </a:rPr>
                        <a:t>Better customer experience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00" b="0">
                          <a:solidFill>
                            <a:srgbClr val="4C5359"/>
                          </a:solidFill>
                          <a:latin typeface="Calibri"/>
                        </a:rPr>
                        <a:t>Qualitative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4C5359"/>
                          </a:solidFill>
                          <a:latin typeface="Calibri"/>
                        </a:rPr>
                        <a:t>NPS and first-contact resolution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850" b="0">
                          <a:solidFill>
                            <a:srgbClr val="6A7177"/>
                          </a:solidFill>
                          <a:latin typeface="Calibri"/>
                        </a:rPr>
                        <a:t>NPS H1 2025: 38% complained about the answers given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850" b="1">
                          <a:solidFill>
                            <a:srgbClr val="B0812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6419088"/>
            <a:ext cx="10820095" cy="9525"/>
          </a:xfrm>
          <a:prstGeom prst="rect">
            <a:avLst/>
          </a:prstGeom>
          <a:solidFill>
            <a:srgbClr val="E2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9BA1A7"/>
                </a:solidFill>
                <a:latin typeface="Calibri"/>
              </a:rPr>
              <a:t>ORBIT · Omnichannel Relationship and Banking Intelligence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1">
                <a:solidFill>
                  <a:srgbClr val="6A717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1733</Words>
  <Application>Microsoft Office PowerPoint</Application>
  <PresentationFormat>Widescreen</PresentationFormat>
  <Paragraphs>306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bambang.sinaga</dc:creator>
  <cp:keywords/>
  <dc:description>generated using python-pptx</dc:description>
  <cp:lastModifiedBy>Bambang Hartono</cp:lastModifiedBy>
  <cp:revision>17</cp:revision>
  <dcterms:created xsi:type="dcterms:W3CDTF">2013-01-27T09:14:16Z</dcterms:created>
  <dcterms:modified xsi:type="dcterms:W3CDTF">2026-09-24T18:00:44Z</dcterms:modified>
  <cp:category/>
</cp:coreProperties>
</file>