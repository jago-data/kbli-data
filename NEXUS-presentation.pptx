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PROBLEM STATEMENT</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The team that has to execute an objective waits days for every answer, and has no single place to size it, test it or track what it did</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01</a:t>
            </a:r>
          </a:p>
        </p:txBody>
      </p:sp>
      <p:sp>
        <p:nvSpPr>
          <p:cNvPr id="10" name="TextBox 9"/>
          <p:cNvSpPr txBox="1"/>
          <p:nvPr/>
        </p:nvSpPr>
        <p:spPr>
          <a:xfrm>
            <a:off x="685800" y="1645920"/>
            <a:ext cx="6400800" cy="18288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2E5A88"/>
                </a:solidFill>
                <a:latin typeface="Calibri"/>
              </a:rPr>
              <a:t>WHAT EVERY OBJECTIVE HAS TO ANSWER, ONE QUESTION AFTER ANOTHER</a:t>
            </a:r>
          </a:p>
        </p:txBody>
      </p:sp>
      <p:sp>
        <p:nvSpPr>
          <p:cNvPr id="11" name="Rounded Rectangle 10"/>
          <p:cNvSpPr/>
          <p:nvPr/>
        </p:nvSpPr>
        <p:spPr>
          <a:xfrm>
            <a:off x="685800" y="1847088"/>
            <a:ext cx="1666189" cy="493776"/>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6384" y="1911095"/>
            <a:ext cx="192024" cy="192024"/>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911095"/>
            <a:ext cx="192024" cy="192024"/>
          </a:xfrm>
          <a:prstGeom prst="rect">
            <a:avLst/>
          </a:prstGeom>
          <a:noFill/>
        </p:spPr>
        <p:txBody>
          <a:bodyPr wrap="square" anchor="ctr" lIns="0" rIns="0" tIns="0" bIns="0">
            <a:spAutoFit/>
          </a:bodyPr>
          <a:lstStyle/>
          <a:p>
            <a:pPr algn="ctr">
              <a:lnSpc>
                <a:spcPct val="104000"/>
              </a:lnSpc>
              <a:spcBef>
                <a:spcPts val="0"/>
              </a:spcBef>
              <a:spcAft>
                <a:spcPts val="0"/>
              </a:spcAft>
            </a:pPr>
            <a:r>
              <a:rPr sz="750" b="1">
                <a:solidFill>
                  <a:srgbClr val="FFFFFF"/>
                </a:solidFill>
                <a:latin typeface="Calibri"/>
              </a:rPr>
              <a:t>1</a:t>
            </a:r>
          </a:p>
        </p:txBody>
      </p:sp>
      <p:sp>
        <p:nvSpPr>
          <p:cNvPr id="14" name="TextBox 13"/>
          <p:cNvSpPr txBox="1"/>
          <p:nvPr/>
        </p:nvSpPr>
        <p:spPr>
          <a:xfrm>
            <a:off x="1033271" y="1892807"/>
            <a:ext cx="1208989" cy="420624"/>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16202E"/>
                </a:solidFill>
                <a:latin typeface="Calibri"/>
              </a:rPr>
              <a:t>Who holds the product today, and where?</a:t>
            </a:r>
          </a:p>
        </p:txBody>
      </p:sp>
      <p:sp>
        <p:nvSpPr>
          <p:cNvPr id="15" name="TextBox 14"/>
          <p:cNvSpPr txBox="1"/>
          <p:nvPr/>
        </p:nvSpPr>
        <p:spPr>
          <a:xfrm>
            <a:off x="2361133" y="1847088"/>
            <a:ext cx="146304" cy="493776"/>
          </a:xfrm>
          <a:prstGeom prst="rect">
            <a:avLst/>
          </a:prstGeom>
          <a:noFill/>
        </p:spPr>
        <p:txBody>
          <a:bodyPr wrap="square" anchor="ctr" lIns="0" rIns="0" tIns="0" bIns="0">
            <a:spAutoFit/>
          </a:bodyPr>
          <a:lstStyle/>
          <a:p>
            <a:pPr algn="ctr">
              <a:lnSpc>
                <a:spcPct val="104000"/>
              </a:lnSpc>
              <a:spcBef>
                <a:spcPts val="0"/>
              </a:spcBef>
              <a:spcAft>
                <a:spcPts val="0"/>
              </a:spcAft>
            </a:pPr>
            <a:r>
              <a:rPr sz="1300" b="1">
                <a:solidFill>
                  <a:srgbClr val="9BA1A7"/>
                </a:solidFill>
                <a:latin typeface="Calibri"/>
              </a:rPr>
              <a:t>›</a:t>
            </a:r>
          </a:p>
        </p:txBody>
      </p:sp>
      <p:sp>
        <p:nvSpPr>
          <p:cNvPr id="16" name="Rounded Rectangle 15"/>
          <p:cNvSpPr/>
          <p:nvPr/>
        </p:nvSpPr>
        <p:spPr>
          <a:xfrm>
            <a:off x="2516581" y="1847088"/>
            <a:ext cx="1666189" cy="493776"/>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617165" y="1911095"/>
            <a:ext cx="192024" cy="192024"/>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7165" y="1911095"/>
            <a:ext cx="192024" cy="192024"/>
          </a:xfrm>
          <a:prstGeom prst="rect">
            <a:avLst/>
          </a:prstGeom>
          <a:noFill/>
        </p:spPr>
        <p:txBody>
          <a:bodyPr wrap="square" anchor="ctr" lIns="0" rIns="0" tIns="0" bIns="0">
            <a:spAutoFit/>
          </a:bodyPr>
          <a:lstStyle/>
          <a:p>
            <a:pPr algn="ctr">
              <a:lnSpc>
                <a:spcPct val="104000"/>
              </a:lnSpc>
              <a:spcBef>
                <a:spcPts val="0"/>
              </a:spcBef>
              <a:spcAft>
                <a:spcPts val="0"/>
              </a:spcAft>
            </a:pPr>
            <a:r>
              <a:rPr sz="750" b="1">
                <a:solidFill>
                  <a:srgbClr val="FFFFFF"/>
                </a:solidFill>
                <a:latin typeface="Calibri"/>
              </a:rPr>
              <a:t>2</a:t>
            </a:r>
          </a:p>
        </p:txBody>
      </p:sp>
      <p:sp>
        <p:nvSpPr>
          <p:cNvPr id="19" name="TextBox 18"/>
          <p:cNvSpPr txBox="1"/>
          <p:nvPr/>
        </p:nvSpPr>
        <p:spPr>
          <a:xfrm>
            <a:off x="2864053" y="1892807"/>
            <a:ext cx="1208989" cy="420624"/>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16202E"/>
                </a:solidFill>
                <a:latin typeface="Calibri"/>
              </a:rPr>
              <a:t>Which segment should we improve?</a:t>
            </a:r>
          </a:p>
        </p:txBody>
      </p:sp>
      <p:sp>
        <p:nvSpPr>
          <p:cNvPr id="20" name="TextBox 19"/>
          <p:cNvSpPr txBox="1"/>
          <p:nvPr/>
        </p:nvSpPr>
        <p:spPr>
          <a:xfrm>
            <a:off x="4191914" y="1847088"/>
            <a:ext cx="146304" cy="493776"/>
          </a:xfrm>
          <a:prstGeom prst="rect">
            <a:avLst/>
          </a:prstGeom>
          <a:noFill/>
        </p:spPr>
        <p:txBody>
          <a:bodyPr wrap="square" anchor="ctr" lIns="0" rIns="0" tIns="0" bIns="0">
            <a:spAutoFit/>
          </a:bodyPr>
          <a:lstStyle/>
          <a:p>
            <a:pPr algn="ctr">
              <a:lnSpc>
                <a:spcPct val="104000"/>
              </a:lnSpc>
              <a:spcBef>
                <a:spcPts val="0"/>
              </a:spcBef>
              <a:spcAft>
                <a:spcPts val="0"/>
              </a:spcAft>
            </a:pPr>
            <a:r>
              <a:rPr sz="1300" b="1">
                <a:solidFill>
                  <a:srgbClr val="9BA1A7"/>
                </a:solidFill>
                <a:latin typeface="Calibri"/>
              </a:rPr>
              <a:t>›</a:t>
            </a:r>
          </a:p>
        </p:txBody>
      </p:sp>
      <p:sp>
        <p:nvSpPr>
          <p:cNvPr id="21" name="Rounded Rectangle 20"/>
          <p:cNvSpPr/>
          <p:nvPr/>
        </p:nvSpPr>
        <p:spPr>
          <a:xfrm>
            <a:off x="4347362" y="1847088"/>
            <a:ext cx="1666189" cy="493776"/>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47946" y="1911095"/>
            <a:ext cx="192024" cy="192024"/>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7946" y="1911095"/>
            <a:ext cx="192024" cy="192024"/>
          </a:xfrm>
          <a:prstGeom prst="rect">
            <a:avLst/>
          </a:prstGeom>
          <a:noFill/>
        </p:spPr>
        <p:txBody>
          <a:bodyPr wrap="square" anchor="ctr" lIns="0" rIns="0" tIns="0" bIns="0">
            <a:spAutoFit/>
          </a:bodyPr>
          <a:lstStyle/>
          <a:p>
            <a:pPr algn="ctr">
              <a:lnSpc>
                <a:spcPct val="104000"/>
              </a:lnSpc>
              <a:spcBef>
                <a:spcPts val="0"/>
              </a:spcBef>
              <a:spcAft>
                <a:spcPts val="0"/>
              </a:spcAft>
            </a:pPr>
            <a:r>
              <a:rPr sz="750" b="1">
                <a:solidFill>
                  <a:srgbClr val="FFFFFF"/>
                </a:solidFill>
                <a:latin typeface="Calibri"/>
              </a:rPr>
              <a:t>3</a:t>
            </a:r>
          </a:p>
        </p:txBody>
      </p:sp>
      <p:sp>
        <p:nvSpPr>
          <p:cNvPr id="24" name="TextBox 23"/>
          <p:cNvSpPr txBox="1"/>
          <p:nvPr/>
        </p:nvSpPr>
        <p:spPr>
          <a:xfrm>
            <a:off x="4694834" y="1892807"/>
            <a:ext cx="1208989" cy="420624"/>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16202E"/>
                </a:solidFill>
                <a:latin typeface="Calibri"/>
              </a:rPr>
              <a:t>What is the optimal target market?</a:t>
            </a:r>
          </a:p>
        </p:txBody>
      </p:sp>
      <p:sp>
        <p:nvSpPr>
          <p:cNvPr id="25" name="TextBox 24"/>
          <p:cNvSpPr txBox="1"/>
          <p:nvPr/>
        </p:nvSpPr>
        <p:spPr>
          <a:xfrm>
            <a:off x="6022695" y="1847088"/>
            <a:ext cx="146304" cy="493776"/>
          </a:xfrm>
          <a:prstGeom prst="rect">
            <a:avLst/>
          </a:prstGeom>
          <a:noFill/>
        </p:spPr>
        <p:txBody>
          <a:bodyPr wrap="square" anchor="ctr" lIns="0" rIns="0" tIns="0" bIns="0">
            <a:spAutoFit/>
          </a:bodyPr>
          <a:lstStyle/>
          <a:p>
            <a:pPr algn="ctr">
              <a:lnSpc>
                <a:spcPct val="104000"/>
              </a:lnSpc>
              <a:spcBef>
                <a:spcPts val="0"/>
              </a:spcBef>
              <a:spcAft>
                <a:spcPts val="0"/>
              </a:spcAft>
            </a:pPr>
            <a:r>
              <a:rPr sz="1300" b="1">
                <a:solidFill>
                  <a:srgbClr val="9BA1A7"/>
                </a:solidFill>
                <a:latin typeface="Calibri"/>
              </a:rPr>
              <a:t>›</a:t>
            </a:r>
          </a:p>
        </p:txBody>
      </p:sp>
      <p:sp>
        <p:nvSpPr>
          <p:cNvPr id="26" name="Rounded Rectangle 25"/>
          <p:cNvSpPr/>
          <p:nvPr/>
        </p:nvSpPr>
        <p:spPr>
          <a:xfrm>
            <a:off x="6178143" y="1847088"/>
            <a:ext cx="1666189" cy="493776"/>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78727" y="1911095"/>
            <a:ext cx="192024" cy="192024"/>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7" y="1911095"/>
            <a:ext cx="192024" cy="192024"/>
          </a:xfrm>
          <a:prstGeom prst="rect">
            <a:avLst/>
          </a:prstGeom>
          <a:noFill/>
        </p:spPr>
        <p:txBody>
          <a:bodyPr wrap="square" anchor="ctr" lIns="0" rIns="0" tIns="0" bIns="0">
            <a:spAutoFit/>
          </a:bodyPr>
          <a:lstStyle/>
          <a:p>
            <a:pPr algn="ctr">
              <a:lnSpc>
                <a:spcPct val="104000"/>
              </a:lnSpc>
              <a:spcBef>
                <a:spcPts val="0"/>
              </a:spcBef>
              <a:spcAft>
                <a:spcPts val="0"/>
              </a:spcAft>
            </a:pPr>
            <a:r>
              <a:rPr sz="750" b="1">
                <a:solidFill>
                  <a:srgbClr val="FFFFFF"/>
                </a:solidFill>
                <a:latin typeface="Calibri"/>
              </a:rPr>
              <a:t>4</a:t>
            </a:r>
          </a:p>
        </p:txBody>
      </p:sp>
      <p:sp>
        <p:nvSpPr>
          <p:cNvPr id="29" name="TextBox 28"/>
          <p:cNvSpPr txBox="1"/>
          <p:nvPr/>
        </p:nvSpPr>
        <p:spPr>
          <a:xfrm>
            <a:off x="6525615" y="1892807"/>
            <a:ext cx="1208989" cy="420624"/>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16202E"/>
                </a:solidFill>
                <a:latin typeface="Calibri"/>
              </a:rPr>
              <a:t>What happens if we run it?</a:t>
            </a:r>
          </a:p>
        </p:txBody>
      </p:sp>
      <p:sp>
        <p:nvSpPr>
          <p:cNvPr id="30" name="TextBox 29"/>
          <p:cNvSpPr txBox="1"/>
          <p:nvPr/>
        </p:nvSpPr>
        <p:spPr>
          <a:xfrm>
            <a:off x="7853476" y="1847088"/>
            <a:ext cx="146304" cy="493776"/>
          </a:xfrm>
          <a:prstGeom prst="rect">
            <a:avLst/>
          </a:prstGeom>
          <a:noFill/>
        </p:spPr>
        <p:txBody>
          <a:bodyPr wrap="square" anchor="ctr" lIns="0" rIns="0" tIns="0" bIns="0">
            <a:spAutoFit/>
          </a:bodyPr>
          <a:lstStyle/>
          <a:p>
            <a:pPr algn="ctr">
              <a:lnSpc>
                <a:spcPct val="104000"/>
              </a:lnSpc>
              <a:spcBef>
                <a:spcPts val="0"/>
              </a:spcBef>
              <a:spcAft>
                <a:spcPts val="0"/>
              </a:spcAft>
            </a:pPr>
            <a:r>
              <a:rPr sz="1300" b="1">
                <a:solidFill>
                  <a:srgbClr val="9BA1A7"/>
                </a:solidFill>
                <a:latin typeface="Calibri"/>
              </a:rPr>
              <a:t>›</a:t>
            </a:r>
          </a:p>
        </p:txBody>
      </p:sp>
      <p:sp>
        <p:nvSpPr>
          <p:cNvPr id="31" name="Rounded Rectangle 30"/>
          <p:cNvSpPr/>
          <p:nvPr/>
        </p:nvSpPr>
        <p:spPr>
          <a:xfrm>
            <a:off x="8008924" y="1847088"/>
            <a:ext cx="1666189" cy="493776"/>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09508" y="1911095"/>
            <a:ext cx="192024" cy="192024"/>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9508" y="1911095"/>
            <a:ext cx="192024" cy="192024"/>
          </a:xfrm>
          <a:prstGeom prst="rect">
            <a:avLst/>
          </a:prstGeom>
          <a:noFill/>
        </p:spPr>
        <p:txBody>
          <a:bodyPr wrap="square" anchor="ctr" lIns="0" rIns="0" tIns="0" bIns="0">
            <a:spAutoFit/>
          </a:bodyPr>
          <a:lstStyle/>
          <a:p>
            <a:pPr algn="ctr">
              <a:lnSpc>
                <a:spcPct val="104000"/>
              </a:lnSpc>
              <a:spcBef>
                <a:spcPts val="0"/>
              </a:spcBef>
              <a:spcAft>
                <a:spcPts val="0"/>
              </a:spcAft>
            </a:pPr>
            <a:r>
              <a:rPr sz="750" b="1">
                <a:solidFill>
                  <a:srgbClr val="FFFFFF"/>
                </a:solidFill>
                <a:latin typeface="Calibri"/>
              </a:rPr>
              <a:t>5</a:t>
            </a:r>
          </a:p>
        </p:txBody>
      </p:sp>
      <p:sp>
        <p:nvSpPr>
          <p:cNvPr id="34" name="TextBox 33"/>
          <p:cNvSpPr txBox="1"/>
          <p:nvPr/>
        </p:nvSpPr>
        <p:spPr>
          <a:xfrm>
            <a:off x="8356396" y="1892807"/>
            <a:ext cx="1208989" cy="420624"/>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16202E"/>
                </a:solidFill>
                <a:latin typeface="Calibri"/>
              </a:rPr>
              <a:t>Build the campaign and the A/B test</a:t>
            </a:r>
          </a:p>
        </p:txBody>
      </p:sp>
      <p:sp>
        <p:nvSpPr>
          <p:cNvPr id="35" name="TextBox 34"/>
          <p:cNvSpPr txBox="1"/>
          <p:nvPr/>
        </p:nvSpPr>
        <p:spPr>
          <a:xfrm>
            <a:off x="9684258" y="1847088"/>
            <a:ext cx="146304" cy="493776"/>
          </a:xfrm>
          <a:prstGeom prst="rect">
            <a:avLst/>
          </a:prstGeom>
          <a:noFill/>
        </p:spPr>
        <p:txBody>
          <a:bodyPr wrap="square" anchor="ctr" lIns="0" rIns="0" tIns="0" bIns="0">
            <a:spAutoFit/>
          </a:bodyPr>
          <a:lstStyle/>
          <a:p>
            <a:pPr algn="ctr">
              <a:lnSpc>
                <a:spcPct val="104000"/>
              </a:lnSpc>
              <a:spcBef>
                <a:spcPts val="0"/>
              </a:spcBef>
              <a:spcAft>
                <a:spcPts val="0"/>
              </a:spcAft>
            </a:pPr>
            <a:r>
              <a:rPr sz="1300" b="1">
                <a:solidFill>
                  <a:srgbClr val="9BA1A7"/>
                </a:solidFill>
                <a:latin typeface="Calibri"/>
              </a:rPr>
              <a:t>›</a:t>
            </a:r>
          </a:p>
        </p:txBody>
      </p:sp>
      <p:sp>
        <p:nvSpPr>
          <p:cNvPr id="36" name="Rounded Rectangle 35"/>
          <p:cNvSpPr/>
          <p:nvPr/>
        </p:nvSpPr>
        <p:spPr>
          <a:xfrm>
            <a:off x="9839706" y="1847088"/>
            <a:ext cx="1666189" cy="493776"/>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940290" y="1911095"/>
            <a:ext cx="192024" cy="192024"/>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40290" y="1911095"/>
            <a:ext cx="192024" cy="192024"/>
          </a:xfrm>
          <a:prstGeom prst="rect">
            <a:avLst/>
          </a:prstGeom>
          <a:noFill/>
        </p:spPr>
        <p:txBody>
          <a:bodyPr wrap="square" anchor="ctr" lIns="0" rIns="0" tIns="0" bIns="0">
            <a:spAutoFit/>
          </a:bodyPr>
          <a:lstStyle/>
          <a:p>
            <a:pPr algn="ctr">
              <a:lnSpc>
                <a:spcPct val="104000"/>
              </a:lnSpc>
              <a:spcBef>
                <a:spcPts val="0"/>
              </a:spcBef>
              <a:spcAft>
                <a:spcPts val="0"/>
              </a:spcAft>
            </a:pPr>
            <a:r>
              <a:rPr sz="750" b="1">
                <a:solidFill>
                  <a:srgbClr val="FFFFFF"/>
                </a:solidFill>
                <a:latin typeface="Calibri"/>
              </a:rPr>
              <a:t>6</a:t>
            </a:r>
          </a:p>
        </p:txBody>
      </p:sp>
      <p:sp>
        <p:nvSpPr>
          <p:cNvPr id="39" name="TextBox 38"/>
          <p:cNvSpPr txBox="1"/>
          <p:nvPr/>
        </p:nvSpPr>
        <p:spPr>
          <a:xfrm>
            <a:off x="10187178" y="1892807"/>
            <a:ext cx="1208989" cy="420624"/>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16202E"/>
                </a:solidFill>
                <a:latin typeface="Calibri"/>
              </a:rPr>
              <a:t>Is it working, and what do we fix?</a:t>
            </a:r>
          </a:p>
        </p:txBody>
      </p:sp>
      <p:sp>
        <p:nvSpPr>
          <p:cNvPr id="40" name="Rounded Rectangle 39"/>
          <p:cNvSpPr/>
          <p:nvPr/>
        </p:nvSpPr>
        <p:spPr>
          <a:xfrm>
            <a:off x="685800" y="2487168"/>
            <a:ext cx="5422392" cy="2103119"/>
          </a:xfrm>
          <a:prstGeom prst="roundRect">
            <a:avLst/>
          </a:prstGeom>
          <a:solidFill>
            <a:srgbClr val="FDFDFE"/>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2487168"/>
            <a:ext cx="5422392"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 y="2606040"/>
            <a:ext cx="5093208" cy="18288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D42030"/>
                </a:solidFill>
                <a:latin typeface="Calibri"/>
              </a:rPr>
              <a:t>THE PATH ONE REQUEST TAKES TODAY</a:t>
            </a:r>
          </a:p>
        </p:txBody>
      </p:sp>
      <p:sp>
        <p:nvSpPr>
          <p:cNvPr id="43" name="Rounded Rectangle 42"/>
          <p:cNvSpPr/>
          <p:nvPr/>
        </p:nvSpPr>
        <p:spPr>
          <a:xfrm>
            <a:off x="6080760" y="2487168"/>
            <a:ext cx="5422392" cy="2103119"/>
          </a:xfrm>
          <a:prstGeom prst="roundRect">
            <a:avLst/>
          </a:prstGeom>
          <a:solidFill>
            <a:srgbClr val="FDFDFE"/>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080760" y="2487168"/>
            <a:ext cx="5422392"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45352" y="2606040"/>
            <a:ext cx="5093208" cy="18288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D42030"/>
                </a:solidFill>
                <a:latin typeface="Calibri"/>
              </a:rPr>
              <a:t>AND NO PLATFORM TO DO THE WORK ITSELF</a:t>
            </a:r>
          </a:p>
        </p:txBody>
      </p:sp>
      <p:sp>
        <p:nvSpPr>
          <p:cNvPr id="46" name="Rectangle 45"/>
          <p:cNvSpPr/>
          <p:nvPr/>
        </p:nvSpPr>
        <p:spPr>
          <a:xfrm>
            <a:off x="1522476" y="2944368"/>
            <a:ext cx="12700" cy="1298448"/>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68680" y="2880360"/>
            <a:ext cx="566928" cy="20116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2880360"/>
            <a:ext cx="566928" cy="201168"/>
          </a:xfrm>
          <a:prstGeom prst="rect">
            <a:avLst/>
          </a:prstGeom>
          <a:noFill/>
        </p:spPr>
        <p:txBody>
          <a:bodyPr wrap="square" anchor="ctr" lIns="0" rIns="0" tIns="0" bIns="0">
            <a:spAutoFit/>
          </a:bodyPr>
          <a:lstStyle/>
          <a:p>
            <a:pPr algn="ctr">
              <a:lnSpc>
                <a:spcPct val="104000"/>
              </a:lnSpc>
              <a:spcBef>
                <a:spcPts val="0"/>
              </a:spcBef>
              <a:spcAft>
                <a:spcPts val="0"/>
              </a:spcAft>
            </a:pPr>
            <a:r>
              <a:rPr sz="650" b="1">
                <a:solidFill>
                  <a:srgbClr val="FFFFFF"/>
                </a:solidFill>
                <a:latin typeface="Calibri"/>
              </a:rPr>
              <a:t>DAY 0</a:t>
            </a:r>
          </a:p>
        </p:txBody>
      </p:sp>
      <p:sp>
        <p:nvSpPr>
          <p:cNvPr id="49" name="Oval 48"/>
          <p:cNvSpPr/>
          <p:nvPr/>
        </p:nvSpPr>
        <p:spPr>
          <a:xfrm>
            <a:off x="1472184" y="2926080"/>
            <a:ext cx="109728" cy="109728"/>
          </a:xfrm>
          <a:prstGeom prst="ellipse">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673352" y="2852928"/>
            <a:ext cx="4187952" cy="155448"/>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The request is raised</a:t>
            </a:r>
          </a:p>
        </p:txBody>
      </p:sp>
      <p:sp>
        <p:nvSpPr>
          <p:cNvPr id="51" name="TextBox 50"/>
          <p:cNvSpPr txBox="1"/>
          <p:nvPr/>
        </p:nvSpPr>
        <p:spPr>
          <a:xfrm>
            <a:off x="1673352" y="2999232"/>
            <a:ext cx="4187952" cy="137160"/>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6A7177"/>
                </a:solidFill>
                <a:latin typeface="Calibri"/>
              </a:rPr>
              <a:t>It joins the queue behind everyone else's</a:t>
            </a:r>
          </a:p>
        </p:txBody>
      </p:sp>
      <p:sp>
        <p:nvSpPr>
          <p:cNvPr id="52" name="Rounded Rectangle 51"/>
          <p:cNvSpPr/>
          <p:nvPr/>
        </p:nvSpPr>
        <p:spPr>
          <a:xfrm>
            <a:off x="868680" y="3191256"/>
            <a:ext cx="566928" cy="20116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8680" y="3191256"/>
            <a:ext cx="566928" cy="201168"/>
          </a:xfrm>
          <a:prstGeom prst="rect">
            <a:avLst/>
          </a:prstGeom>
          <a:noFill/>
        </p:spPr>
        <p:txBody>
          <a:bodyPr wrap="square" anchor="ctr" lIns="0" rIns="0" tIns="0" bIns="0">
            <a:spAutoFit/>
          </a:bodyPr>
          <a:lstStyle/>
          <a:p>
            <a:pPr algn="ctr">
              <a:lnSpc>
                <a:spcPct val="104000"/>
              </a:lnSpc>
              <a:spcBef>
                <a:spcPts val="0"/>
              </a:spcBef>
              <a:spcAft>
                <a:spcPts val="0"/>
              </a:spcAft>
            </a:pPr>
            <a:r>
              <a:rPr sz="650" b="1">
                <a:solidFill>
                  <a:srgbClr val="FFFFFF"/>
                </a:solidFill>
                <a:latin typeface="Calibri"/>
              </a:rPr>
              <a:t>DAY 1</a:t>
            </a:r>
          </a:p>
        </p:txBody>
      </p:sp>
      <p:sp>
        <p:nvSpPr>
          <p:cNvPr id="54" name="Oval 53"/>
          <p:cNvSpPr/>
          <p:nvPr/>
        </p:nvSpPr>
        <p:spPr>
          <a:xfrm>
            <a:off x="1472184" y="3236976"/>
            <a:ext cx="109728" cy="109728"/>
          </a:xfrm>
          <a:prstGeom prst="ellipse">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73352" y="3163824"/>
            <a:ext cx="4187952" cy="155448"/>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Two meetings to clarify the ask</a:t>
            </a:r>
          </a:p>
        </p:txBody>
      </p:sp>
      <p:sp>
        <p:nvSpPr>
          <p:cNvPr id="56" name="TextBox 55"/>
          <p:cNvSpPr txBox="1"/>
          <p:nvPr/>
        </p:nvSpPr>
        <p:spPr>
          <a:xfrm>
            <a:off x="1673352" y="3310128"/>
            <a:ext cx="4187952" cy="137160"/>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6A7177"/>
                </a:solidFill>
                <a:latin typeface="Calibri"/>
              </a:rPr>
              <a:t>45 minutes, 4 people, before any work starts</a:t>
            </a:r>
          </a:p>
        </p:txBody>
      </p:sp>
      <p:sp>
        <p:nvSpPr>
          <p:cNvPr id="57" name="Rounded Rectangle 56"/>
          <p:cNvSpPr/>
          <p:nvPr/>
        </p:nvSpPr>
        <p:spPr>
          <a:xfrm>
            <a:off x="868680" y="3502152"/>
            <a:ext cx="566928" cy="20116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8680" y="3502152"/>
            <a:ext cx="566928" cy="201168"/>
          </a:xfrm>
          <a:prstGeom prst="rect">
            <a:avLst/>
          </a:prstGeom>
          <a:noFill/>
        </p:spPr>
        <p:txBody>
          <a:bodyPr wrap="square" anchor="ctr" lIns="0" rIns="0" tIns="0" bIns="0">
            <a:spAutoFit/>
          </a:bodyPr>
          <a:lstStyle/>
          <a:p>
            <a:pPr algn="ctr">
              <a:lnSpc>
                <a:spcPct val="104000"/>
              </a:lnSpc>
              <a:spcBef>
                <a:spcPts val="0"/>
              </a:spcBef>
              <a:spcAft>
                <a:spcPts val="0"/>
              </a:spcAft>
            </a:pPr>
            <a:r>
              <a:rPr sz="650" b="1">
                <a:solidFill>
                  <a:srgbClr val="FFFFFF"/>
                </a:solidFill>
                <a:latin typeface="Calibri"/>
              </a:rPr>
              <a:t>DAY 2</a:t>
            </a:r>
          </a:p>
        </p:txBody>
      </p:sp>
      <p:sp>
        <p:nvSpPr>
          <p:cNvPr id="59" name="Oval 58"/>
          <p:cNvSpPr/>
          <p:nvPr/>
        </p:nvSpPr>
        <p:spPr>
          <a:xfrm>
            <a:off x="1472184" y="3547872"/>
            <a:ext cx="109728" cy="109728"/>
          </a:xfrm>
          <a:prstGeom prst="ellipse">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73352" y="3474720"/>
            <a:ext cx="4187952" cy="155448"/>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It waits its turn</a:t>
            </a:r>
          </a:p>
        </p:txBody>
      </p:sp>
      <p:sp>
        <p:nvSpPr>
          <p:cNvPr id="61" name="TextBox 60"/>
          <p:cNvSpPr txBox="1"/>
          <p:nvPr/>
        </p:nvSpPr>
        <p:spPr>
          <a:xfrm>
            <a:off x="1673352" y="3621024"/>
            <a:ext cx="4187952" cy="137160"/>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6A7177"/>
                </a:solidFill>
                <a:latin typeface="Calibri"/>
              </a:rPr>
              <a:t>Nothing moves while the analyst finishes the one before</a:t>
            </a:r>
          </a:p>
        </p:txBody>
      </p:sp>
      <p:sp>
        <p:nvSpPr>
          <p:cNvPr id="62" name="Rounded Rectangle 61"/>
          <p:cNvSpPr/>
          <p:nvPr/>
        </p:nvSpPr>
        <p:spPr>
          <a:xfrm>
            <a:off x="868680" y="3813048"/>
            <a:ext cx="566928" cy="20116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68680" y="3813048"/>
            <a:ext cx="566928" cy="201168"/>
          </a:xfrm>
          <a:prstGeom prst="rect">
            <a:avLst/>
          </a:prstGeom>
          <a:noFill/>
        </p:spPr>
        <p:txBody>
          <a:bodyPr wrap="square" anchor="ctr" lIns="0" rIns="0" tIns="0" bIns="0">
            <a:spAutoFit/>
          </a:bodyPr>
          <a:lstStyle/>
          <a:p>
            <a:pPr algn="ctr">
              <a:lnSpc>
                <a:spcPct val="104000"/>
              </a:lnSpc>
              <a:spcBef>
                <a:spcPts val="0"/>
              </a:spcBef>
              <a:spcAft>
                <a:spcPts val="0"/>
              </a:spcAft>
            </a:pPr>
            <a:r>
              <a:rPr sz="650" b="1">
                <a:solidFill>
                  <a:srgbClr val="FFFFFF"/>
                </a:solidFill>
                <a:latin typeface="Calibri"/>
              </a:rPr>
              <a:t>DAY 4</a:t>
            </a:r>
          </a:p>
        </p:txBody>
      </p:sp>
      <p:sp>
        <p:nvSpPr>
          <p:cNvPr id="64" name="Oval 63"/>
          <p:cNvSpPr/>
          <p:nvPr/>
        </p:nvSpPr>
        <p:spPr>
          <a:xfrm>
            <a:off x="1472184" y="3858768"/>
            <a:ext cx="109728" cy="109728"/>
          </a:xfrm>
          <a:prstGeom prst="ellipse">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673352" y="3785616"/>
            <a:ext cx="4187952" cy="155448"/>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An analyst builds the answer</a:t>
            </a:r>
          </a:p>
        </p:txBody>
      </p:sp>
      <p:sp>
        <p:nvSpPr>
          <p:cNvPr id="66" name="TextBox 65"/>
          <p:cNvSpPr txBox="1"/>
          <p:nvPr/>
        </p:nvSpPr>
        <p:spPr>
          <a:xfrm>
            <a:off x="1673352" y="3931920"/>
            <a:ext cx="4187952" cy="137160"/>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6A7177"/>
                </a:solidFill>
                <a:latin typeface="Calibri"/>
              </a:rPr>
              <a:t>About 12 hours of work on a single question</a:t>
            </a:r>
          </a:p>
        </p:txBody>
      </p:sp>
      <p:sp>
        <p:nvSpPr>
          <p:cNvPr id="67" name="Rounded Rectangle 66"/>
          <p:cNvSpPr/>
          <p:nvPr/>
        </p:nvSpPr>
        <p:spPr>
          <a:xfrm>
            <a:off x="868680" y="4123944"/>
            <a:ext cx="566928" cy="20116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8680" y="4123944"/>
            <a:ext cx="566928" cy="201168"/>
          </a:xfrm>
          <a:prstGeom prst="rect">
            <a:avLst/>
          </a:prstGeom>
          <a:noFill/>
        </p:spPr>
        <p:txBody>
          <a:bodyPr wrap="square" anchor="ctr" lIns="0" rIns="0" tIns="0" bIns="0">
            <a:spAutoFit/>
          </a:bodyPr>
          <a:lstStyle/>
          <a:p>
            <a:pPr algn="ctr">
              <a:lnSpc>
                <a:spcPct val="104000"/>
              </a:lnSpc>
              <a:spcBef>
                <a:spcPts val="0"/>
              </a:spcBef>
              <a:spcAft>
                <a:spcPts val="0"/>
              </a:spcAft>
            </a:pPr>
            <a:r>
              <a:rPr sz="650" b="1">
                <a:solidFill>
                  <a:srgbClr val="FFFFFF"/>
                </a:solidFill>
                <a:latin typeface="Calibri"/>
              </a:rPr>
              <a:t>DAY 5</a:t>
            </a:r>
          </a:p>
        </p:txBody>
      </p:sp>
      <p:sp>
        <p:nvSpPr>
          <p:cNvPr id="69" name="Oval 68"/>
          <p:cNvSpPr/>
          <p:nvPr/>
        </p:nvSpPr>
        <p:spPr>
          <a:xfrm>
            <a:off x="1472184" y="4169664"/>
            <a:ext cx="109728" cy="109728"/>
          </a:xfrm>
          <a:prstGeom prst="ellipse">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73352" y="4096512"/>
            <a:ext cx="4187952" cy="155448"/>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The answer lands</a:t>
            </a:r>
          </a:p>
        </p:txBody>
      </p:sp>
      <p:sp>
        <p:nvSpPr>
          <p:cNvPr id="71" name="TextBox 70"/>
          <p:cNvSpPr txBox="1"/>
          <p:nvPr/>
        </p:nvSpPr>
        <p:spPr>
          <a:xfrm>
            <a:off x="1673352" y="4242816"/>
            <a:ext cx="4187952" cy="137160"/>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6A7177"/>
                </a:solidFill>
                <a:latin typeface="Calibri"/>
              </a:rPr>
              <a:t>By which time the decision has often moved on</a:t>
            </a:r>
          </a:p>
        </p:txBody>
      </p:sp>
      <p:sp>
        <p:nvSpPr>
          <p:cNvPr id="72" name="Rounded Rectangle 71"/>
          <p:cNvSpPr/>
          <p:nvPr/>
        </p:nvSpPr>
        <p:spPr>
          <a:xfrm>
            <a:off x="868680" y="4389120"/>
            <a:ext cx="5056632" cy="192024"/>
          </a:xfrm>
          <a:prstGeom prst="roundRect">
            <a:avLst/>
          </a:prstGeom>
          <a:solidFill>
            <a:srgbClr val="FCECED"/>
          </a:solidFill>
          <a:ln w="9525">
            <a:solidFill>
              <a:srgbClr val="D42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6696" y="4389120"/>
            <a:ext cx="4800600" cy="192024"/>
          </a:xfrm>
          <a:prstGeom prst="rect">
            <a:avLst/>
          </a:prstGeom>
          <a:noFill/>
        </p:spPr>
        <p:txBody>
          <a:bodyPr wrap="square" anchor="ctr" lIns="0" rIns="0" tIns="0" bIns="0">
            <a:spAutoFit/>
          </a:bodyPr>
          <a:lstStyle/>
          <a:p>
            <a:pPr algn="l">
              <a:lnSpc>
                <a:spcPct val="104000"/>
              </a:lnSpc>
              <a:spcBef>
                <a:spcPts val="0"/>
              </a:spcBef>
              <a:spcAft>
                <a:spcPts val="0"/>
              </a:spcAft>
            </a:pPr>
            <a:r>
              <a:rPr sz="900" b="1">
                <a:solidFill>
                  <a:srgbClr val="D42030"/>
                </a:solidFill>
                <a:latin typeface="Calibri"/>
              </a:rPr>
              <a:t>↺  </a:t>
            </a:r>
            <a:r>
              <a:rPr sz="800" b="1">
                <a:solidFill>
                  <a:srgbClr val="16202E"/>
                </a:solidFill>
                <a:latin typeface="Calibri"/>
              </a:rPr>
              <a:t>4 in 10 requests raise a follow up, and the five days start again</a:t>
            </a:r>
          </a:p>
        </p:txBody>
      </p:sp>
      <p:sp>
        <p:nvSpPr>
          <p:cNvPr id="74" name="Rounded Rectangle 73"/>
          <p:cNvSpPr/>
          <p:nvPr/>
        </p:nvSpPr>
        <p:spPr>
          <a:xfrm>
            <a:off x="6245352" y="2834640"/>
            <a:ext cx="1636775" cy="80467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45352" y="2834640"/>
            <a:ext cx="1636775" cy="4572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55080" y="2944368"/>
            <a:ext cx="1417319" cy="118872"/>
          </a:xfrm>
          <a:prstGeom prst="rect">
            <a:avLst/>
          </a:prstGeom>
          <a:noFill/>
        </p:spPr>
        <p:txBody>
          <a:bodyPr wrap="square" anchor="t" lIns="0" rIns="0" tIns="0" bIns="0">
            <a:spAutoFit/>
          </a:bodyPr>
          <a:lstStyle/>
          <a:p>
            <a:pPr algn="l">
              <a:lnSpc>
                <a:spcPct val="104000"/>
              </a:lnSpc>
              <a:spcBef>
                <a:spcPts val="0"/>
              </a:spcBef>
              <a:spcAft>
                <a:spcPts val="0"/>
              </a:spcAft>
            </a:pPr>
            <a:r>
              <a:rPr sz="650" b="1">
                <a:solidFill>
                  <a:srgbClr val="D42030"/>
                </a:solidFill>
                <a:latin typeface="Calibri"/>
              </a:rPr>
              <a:t>INSIGHT</a:t>
            </a:r>
          </a:p>
        </p:txBody>
      </p:sp>
      <p:sp>
        <p:nvSpPr>
          <p:cNvPr id="77" name="TextBox 76"/>
          <p:cNvSpPr txBox="1"/>
          <p:nvPr/>
        </p:nvSpPr>
        <p:spPr>
          <a:xfrm>
            <a:off x="6355080" y="3090672"/>
            <a:ext cx="1417319" cy="27432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No one place to ask the data</a:t>
            </a:r>
          </a:p>
        </p:txBody>
      </p:sp>
      <p:sp>
        <p:nvSpPr>
          <p:cNvPr id="78" name="TextBox 77"/>
          <p:cNvSpPr txBox="1"/>
          <p:nvPr/>
        </p:nvSpPr>
        <p:spPr>
          <a:xfrm>
            <a:off x="6355080" y="3383280"/>
            <a:ext cx="1417319" cy="219456"/>
          </a:xfrm>
          <a:prstGeom prst="rect">
            <a:avLst/>
          </a:prstGeom>
          <a:noFill/>
        </p:spPr>
        <p:txBody>
          <a:bodyPr wrap="square" anchor="t" lIns="0" rIns="0" tIns="0" bIns="0">
            <a:spAutoFit/>
          </a:bodyPr>
          <a:lstStyle/>
          <a:p>
            <a:pPr algn="l">
              <a:lnSpc>
                <a:spcPct val="104000"/>
              </a:lnSpc>
              <a:spcBef>
                <a:spcPts val="0"/>
              </a:spcBef>
              <a:spcAft>
                <a:spcPts val="0"/>
              </a:spcAft>
            </a:pPr>
            <a:r>
              <a:rPr sz="650" b="0">
                <a:solidFill>
                  <a:srgbClr val="6A7177"/>
                </a:solidFill>
                <a:latin typeface="Calibri"/>
              </a:rPr>
              <a:t>Somebody else runs the extract, every time</a:t>
            </a:r>
          </a:p>
        </p:txBody>
      </p:sp>
      <p:sp>
        <p:nvSpPr>
          <p:cNvPr id="79" name="Rounded Rectangle 78"/>
          <p:cNvSpPr/>
          <p:nvPr/>
        </p:nvSpPr>
        <p:spPr>
          <a:xfrm>
            <a:off x="7973568" y="2834640"/>
            <a:ext cx="1636775" cy="80467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973568" y="2834640"/>
            <a:ext cx="1636775" cy="4572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83296" y="2944368"/>
            <a:ext cx="1417319" cy="118872"/>
          </a:xfrm>
          <a:prstGeom prst="rect">
            <a:avLst/>
          </a:prstGeom>
          <a:noFill/>
        </p:spPr>
        <p:txBody>
          <a:bodyPr wrap="square" anchor="t" lIns="0" rIns="0" tIns="0" bIns="0">
            <a:spAutoFit/>
          </a:bodyPr>
          <a:lstStyle/>
          <a:p>
            <a:pPr algn="l">
              <a:lnSpc>
                <a:spcPct val="104000"/>
              </a:lnSpc>
              <a:spcBef>
                <a:spcPts val="0"/>
              </a:spcBef>
              <a:spcAft>
                <a:spcPts val="0"/>
              </a:spcAft>
            </a:pPr>
            <a:r>
              <a:rPr sz="650" b="1">
                <a:solidFill>
                  <a:srgbClr val="D42030"/>
                </a:solidFill>
                <a:latin typeface="Calibri"/>
              </a:rPr>
              <a:t>DASHBOARD</a:t>
            </a:r>
          </a:p>
        </p:txBody>
      </p:sp>
      <p:sp>
        <p:nvSpPr>
          <p:cNvPr id="82" name="TextBox 81"/>
          <p:cNvSpPr txBox="1"/>
          <p:nvPr/>
        </p:nvSpPr>
        <p:spPr>
          <a:xfrm>
            <a:off x="8083296" y="3090672"/>
            <a:ext cx="1417319" cy="27432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Dashboards are scattered</a:t>
            </a:r>
          </a:p>
        </p:txBody>
      </p:sp>
      <p:sp>
        <p:nvSpPr>
          <p:cNvPr id="83" name="TextBox 82"/>
          <p:cNvSpPr txBox="1"/>
          <p:nvPr/>
        </p:nvSpPr>
        <p:spPr>
          <a:xfrm>
            <a:off x="8083296" y="3383280"/>
            <a:ext cx="1417319" cy="219456"/>
          </a:xfrm>
          <a:prstGeom prst="rect">
            <a:avLst/>
          </a:prstGeom>
          <a:noFill/>
        </p:spPr>
        <p:txBody>
          <a:bodyPr wrap="square" anchor="t" lIns="0" rIns="0" tIns="0" bIns="0">
            <a:spAutoFit/>
          </a:bodyPr>
          <a:lstStyle/>
          <a:p>
            <a:pPr algn="l">
              <a:lnSpc>
                <a:spcPct val="104000"/>
              </a:lnSpc>
              <a:spcBef>
                <a:spcPts val="0"/>
              </a:spcBef>
              <a:spcAft>
                <a:spcPts val="0"/>
              </a:spcAft>
            </a:pPr>
            <a:r>
              <a:rPr sz="650" b="0">
                <a:solidFill>
                  <a:srgbClr val="6A7177"/>
                </a:solidFill>
                <a:latin typeface="Calibri"/>
              </a:rPr>
              <a:t>One per campaign, and built after the fact</a:t>
            </a:r>
          </a:p>
        </p:txBody>
      </p:sp>
      <p:sp>
        <p:nvSpPr>
          <p:cNvPr id="84" name="Rounded Rectangle 83"/>
          <p:cNvSpPr/>
          <p:nvPr/>
        </p:nvSpPr>
        <p:spPr>
          <a:xfrm>
            <a:off x="9701784" y="2834640"/>
            <a:ext cx="1636775" cy="80467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701784" y="2834640"/>
            <a:ext cx="1636775" cy="4572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11511" y="2944368"/>
            <a:ext cx="1417319" cy="118872"/>
          </a:xfrm>
          <a:prstGeom prst="rect">
            <a:avLst/>
          </a:prstGeom>
          <a:noFill/>
        </p:spPr>
        <p:txBody>
          <a:bodyPr wrap="square" anchor="t" lIns="0" rIns="0" tIns="0" bIns="0">
            <a:spAutoFit/>
          </a:bodyPr>
          <a:lstStyle/>
          <a:p>
            <a:pPr algn="l">
              <a:lnSpc>
                <a:spcPct val="104000"/>
              </a:lnSpc>
              <a:spcBef>
                <a:spcPts val="0"/>
              </a:spcBef>
              <a:spcAft>
                <a:spcPts val="0"/>
              </a:spcAft>
            </a:pPr>
            <a:r>
              <a:rPr sz="650" b="1">
                <a:solidFill>
                  <a:srgbClr val="D42030"/>
                </a:solidFill>
                <a:latin typeface="Calibri"/>
              </a:rPr>
              <a:t>TARGET MARKET</a:t>
            </a:r>
          </a:p>
        </p:txBody>
      </p:sp>
      <p:sp>
        <p:nvSpPr>
          <p:cNvPr id="87" name="TextBox 86"/>
          <p:cNvSpPr txBox="1"/>
          <p:nvPr/>
        </p:nvSpPr>
        <p:spPr>
          <a:xfrm>
            <a:off x="9811511" y="3090672"/>
            <a:ext cx="1417319" cy="27432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No way to pick the optimal cohort</a:t>
            </a:r>
          </a:p>
        </p:txBody>
      </p:sp>
      <p:sp>
        <p:nvSpPr>
          <p:cNvPr id="88" name="TextBox 87"/>
          <p:cNvSpPr txBox="1"/>
          <p:nvPr/>
        </p:nvSpPr>
        <p:spPr>
          <a:xfrm>
            <a:off x="9811511" y="3383280"/>
            <a:ext cx="1417319" cy="219456"/>
          </a:xfrm>
          <a:prstGeom prst="rect">
            <a:avLst/>
          </a:prstGeom>
          <a:noFill/>
        </p:spPr>
        <p:txBody>
          <a:bodyPr wrap="square" anchor="t" lIns="0" rIns="0" tIns="0" bIns="0">
            <a:spAutoFit/>
          </a:bodyPr>
          <a:lstStyle/>
          <a:p>
            <a:pPr algn="l">
              <a:lnSpc>
                <a:spcPct val="104000"/>
              </a:lnSpc>
              <a:spcBef>
                <a:spcPts val="0"/>
              </a:spcBef>
              <a:spcAft>
                <a:spcPts val="0"/>
              </a:spcAft>
            </a:pPr>
            <a:r>
              <a:rPr sz="650" b="0">
                <a:solidFill>
                  <a:srgbClr val="6A7177"/>
                </a:solidFill>
                <a:latin typeface="Calibri"/>
              </a:rPr>
              <a:t>Chosen on a hunch, and never sized first</a:t>
            </a:r>
          </a:p>
        </p:txBody>
      </p:sp>
      <p:sp>
        <p:nvSpPr>
          <p:cNvPr id="89" name="Rounded Rectangle 88"/>
          <p:cNvSpPr/>
          <p:nvPr/>
        </p:nvSpPr>
        <p:spPr>
          <a:xfrm>
            <a:off x="6245352" y="3730752"/>
            <a:ext cx="1636775" cy="80467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45352" y="3730752"/>
            <a:ext cx="1636775" cy="4572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55080" y="3840480"/>
            <a:ext cx="1417319" cy="118872"/>
          </a:xfrm>
          <a:prstGeom prst="rect">
            <a:avLst/>
          </a:prstGeom>
          <a:noFill/>
        </p:spPr>
        <p:txBody>
          <a:bodyPr wrap="square" anchor="t" lIns="0" rIns="0" tIns="0" bIns="0">
            <a:spAutoFit/>
          </a:bodyPr>
          <a:lstStyle/>
          <a:p>
            <a:pPr algn="l">
              <a:lnSpc>
                <a:spcPct val="104000"/>
              </a:lnSpc>
              <a:spcBef>
                <a:spcPts val="0"/>
              </a:spcBef>
              <a:spcAft>
                <a:spcPts val="0"/>
              </a:spcAft>
            </a:pPr>
            <a:r>
              <a:rPr sz="650" b="1">
                <a:solidFill>
                  <a:srgbClr val="D42030"/>
                </a:solidFill>
                <a:latin typeface="Calibri"/>
              </a:rPr>
              <a:t>SIMULATOR</a:t>
            </a:r>
          </a:p>
        </p:txBody>
      </p:sp>
      <p:sp>
        <p:nvSpPr>
          <p:cNvPr id="92" name="TextBox 91"/>
          <p:cNvSpPr txBox="1"/>
          <p:nvPr/>
        </p:nvSpPr>
        <p:spPr>
          <a:xfrm>
            <a:off x="6355080" y="3986784"/>
            <a:ext cx="1417319" cy="27432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No way to simulate before committing</a:t>
            </a:r>
          </a:p>
        </p:txBody>
      </p:sp>
      <p:sp>
        <p:nvSpPr>
          <p:cNvPr id="93" name="TextBox 92"/>
          <p:cNvSpPr txBox="1"/>
          <p:nvPr/>
        </p:nvSpPr>
        <p:spPr>
          <a:xfrm>
            <a:off x="6355080" y="4279392"/>
            <a:ext cx="1417319" cy="219456"/>
          </a:xfrm>
          <a:prstGeom prst="rect">
            <a:avLst/>
          </a:prstGeom>
          <a:noFill/>
        </p:spPr>
        <p:txBody>
          <a:bodyPr wrap="square" anchor="t" lIns="0" rIns="0" tIns="0" bIns="0">
            <a:spAutoFit/>
          </a:bodyPr>
          <a:lstStyle/>
          <a:p>
            <a:pPr algn="l">
              <a:lnSpc>
                <a:spcPct val="104000"/>
              </a:lnSpc>
              <a:spcBef>
                <a:spcPts val="0"/>
              </a:spcBef>
              <a:spcAft>
                <a:spcPts val="0"/>
              </a:spcAft>
            </a:pPr>
            <a:r>
              <a:rPr sz="650" b="0">
                <a:solidFill>
                  <a:srgbClr val="6A7177"/>
                </a:solidFill>
                <a:latin typeface="Calibri"/>
              </a:rPr>
              <a:t>Argued in a meeting, not modelled on the book</a:t>
            </a:r>
          </a:p>
        </p:txBody>
      </p:sp>
      <p:sp>
        <p:nvSpPr>
          <p:cNvPr id="94" name="Rounded Rectangle 93"/>
          <p:cNvSpPr/>
          <p:nvPr/>
        </p:nvSpPr>
        <p:spPr>
          <a:xfrm>
            <a:off x="7973568" y="3730752"/>
            <a:ext cx="1636775" cy="80467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973568" y="3730752"/>
            <a:ext cx="1636775" cy="4572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83296" y="3840480"/>
            <a:ext cx="1417319" cy="118872"/>
          </a:xfrm>
          <a:prstGeom prst="rect">
            <a:avLst/>
          </a:prstGeom>
          <a:noFill/>
        </p:spPr>
        <p:txBody>
          <a:bodyPr wrap="square" anchor="t" lIns="0" rIns="0" tIns="0" bIns="0">
            <a:spAutoFit/>
          </a:bodyPr>
          <a:lstStyle/>
          <a:p>
            <a:pPr algn="l">
              <a:lnSpc>
                <a:spcPct val="104000"/>
              </a:lnSpc>
              <a:spcBef>
                <a:spcPts val="0"/>
              </a:spcBef>
              <a:spcAft>
                <a:spcPts val="0"/>
              </a:spcAft>
            </a:pPr>
            <a:r>
              <a:rPr sz="650" b="1">
                <a:solidFill>
                  <a:srgbClr val="D42030"/>
                </a:solidFill>
                <a:latin typeface="Calibri"/>
              </a:rPr>
              <a:t>CAMPAIGNS</a:t>
            </a:r>
          </a:p>
        </p:txBody>
      </p:sp>
      <p:sp>
        <p:nvSpPr>
          <p:cNvPr id="97" name="TextBox 96"/>
          <p:cNvSpPr txBox="1"/>
          <p:nvPr/>
        </p:nvSpPr>
        <p:spPr>
          <a:xfrm>
            <a:off x="8083296" y="3986784"/>
            <a:ext cx="1417319" cy="27432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No way to design the A/B test</a:t>
            </a:r>
          </a:p>
        </p:txBody>
      </p:sp>
      <p:sp>
        <p:nvSpPr>
          <p:cNvPr id="98" name="TextBox 97"/>
          <p:cNvSpPr txBox="1"/>
          <p:nvPr/>
        </p:nvSpPr>
        <p:spPr>
          <a:xfrm>
            <a:off x="8083296" y="4279392"/>
            <a:ext cx="1417319" cy="219456"/>
          </a:xfrm>
          <a:prstGeom prst="rect">
            <a:avLst/>
          </a:prstGeom>
          <a:noFill/>
        </p:spPr>
        <p:txBody>
          <a:bodyPr wrap="square" anchor="t" lIns="0" rIns="0" tIns="0" bIns="0">
            <a:spAutoFit/>
          </a:bodyPr>
          <a:lstStyle/>
          <a:p>
            <a:pPr algn="l">
              <a:lnSpc>
                <a:spcPct val="104000"/>
              </a:lnSpc>
              <a:spcBef>
                <a:spcPts val="0"/>
              </a:spcBef>
              <a:spcAft>
                <a:spcPts val="0"/>
              </a:spcAft>
            </a:pPr>
            <a:r>
              <a:rPr sz="650" b="0">
                <a:solidFill>
                  <a:srgbClr val="6A7177"/>
                </a:solidFill>
                <a:latin typeface="Calibri"/>
              </a:rPr>
              <a:t>Splits and sample sizes are done by hand</a:t>
            </a:r>
          </a:p>
        </p:txBody>
      </p:sp>
      <p:sp>
        <p:nvSpPr>
          <p:cNvPr id="99" name="Rounded Rectangle 98"/>
          <p:cNvSpPr/>
          <p:nvPr/>
        </p:nvSpPr>
        <p:spPr>
          <a:xfrm>
            <a:off x="9701784" y="3730752"/>
            <a:ext cx="1636775" cy="80467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701784" y="3730752"/>
            <a:ext cx="1636775" cy="4572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811511" y="3840480"/>
            <a:ext cx="1417319" cy="118872"/>
          </a:xfrm>
          <a:prstGeom prst="rect">
            <a:avLst/>
          </a:prstGeom>
          <a:noFill/>
        </p:spPr>
        <p:txBody>
          <a:bodyPr wrap="square" anchor="t" lIns="0" rIns="0" tIns="0" bIns="0">
            <a:spAutoFit/>
          </a:bodyPr>
          <a:lstStyle/>
          <a:p>
            <a:pPr algn="l">
              <a:lnSpc>
                <a:spcPct val="104000"/>
              </a:lnSpc>
              <a:spcBef>
                <a:spcPts val="0"/>
              </a:spcBef>
              <a:spcAft>
                <a:spcPts val="0"/>
              </a:spcAft>
            </a:pPr>
            <a:r>
              <a:rPr sz="650" b="1">
                <a:solidFill>
                  <a:srgbClr val="D42030"/>
                </a:solidFill>
                <a:latin typeface="Calibri"/>
              </a:rPr>
              <a:t>PITCH DECKS</a:t>
            </a:r>
          </a:p>
        </p:txBody>
      </p:sp>
      <p:sp>
        <p:nvSpPr>
          <p:cNvPr id="102" name="TextBox 101"/>
          <p:cNvSpPr txBox="1"/>
          <p:nvPr/>
        </p:nvSpPr>
        <p:spPr>
          <a:xfrm>
            <a:off x="9811511" y="3986784"/>
            <a:ext cx="1417319" cy="27432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The Board deck is built by hand</a:t>
            </a:r>
          </a:p>
        </p:txBody>
      </p:sp>
      <p:sp>
        <p:nvSpPr>
          <p:cNvPr id="103" name="TextBox 102"/>
          <p:cNvSpPr txBox="1"/>
          <p:nvPr/>
        </p:nvSpPr>
        <p:spPr>
          <a:xfrm>
            <a:off x="9811511" y="4279392"/>
            <a:ext cx="1417319" cy="219456"/>
          </a:xfrm>
          <a:prstGeom prst="rect">
            <a:avLst/>
          </a:prstGeom>
          <a:noFill/>
        </p:spPr>
        <p:txBody>
          <a:bodyPr wrap="square" anchor="t" lIns="0" rIns="0" tIns="0" bIns="0">
            <a:spAutoFit/>
          </a:bodyPr>
          <a:lstStyle/>
          <a:p>
            <a:pPr algn="l">
              <a:lnSpc>
                <a:spcPct val="104000"/>
              </a:lnSpc>
              <a:spcBef>
                <a:spcPts val="0"/>
              </a:spcBef>
              <a:spcAft>
                <a:spcPts val="0"/>
              </a:spcAft>
            </a:pPr>
            <a:r>
              <a:rPr sz="650" b="0">
                <a:solidFill>
                  <a:srgbClr val="6A7177"/>
                </a:solidFill>
                <a:latin typeface="Calibri"/>
              </a:rPr>
              <a:t>Results re-keyed, and the sources left behind</a:t>
            </a:r>
          </a:p>
        </p:txBody>
      </p:sp>
      <p:sp>
        <p:nvSpPr>
          <p:cNvPr id="104" name="Rounded Rectangle 103"/>
          <p:cNvSpPr/>
          <p:nvPr/>
        </p:nvSpPr>
        <p:spPr>
          <a:xfrm>
            <a:off x="685800" y="4718304"/>
            <a:ext cx="10820095" cy="877824"/>
          </a:xfrm>
          <a:prstGeom prst="roundRect">
            <a:avLst/>
          </a:prstGeom>
          <a:solidFill>
            <a:srgbClr val="EDF2F7"/>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85800" y="4718304"/>
            <a:ext cx="10820095" cy="54864"/>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0120" y="4937760"/>
            <a:ext cx="2247823" cy="310896"/>
          </a:xfrm>
          <a:prstGeom prst="rect">
            <a:avLst/>
          </a:prstGeom>
          <a:noFill/>
        </p:spPr>
        <p:txBody>
          <a:bodyPr wrap="square" anchor="t" lIns="0" rIns="0" tIns="0" bIns="0">
            <a:spAutoFit/>
          </a:bodyPr>
          <a:lstStyle/>
          <a:p>
            <a:pPr algn="l">
              <a:lnSpc>
                <a:spcPct val="104000"/>
              </a:lnSpc>
              <a:spcBef>
                <a:spcPts val="0"/>
              </a:spcBef>
              <a:spcAft>
                <a:spcPts val="0"/>
              </a:spcAft>
            </a:pPr>
            <a:r>
              <a:rPr sz="2100" b="1">
                <a:solidFill>
                  <a:srgbClr val="D42030"/>
                </a:solidFill>
                <a:latin typeface="Calibri"/>
              </a:rPr>
              <a:t>87</a:t>
            </a:r>
            <a:r>
              <a:rPr sz="900" b="1">
                <a:solidFill>
                  <a:srgbClr val="16202E"/>
                </a:solidFill>
                <a:latin typeface="Calibri"/>
              </a:rPr>
              <a:t>  a month</a:t>
            </a:r>
          </a:p>
        </p:txBody>
      </p:sp>
      <p:sp>
        <p:nvSpPr>
          <p:cNvPr id="107" name="TextBox 106"/>
          <p:cNvSpPr txBox="1"/>
          <p:nvPr/>
        </p:nvSpPr>
        <p:spPr>
          <a:xfrm>
            <a:off x="960120" y="5285232"/>
            <a:ext cx="2247823" cy="25603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454F5C"/>
                </a:solidFill>
                <a:latin typeface="Calibri"/>
              </a:rPr>
              <a:t>ad hoc analytics requests, roughly 20 in a week</a:t>
            </a:r>
          </a:p>
        </p:txBody>
      </p:sp>
      <p:sp>
        <p:nvSpPr>
          <p:cNvPr id="108" name="Rectangle 107"/>
          <p:cNvSpPr/>
          <p:nvPr/>
        </p:nvSpPr>
        <p:spPr>
          <a:xfrm>
            <a:off x="3390823" y="4937760"/>
            <a:ext cx="9525" cy="45720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665143" y="4937760"/>
            <a:ext cx="2247823" cy="310896"/>
          </a:xfrm>
          <a:prstGeom prst="rect">
            <a:avLst/>
          </a:prstGeom>
          <a:noFill/>
        </p:spPr>
        <p:txBody>
          <a:bodyPr wrap="square" anchor="t" lIns="0" rIns="0" tIns="0" bIns="0">
            <a:spAutoFit/>
          </a:bodyPr>
          <a:lstStyle/>
          <a:p>
            <a:pPr algn="l">
              <a:lnSpc>
                <a:spcPct val="104000"/>
              </a:lnSpc>
              <a:spcBef>
                <a:spcPts val="0"/>
              </a:spcBef>
              <a:spcAft>
                <a:spcPts val="0"/>
              </a:spcAft>
            </a:pPr>
            <a:r>
              <a:rPr sz="2100" b="1">
                <a:solidFill>
                  <a:srgbClr val="D42030"/>
                </a:solidFill>
                <a:latin typeface="Calibri"/>
              </a:rPr>
              <a:t>435</a:t>
            </a:r>
            <a:r>
              <a:rPr sz="900" b="1">
                <a:solidFill>
                  <a:srgbClr val="16202E"/>
                </a:solidFill>
                <a:latin typeface="Calibri"/>
              </a:rPr>
              <a:t>  request-days</a:t>
            </a:r>
          </a:p>
        </p:txBody>
      </p:sp>
      <p:sp>
        <p:nvSpPr>
          <p:cNvPr id="110" name="TextBox 109"/>
          <p:cNvSpPr txBox="1"/>
          <p:nvPr/>
        </p:nvSpPr>
        <p:spPr>
          <a:xfrm>
            <a:off x="3665143" y="5285232"/>
            <a:ext cx="2247823" cy="25603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454F5C"/>
                </a:solidFill>
                <a:latin typeface="Calibri"/>
              </a:rPr>
              <a:t>of waiting a month, at 5 working days each</a:t>
            </a:r>
          </a:p>
        </p:txBody>
      </p:sp>
      <p:sp>
        <p:nvSpPr>
          <p:cNvPr id="111" name="Rectangle 110"/>
          <p:cNvSpPr/>
          <p:nvPr/>
        </p:nvSpPr>
        <p:spPr>
          <a:xfrm>
            <a:off x="6095847" y="4937760"/>
            <a:ext cx="9525" cy="45720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370167" y="4937760"/>
            <a:ext cx="2247823" cy="310896"/>
          </a:xfrm>
          <a:prstGeom prst="rect">
            <a:avLst/>
          </a:prstGeom>
          <a:noFill/>
        </p:spPr>
        <p:txBody>
          <a:bodyPr wrap="square" anchor="t" lIns="0" rIns="0" tIns="0" bIns="0">
            <a:spAutoFit/>
          </a:bodyPr>
          <a:lstStyle/>
          <a:p>
            <a:pPr algn="l">
              <a:lnSpc>
                <a:spcPct val="104000"/>
              </a:lnSpc>
              <a:spcBef>
                <a:spcPts val="0"/>
              </a:spcBef>
              <a:spcAft>
                <a:spcPts val="0"/>
              </a:spcAft>
            </a:pPr>
            <a:r>
              <a:rPr sz="2100" b="1">
                <a:solidFill>
                  <a:srgbClr val="D42030"/>
                </a:solidFill>
                <a:latin typeface="Calibri"/>
              </a:rPr>
              <a:t>522</a:t>
            </a:r>
            <a:r>
              <a:rPr sz="900" b="1">
                <a:solidFill>
                  <a:srgbClr val="16202E"/>
                </a:solidFill>
                <a:latin typeface="Calibri"/>
              </a:rPr>
              <a:t>  hours</a:t>
            </a:r>
          </a:p>
        </p:txBody>
      </p:sp>
      <p:sp>
        <p:nvSpPr>
          <p:cNvPr id="113" name="TextBox 112"/>
          <p:cNvSpPr txBox="1"/>
          <p:nvPr/>
        </p:nvSpPr>
        <p:spPr>
          <a:xfrm>
            <a:off x="6370167" y="5285232"/>
            <a:ext cx="2247823" cy="25603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454F5C"/>
                </a:solidFill>
                <a:latin typeface="Calibri"/>
              </a:rPr>
              <a:t>a month in meetings, only to clarify the question</a:t>
            </a:r>
          </a:p>
        </p:txBody>
      </p:sp>
      <p:sp>
        <p:nvSpPr>
          <p:cNvPr id="114" name="Rectangle 113"/>
          <p:cNvSpPr/>
          <p:nvPr/>
        </p:nvSpPr>
        <p:spPr>
          <a:xfrm>
            <a:off x="8800871" y="4937760"/>
            <a:ext cx="9525" cy="45720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075191" y="4937760"/>
            <a:ext cx="2247823" cy="310896"/>
          </a:xfrm>
          <a:prstGeom prst="rect">
            <a:avLst/>
          </a:prstGeom>
          <a:noFill/>
        </p:spPr>
        <p:txBody>
          <a:bodyPr wrap="square" anchor="t" lIns="0" rIns="0" tIns="0" bIns="0">
            <a:spAutoFit/>
          </a:bodyPr>
          <a:lstStyle/>
          <a:p>
            <a:pPr algn="l">
              <a:lnSpc>
                <a:spcPct val="104000"/>
              </a:lnSpc>
              <a:spcBef>
                <a:spcPts val="0"/>
              </a:spcBef>
              <a:spcAft>
                <a:spcPts val="0"/>
              </a:spcAft>
            </a:pPr>
            <a:r>
              <a:rPr sz="2100" b="1">
                <a:solidFill>
                  <a:srgbClr val="D42030"/>
                </a:solidFill>
                <a:latin typeface="Calibri"/>
              </a:rPr>
              <a:t>6</a:t>
            </a:r>
            <a:r>
              <a:rPr sz="900" b="1">
                <a:solidFill>
                  <a:srgbClr val="16202E"/>
                </a:solidFill>
                <a:latin typeface="Calibri"/>
              </a:rPr>
              <a:t>  weeks</a:t>
            </a:r>
          </a:p>
        </p:txBody>
      </p:sp>
      <p:sp>
        <p:nvSpPr>
          <p:cNvPr id="116" name="TextBox 115"/>
          <p:cNvSpPr txBox="1"/>
          <p:nvPr/>
        </p:nvSpPr>
        <p:spPr>
          <a:xfrm>
            <a:off x="9075191" y="5285232"/>
            <a:ext cx="2247823" cy="25603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454F5C"/>
                </a:solidFill>
                <a:latin typeface="Calibri"/>
              </a:rPr>
              <a:t>to get through the 6 questions once, in sequence</a:t>
            </a:r>
          </a:p>
        </p:txBody>
      </p:sp>
      <p:sp>
        <p:nvSpPr>
          <p:cNvPr id="117" name="TextBox 116"/>
          <p:cNvSpPr txBox="1"/>
          <p:nvPr/>
        </p:nvSpPr>
        <p:spPr>
          <a:xfrm>
            <a:off x="685800" y="5742432"/>
            <a:ext cx="10820095" cy="274320"/>
          </a:xfrm>
          <a:prstGeom prst="rect">
            <a:avLst/>
          </a:prstGeom>
          <a:noFill/>
        </p:spPr>
        <p:txBody>
          <a:bodyPr wrap="square" anchor="t" lIns="0" rIns="0" tIns="0" bIns="0">
            <a:spAutoFit/>
          </a:bodyPr>
          <a:lstStyle/>
          <a:p>
            <a:pPr algn="l">
              <a:lnSpc>
                <a:spcPct val="104000"/>
              </a:lnSpc>
              <a:spcBef>
                <a:spcPts val="0"/>
              </a:spcBef>
              <a:spcAft>
                <a:spcPts val="0"/>
              </a:spcAft>
            </a:pPr>
            <a:r>
              <a:rPr sz="1050" b="0">
                <a:solidFill>
                  <a:srgbClr val="454F5C"/>
                </a:solidFill>
                <a:latin typeface="Calibri"/>
              </a:rPr>
              <a:t>The data already exists in the bank, and so does the appetite to act on it. What is missing is one place for the business team to ask, size, test and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PROBLEM STATEMENT · WHO IT IS FOR</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Two groups lose the same week: the business stakeholders who own the objective cannot ask the data directly, and the analysts who can are spending it on routine work</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02</a:t>
            </a:r>
          </a:p>
        </p:txBody>
      </p:sp>
      <p:sp>
        <p:nvSpPr>
          <p:cNvPr id="10" name="Rounded Rectangle 9"/>
          <p:cNvSpPr/>
          <p:nvPr/>
        </p:nvSpPr>
        <p:spPr>
          <a:xfrm>
            <a:off x="685800" y="1719072"/>
            <a:ext cx="5422392" cy="786384"/>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19072"/>
            <a:ext cx="5422392" cy="73152"/>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865376"/>
            <a:ext cx="4983480" cy="146304"/>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16202E"/>
                </a:solidFill>
                <a:latin typeface="Calibri"/>
              </a:rPr>
              <a:t>BUSINESS STAKEHOLDERS</a:t>
            </a:r>
          </a:p>
        </p:txBody>
      </p:sp>
      <p:sp>
        <p:nvSpPr>
          <p:cNvPr id="13" name="TextBox 12"/>
          <p:cNvSpPr txBox="1"/>
          <p:nvPr/>
        </p:nvSpPr>
        <p:spPr>
          <a:xfrm>
            <a:off x="905256" y="2048256"/>
            <a:ext cx="4983480" cy="420624"/>
          </a:xfrm>
          <a:prstGeom prst="rect">
            <a:avLst/>
          </a:prstGeom>
          <a:noFill/>
        </p:spPr>
        <p:txBody>
          <a:bodyPr wrap="square" anchor="t" lIns="0" rIns="0" tIns="0" bIns="0">
            <a:spAutoFit/>
          </a:bodyPr>
          <a:lstStyle/>
          <a:p>
            <a:pPr algn="l">
              <a:lnSpc>
                <a:spcPct val="108000"/>
              </a:lnSpc>
              <a:spcBef>
                <a:spcPts val="0"/>
              </a:spcBef>
              <a:spcAft>
                <a:spcPts val="0"/>
              </a:spcAft>
            </a:pPr>
            <a:r>
              <a:rPr sz="1000" b="0">
                <a:solidFill>
                  <a:srgbClr val="454F5C"/>
                </a:solidFill>
                <a:latin typeface="Calibri"/>
              </a:rPr>
              <a:t>Customer Experience, Personal Banking, Premier Banking, Wealth Management and the other teams that carry an objective</a:t>
            </a:r>
          </a:p>
        </p:txBody>
      </p:sp>
      <p:sp>
        <p:nvSpPr>
          <p:cNvPr id="14" name="Rounded Rectangle 13"/>
          <p:cNvSpPr/>
          <p:nvPr/>
        </p:nvSpPr>
        <p:spPr>
          <a:xfrm>
            <a:off x="685800" y="2596896"/>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596896"/>
            <a:ext cx="2651760" cy="4572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2724912"/>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Accountable for the outcome</a:t>
            </a:r>
          </a:p>
        </p:txBody>
      </p:sp>
      <p:sp>
        <p:nvSpPr>
          <p:cNvPr id="17" name="TextBox 16"/>
          <p:cNvSpPr txBox="1"/>
          <p:nvPr/>
        </p:nvSpPr>
        <p:spPr>
          <a:xfrm>
            <a:off x="832104" y="2926079"/>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Answers to the Board for the objective, not for a model</a:t>
            </a:r>
          </a:p>
        </p:txBody>
      </p:sp>
      <p:sp>
        <p:nvSpPr>
          <p:cNvPr id="18" name="Rounded Rectangle 17"/>
          <p:cNvSpPr/>
          <p:nvPr/>
        </p:nvSpPr>
        <p:spPr>
          <a:xfrm>
            <a:off x="3456432" y="2596896"/>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56432" y="2596896"/>
            <a:ext cx="2651760" cy="4572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2736" y="2724912"/>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Fluent in the business, not in SQL</a:t>
            </a:r>
          </a:p>
        </p:txBody>
      </p:sp>
      <p:sp>
        <p:nvSpPr>
          <p:cNvPr id="21" name="TextBox 20"/>
          <p:cNvSpPr txBox="1"/>
          <p:nvPr/>
        </p:nvSpPr>
        <p:spPr>
          <a:xfrm>
            <a:off x="3602736" y="2926079"/>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Knows what a good segment looks like; cannot query the warehouse</a:t>
            </a:r>
          </a:p>
        </p:txBody>
      </p:sp>
      <p:sp>
        <p:nvSpPr>
          <p:cNvPr id="22" name="Rounded Rectangle 21"/>
          <p:cNvSpPr/>
          <p:nvPr/>
        </p:nvSpPr>
        <p:spPr>
          <a:xfrm>
            <a:off x="685800" y="3364991"/>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364991"/>
            <a:ext cx="2651760" cy="4572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3493008"/>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Works in campaigns, not in tickets</a:t>
            </a:r>
          </a:p>
        </p:txBody>
      </p:sp>
      <p:sp>
        <p:nvSpPr>
          <p:cNvPr id="25" name="TextBox 24"/>
          <p:cNvSpPr txBox="1"/>
          <p:nvPr/>
        </p:nvSpPr>
        <p:spPr>
          <a:xfrm>
            <a:off x="832104" y="3694176"/>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Needs a target list and a test design, not a table extract</a:t>
            </a:r>
          </a:p>
        </p:txBody>
      </p:sp>
      <p:sp>
        <p:nvSpPr>
          <p:cNvPr id="26" name="Rounded Rectangle 25"/>
          <p:cNvSpPr/>
          <p:nvPr/>
        </p:nvSpPr>
        <p:spPr>
          <a:xfrm>
            <a:off x="3456432" y="3364991"/>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56432" y="3364991"/>
            <a:ext cx="2651760" cy="4572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2736" y="3493008"/>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Has to show the reasoning</a:t>
            </a:r>
          </a:p>
        </p:txBody>
      </p:sp>
      <p:sp>
        <p:nvSpPr>
          <p:cNvPr id="29" name="TextBox 28"/>
          <p:cNvSpPr txBox="1"/>
          <p:nvPr/>
        </p:nvSpPr>
        <p:spPr>
          <a:xfrm>
            <a:off x="3602736" y="3694176"/>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Whatever goes back has to survive the Board's questions</a:t>
            </a:r>
          </a:p>
        </p:txBody>
      </p:sp>
      <p:sp>
        <p:nvSpPr>
          <p:cNvPr id="30" name="Rounded Rectangle 29"/>
          <p:cNvSpPr/>
          <p:nvPr/>
        </p:nvSpPr>
        <p:spPr>
          <a:xfrm>
            <a:off x="6080760" y="1719072"/>
            <a:ext cx="5422392" cy="786384"/>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80760" y="1719072"/>
            <a:ext cx="5422392" cy="7315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0216" y="1865376"/>
            <a:ext cx="4983480" cy="146304"/>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2E5A88"/>
                </a:solidFill>
                <a:latin typeface="Calibri"/>
              </a:rPr>
              <a:t>THE ANALYTICS TEAM</a:t>
            </a:r>
          </a:p>
        </p:txBody>
      </p:sp>
      <p:sp>
        <p:nvSpPr>
          <p:cNvPr id="33" name="TextBox 32"/>
          <p:cNvSpPr txBox="1"/>
          <p:nvPr/>
        </p:nvSpPr>
        <p:spPr>
          <a:xfrm>
            <a:off x="6300216" y="2048256"/>
            <a:ext cx="4983480" cy="420624"/>
          </a:xfrm>
          <a:prstGeom prst="rect">
            <a:avLst/>
          </a:prstGeom>
          <a:noFill/>
        </p:spPr>
        <p:txBody>
          <a:bodyPr wrap="square" anchor="t" lIns="0" rIns="0" tIns="0" bIns="0">
            <a:spAutoFit/>
          </a:bodyPr>
          <a:lstStyle/>
          <a:p>
            <a:pPr algn="l">
              <a:lnSpc>
                <a:spcPct val="108000"/>
              </a:lnSpc>
              <a:spcBef>
                <a:spcPts val="0"/>
              </a:spcBef>
              <a:spcAft>
                <a:spcPts val="0"/>
              </a:spcAft>
            </a:pPr>
            <a:r>
              <a:rPr sz="1000" b="0">
                <a:solidFill>
                  <a:srgbClr val="454F5C"/>
                </a:solidFill>
                <a:latin typeface="Calibri"/>
              </a:rPr>
              <a:t>The people who can query the warehouse, and today the only route to it</a:t>
            </a:r>
          </a:p>
        </p:txBody>
      </p:sp>
      <p:sp>
        <p:nvSpPr>
          <p:cNvPr id="34" name="Rounded Rectangle 33"/>
          <p:cNvSpPr/>
          <p:nvPr/>
        </p:nvSpPr>
        <p:spPr>
          <a:xfrm>
            <a:off x="6080760" y="2596896"/>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80760" y="2596896"/>
            <a:ext cx="2651760"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7064" y="2724912"/>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The only route to the data</a:t>
            </a:r>
          </a:p>
        </p:txBody>
      </p:sp>
      <p:sp>
        <p:nvSpPr>
          <p:cNvPr id="37" name="TextBox 36"/>
          <p:cNvSpPr txBox="1"/>
          <p:nvPr/>
        </p:nvSpPr>
        <p:spPr>
          <a:xfrm>
            <a:off x="6227064" y="2926079"/>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Every business question has to pass through the team to be answered</a:t>
            </a:r>
          </a:p>
        </p:txBody>
      </p:sp>
      <p:sp>
        <p:nvSpPr>
          <p:cNvPr id="38" name="Rounded Rectangle 37"/>
          <p:cNvSpPr/>
          <p:nvPr/>
        </p:nvSpPr>
        <p:spPr>
          <a:xfrm>
            <a:off x="8851392" y="2596896"/>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51392" y="2596896"/>
            <a:ext cx="2651760"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97696" y="2724912"/>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Most of the queue is routine</a:t>
            </a:r>
          </a:p>
        </p:txBody>
      </p:sp>
      <p:sp>
        <p:nvSpPr>
          <p:cNvPr id="41" name="TextBox 40"/>
          <p:cNvSpPr txBox="1"/>
          <p:nvPr/>
        </p:nvSpPr>
        <p:spPr>
          <a:xfrm>
            <a:off x="8997696" y="2926079"/>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Extracts and cuts that differ only in the filter applied</a:t>
            </a:r>
          </a:p>
        </p:txBody>
      </p:sp>
      <p:sp>
        <p:nvSpPr>
          <p:cNvPr id="42" name="Rounded Rectangle 41"/>
          <p:cNvSpPr/>
          <p:nvPr/>
        </p:nvSpPr>
        <p:spPr>
          <a:xfrm>
            <a:off x="6080760" y="3364991"/>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80760" y="3364991"/>
            <a:ext cx="2651760"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27064" y="3493008"/>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The same question, re-asked</a:t>
            </a:r>
          </a:p>
        </p:txBody>
      </p:sp>
      <p:sp>
        <p:nvSpPr>
          <p:cNvPr id="45" name="TextBox 44"/>
          <p:cNvSpPr txBox="1"/>
          <p:nvPr/>
        </p:nvSpPr>
        <p:spPr>
          <a:xfrm>
            <a:off x="6227064" y="3694176"/>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Work repeats because nothing from last quarter is reusable</a:t>
            </a:r>
          </a:p>
        </p:txBody>
      </p:sp>
      <p:sp>
        <p:nvSpPr>
          <p:cNvPr id="46" name="Rounded Rectangle 45"/>
          <p:cNvSpPr/>
          <p:nvPr/>
        </p:nvSpPr>
        <p:spPr>
          <a:xfrm>
            <a:off x="8851392" y="3364991"/>
            <a:ext cx="2651760" cy="67665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851392" y="3364991"/>
            <a:ext cx="2651760"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97696" y="3493008"/>
            <a:ext cx="2359152" cy="182880"/>
          </a:xfrm>
          <a:prstGeom prst="rect">
            <a:avLst/>
          </a:prstGeom>
          <a:noFill/>
        </p:spPr>
        <p:txBody>
          <a:bodyPr wrap="square" anchor="t" lIns="0" rIns="0" tIns="0" bIns="0">
            <a:spAutoFit/>
          </a:bodyPr>
          <a:lstStyle/>
          <a:p>
            <a:pPr algn="l">
              <a:lnSpc>
                <a:spcPct val="104000"/>
              </a:lnSpc>
              <a:spcBef>
                <a:spcPts val="0"/>
              </a:spcBef>
              <a:spcAft>
                <a:spcPts val="0"/>
              </a:spcAft>
            </a:pPr>
            <a:r>
              <a:rPr sz="900" b="1">
                <a:solidFill>
                  <a:srgbClr val="16202E"/>
                </a:solidFill>
                <a:latin typeface="Calibri"/>
              </a:rPr>
              <a:t>Specialist work waits</a:t>
            </a:r>
          </a:p>
        </p:txBody>
      </p:sp>
      <p:sp>
        <p:nvSpPr>
          <p:cNvPr id="49" name="TextBox 48"/>
          <p:cNvSpPr txBox="1"/>
          <p:nvPr/>
        </p:nvSpPr>
        <p:spPr>
          <a:xfrm>
            <a:off x="8997696" y="3694176"/>
            <a:ext cx="2359152" cy="292608"/>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Modelling and experiment design lose out to the intake queue</a:t>
            </a:r>
          </a:p>
        </p:txBody>
      </p:sp>
      <p:sp>
        <p:nvSpPr>
          <p:cNvPr id="50" name="Rounded Rectangle 49"/>
          <p:cNvSpPr/>
          <p:nvPr/>
        </p:nvSpPr>
        <p:spPr>
          <a:xfrm>
            <a:off x="685800" y="4169663"/>
            <a:ext cx="10820095" cy="292608"/>
          </a:xfrm>
          <a:prstGeom prst="round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 y="4169663"/>
            <a:ext cx="10820095" cy="292608"/>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THE GAP THIS CREATES, ON BOTH SIDES</a:t>
            </a:r>
          </a:p>
        </p:txBody>
      </p:sp>
      <p:sp>
        <p:nvSpPr>
          <p:cNvPr id="52" name="Rounded Rectangle 51"/>
          <p:cNvSpPr/>
          <p:nvPr/>
        </p:nvSpPr>
        <p:spPr>
          <a:xfrm>
            <a:off x="685800" y="4553712"/>
            <a:ext cx="2061606" cy="120700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85800" y="455371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50392" y="4700016"/>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0392" y="4700016"/>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1</a:t>
            </a:r>
          </a:p>
        </p:txBody>
      </p:sp>
      <p:sp>
        <p:nvSpPr>
          <p:cNvPr id="56" name="TextBox 55"/>
          <p:cNvSpPr txBox="1"/>
          <p:nvPr/>
        </p:nvSpPr>
        <p:spPr>
          <a:xfrm>
            <a:off x="850392" y="5010912"/>
            <a:ext cx="1732422" cy="384048"/>
          </a:xfrm>
          <a:prstGeom prst="rect">
            <a:avLst/>
          </a:prstGeom>
          <a:noFill/>
        </p:spPr>
        <p:txBody>
          <a:bodyPr wrap="square" anchor="t" lIns="0" rIns="0" tIns="0" bIns="0">
            <a:spAutoFit/>
          </a:bodyPr>
          <a:lstStyle/>
          <a:p>
            <a:pPr algn="l">
              <a:lnSpc>
                <a:spcPct val="106000"/>
              </a:lnSpc>
              <a:spcBef>
                <a:spcPts val="0"/>
              </a:spcBef>
              <a:spcAft>
                <a:spcPts val="0"/>
              </a:spcAft>
            </a:pPr>
            <a:r>
              <a:rPr sz="1000" b="1">
                <a:solidFill>
                  <a:srgbClr val="16202E"/>
                </a:solidFill>
                <a:latin typeface="Calibri"/>
              </a:rPr>
              <a:t>Every question is second hand</a:t>
            </a:r>
          </a:p>
        </p:txBody>
      </p:sp>
      <p:sp>
        <p:nvSpPr>
          <p:cNvPr id="57" name="TextBox 56"/>
          <p:cNvSpPr txBox="1"/>
          <p:nvPr/>
        </p:nvSpPr>
        <p:spPr>
          <a:xfrm>
            <a:off x="850392" y="5413248"/>
            <a:ext cx="1732422" cy="310896"/>
          </a:xfrm>
          <a:prstGeom prst="rect">
            <a:avLst/>
          </a:prstGeom>
          <a:noFill/>
        </p:spPr>
        <p:txBody>
          <a:bodyPr wrap="square" anchor="t" lIns="0" rIns="0" tIns="0" bIns="0">
            <a:spAutoFit/>
          </a:bodyPr>
          <a:lstStyle/>
          <a:p>
            <a:pPr algn="l">
              <a:lnSpc>
                <a:spcPct val="106000"/>
              </a:lnSpc>
              <a:spcBef>
                <a:spcPts val="0"/>
              </a:spcBef>
              <a:spcAft>
                <a:spcPts val="0"/>
              </a:spcAft>
            </a:pPr>
            <a:r>
              <a:rPr sz="800" b="0">
                <a:solidFill>
                  <a:srgbClr val="6A7177"/>
                </a:solidFill>
                <a:latin typeface="Calibri"/>
              </a:rPr>
              <a:t>It is rewritten by somebody else before the data ever sees it</a:t>
            </a:r>
          </a:p>
        </p:txBody>
      </p:sp>
      <p:sp>
        <p:nvSpPr>
          <p:cNvPr id="58" name="Rounded Rectangle 57"/>
          <p:cNvSpPr/>
          <p:nvPr/>
        </p:nvSpPr>
        <p:spPr>
          <a:xfrm>
            <a:off x="2875422" y="4553712"/>
            <a:ext cx="2061606" cy="120700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875422" y="455371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040014" y="4700016"/>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040014" y="4700016"/>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2</a:t>
            </a:r>
          </a:p>
        </p:txBody>
      </p:sp>
      <p:sp>
        <p:nvSpPr>
          <p:cNvPr id="62" name="TextBox 61"/>
          <p:cNvSpPr txBox="1"/>
          <p:nvPr/>
        </p:nvSpPr>
        <p:spPr>
          <a:xfrm>
            <a:off x="3040014" y="5010912"/>
            <a:ext cx="1732422" cy="384048"/>
          </a:xfrm>
          <a:prstGeom prst="rect">
            <a:avLst/>
          </a:prstGeom>
          <a:noFill/>
        </p:spPr>
        <p:txBody>
          <a:bodyPr wrap="square" anchor="t" lIns="0" rIns="0" tIns="0" bIns="0">
            <a:spAutoFit/>
          </a:bodyPr>
          <a:lstStyle/>
          <a:p>
            <a:pPr algn="l">
              <a:lnSpc>
                <a:spcPct val="106000"/>
              </a:lnSpc>
              <a:spcBef>
                <a:spcPts val="0"/>
              </a:spcBef>
              <a:spcAft>
                <a:spcPts val="0"/>
              </a:spcAft>
            </a:pPr>
            <a:r>
              <a:rPr sz="1000" b="1">
                <a:solidFill>
                  <a:srgbClr val="16202E"/>
                </a:solidFill>
                <a:latin typeface="Calibri"/>
              </a:rPr>
              <a:t>The loop is days long</a:t>
            </a:r>
          </a:p>
        </p:txBody>
      </p:sp>
      <p:sp>
        <p:nvSpPr>
          <p:cNvPr id="63" name="TextBox 62"/>
          <p:cNvSpPr txBox="1"/>
          <p:nvPr/>
        </p:nvSpPr>
        <p:spPr>
          <a:xfrm>
            <a:off x="3040014" y="5413248"/>
            <a:ext cx="1732422" cy="310896"/>
          </a:xfrm>
          <a:prstGeom prst="rect">
            <a:avLst/>
          </a:prstGeom>
          <a:noFill/>
        </p:spPr>
        <p:txBody>
          <a:bodyPr wrap="square" anchor="t" lIns="0" rIns="0" tIns="0" bIns="0">
            <a:spAutoFit/>
          </a:bodyPr>
          <a:lstStyle/>
          <a:p>
            <a:pPr algn="l">
              <a:lnSpc>
                <a:spcPct val="106000"/>
              </a:lnSpc>
              <a:spcBef>
                <a:spcPts val="0"/>
              </a:spcBef>
              <a:spcAft>
                <a:spcPts val="0"/>
              </a:spcAft>
            </a:pPr>
            <a:r>
              <a:rPr sz="800" b="0">
                <a:solidFill>
                  <a:srgbClr val="6A7177"/>
                </a:solidFill>
                <a:latin typeface="Calibri"/>
              </a:rPr>
              <a:t>A follow up question costs another round trip through the queue</a:t>
            </a:r>
          </a:p>
        </p:txBody>
      </p:sp>
      <p:sp>
        <p:nvSpPr>
          <p:cNvPr id="64" name="Rounded Rectangle 63"/>
          <p:cNvSpPr/>
          <p:nvPr/>
        </p:nvSpPr>
        <p:spPr>
          <a:xfrm>
            <a:off x="5065044" y="4553712"/>
            <a:ext cx="2061606" cy="120700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65044" y="455371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229636" y="4700016"/>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229636" y="4700016"/>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3</a:t>
            </a:r>
          </a:p>
        </p:txBody>
      </p:sp>
      <p:sp>
        <p:nvSpPr>
          <p:cNvPr id="68" name="TextBox 67"/>
          <p:cNvSpPr txBox="1"/>
          <p:nvPr/>
        </p:nvSpPr>
        <p:spPr>
          <a:xfrm>
            <a:off x="5229636" y="5010912"/>
            <a:ext cx="1732422" cy="384048"/>
          </a:xfrm>
          <a:prstGeom prst="rect">
            <a:avLst/>
          </a:prstGeom>
          <a:noFill/>
        </p:spPr>
        <p:txBody>
          <a:bodyPr wrap="square" anchor="t" lIns="0" rIns="0" tIns="0" bIns="0">
            <a:spAutoFit/>
          </a:bodyPr>
          <a:lstStyle/>
          <a:p>
            <a:pPr algn="l">
              <a:lnSpc>
                <a:spcPct val="106000"/>
              </a:lnSpc>
              <a:spcBef>
                <a:spcPts val="0"/>
              </a:spcBef>
              <a:spcAft>
                <a:spcPts val="0"/>
              </a:spcAft>
            </a:pPr>
            <a:r>
              <a:rPr sz="1000" b="1">
                <a:solidFill>
                  <a:srgbClr val="16202E"/>
                </a:solidFill>
                <a:latin typeface="Calibri"/>
              </a:rPr>
              <a:t>Analysts carry the routine</a:t>
            </a:r>
          </a:p>
        </p:txBody>
      </p:sp>
      <p:sp>
        <p:nvSpPr>
          <p:cNvPr id="69" name="TextBox 68"/>
          <p:cNvSpPr txBox="1"/>
          <p:nvPr/>
        </p:nvSpPr>
        <p:spPr>
          <a:xfrm>
            <a:off x="5229636" y="5413248"/>
            <a:ext cx="1732422" cy="310896"/>
          </a:xfrm>
          <a:prstGeom prst="rect">
            <a:avLst/>
          </a:prstGeom>
          <a:noFill/>
        </p:spPr>
        <p:txBody>
          <a:bodyPr wrap="square" anchor="t" lIns="0" rIns="0" tIns="0" bIns="0">
            <a:spAutoFit/>
          </a:bodyPr>
          <a:lstStyle/>
          <a:p>
            <a:pPr algn="l">
              <a:lnSpc>
                <a:spcPct val="106000"/>
              </a:lnSpc>
              <a:spcBef>
                <a:spcPts val="0"/>
              </a:spcBef>
              <a:spcAft>
                <a:spcPts val="0"/>
              </a:spcAft>
            </a:pPr>
            <a:r>
              <a:rPr sz="800" b="0">
                <a:solidFill>
                  <a:srgbClr val="6A7177"/>
                </a:solidFill>
                <a:latin typeface="Calibri"/>
              </a:rPr>
              <a:t>Skilled people spend the week on questions a system could answer</a:t>
            </a:r>
          </a:p>
        </p:txBody>
      </p:sp>
      <p:sp>
        <p:nvSpPr>
          <p:cNvPr id="70" name="Rounded Rectangle 69"/>
          <p:cNvSpPr/>
          <p:nvPr/>
        </p:nvSpPr>
        <p:spPr>
          <a:xfrm>
            <a:off x="7254666" y="4553712"/>
            <a:ext cx="2061606" cy="120700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254666" y="455371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419258" y="4700016"/>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19258" y="4700016"/>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4</a:t>
            </a:r>
          </a:p>
        </p:txBody>
      </p:sp>
      <p:sp>
        <p:nvSpPr>
          <p:cNvPr id="74" name="TextBox 73"/>
          <p:cNvSpPr txBox="1"/>
          <p:nvPr/>
        </p:nvSpPr>
        <p:spPr>
          <a:xfrm>
            <a:off x="7419258" y="5010912"/>
            <a:ext cx="1732422" cy="384048"/>
          </a:xfrm>
          <a:prstGeom prst="rect">
            <a:avLst/>
          </a:prstGeom>
          <a:noFill/>
        </p:spPr>
        <p:txBody>
          <a:bodyPr wrap="square" anchor="t" lIns="0" rIns="0" tIns="0" bIns="0">
            <a:spAutoFit/>
          </a:bodyPr>
          <a:lstStyle/>
          <a:p>
            <a:pPr algn="l">
              <a:lnSpc>
                <a:spcPct val="106000"/>
              </a:lnSpc>
              <a:spcBef>
                <a:spcPts val="0"/>
              </a:spcBef>
              <a:spcAft>
                <a:spcPts val="0"/>
              </a:spcAft>
            </a:pPr>
            <a:r>
              <a:rPr sz="1000" b="1">
                <a:solidFill>
                  <a:srgbClr val="16202E"/>
                </a:solidFill>
                <a:latin typeface="Calibri"/>
              </a:rPr>
              <a:t>Nothing compounds</a:t>
            </a:r>
          </a:p>
        </p:txBody>
      </p:sp>
      <p:sp>
        <p:nvSpPr>
          <p:cNvPr id="75" name="TextBox 74"/>
          <p:cNvSpPr txBox="1"/>
          <p:nvPr/>
        </p:nvSpPr>
        <p:spPr>
          <a:xfrm>
            <a:off x="7419258" y="5413248"/>
            <a:ext cx="1732422" cy="310896"/>
          </a:xfrm>
          <a:prstGeom prst="rect">
            <a:avLst/>
          </a:prstGeom>
          <a:noFill/>
        </p:spPr>
        <p:txBody>
          <a:bodyPr wrap="square" anchor="t" lIns="0" rIns="0" tIns="0" bIns="0">
            <a:spAutoFit/>
          </a:bodyPr>
          <a:lstStyle/>
          <a:p>
            <a:pPr algn="l">
              <a:lnSpc>
                <a:spcPct val="106000"/>
              </a:lnSpc>
              <a:spcBef>
                <a:spcPts val="0"/>
              </a:spcBef>
              <a:spcAft>
                <a:spcPts val="0"/>
              </a:spcAft>
            </a:pPr>
            <a:r>
              <a:rPr sz="800" b="0">
                <a:solidFill>
                  <a:srgbClr val="6A7177"/>
                </a:solidFill>
                <a:latin typeface="Calibri"/>
              </a:rPr>
              <a:t>Last quarter's answer sits in a thread, not somewhere you can ask again</a:t>
            </a:r>
          </a:p>
        </p:txBody>
      </p:sp>
      <p:sp>
        <p:nvSpPr>
          <p:cNvPr id="76" name="Rounded Rectangle 75"/>
          <p:cNvSpPr/>
          <p:nvPr/>
        </p:nvSpPr>
        <p:spPr>
          <a:xfrm>
            <a:off x="9444288" y="4553712"/>
            <a:ext cx="2061606" cy="120700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444288" y="455371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9608880" y="4700016"/>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608880" y="4700016"/>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5</a:t>
            </a:r>
          </a:p>
        </p:txBody>
      </p:sp>
      <p:sp>
        <p:nvSpPr>
          <p:cNvPr id="80" name="TextBox 79"/>
          <p:cNvSpPr txBox="1"/>
          <p:nvPr/>
        </p:nvSpPr>
        <p:spPr>
          <a:xfrm>
            <a:off x="9608880" y="5010912"/>
            <a:ext cx="1732422" cy="384048"/>
          </a:xfrm>
          <a:prstGeom prst="rect">
            <a:avLst/>
          </a:prstGeom>
          <a:noFill/>
        </p:spPr>
        <p:txBody>
          <a:bodyPr wrap="square" anchor="t" lIns="0" rIns="0" tIns="0" bIns="0">
            <a:spAutoFit/>
          </a:bodyPr>
          <a:lstStyle/>
          <a:p>
            <a:pPr algn="l">
              <a:lnSpc>
                <a:spcPct val="106000"/>
              </a:lnSpc>
              <a:spcBef>
                <a:spcPts val="0"/>
              </a:spcBef>
              <a:spcAft>
                <a:spcPts val="0"/>
              </a:spcAft>
            </a:pPr>
            <a:r>
              <a:rPr sz="1000" b="1">
                <a:solidFill>
                  <a:srgbClr val="16202E"/>
                </a:solidFill>
                <a:latin typeface="Calibri"/>
              </a:rPr>
              <a:t>Conclusions without workings</a:t>
            </a:r>
          </a:p>
        </p:txBody>
      </p:sp>
      <p:sp>
        <p:nvSpPr>
          <p:cNvPr id="81" name="TextBox 80"/>
          <p:cNvSpPr txBox="1"/>
          <p:nvPr/>
        </p:nvSpPr>
        <p:spPr>
          <a:xfrm>
            <a:off x="9608880" y="5413248"/>
            <a:ext cx="1732422" cy="310896"/>
          </a:xfrm>
          <a:prstGeom prst="rect">
            <a:avLst/>
          </a:prstGeom>
          <a:noFill/>
        </p:spPr>
        <p:txBody>
          <a:bodyPr wrap="square" anchor="t" lIns="0" rIns="0" tIns="0" bIns="0">
            <a:spAutoFit/>
          </a:bodyPr>
          <a:lstStyle/>
          <a:p>
            <a:pPr algn="l">
              <a:lnSpc>
                <a:spcPct val="106000"/>
              </a:lnSpc>
              <a:spcBef>
                <a:spcPts val="0"/>
              </a:spcBef>
              <a:spcAft>
                <a:spcPts val="0"/>
              </a:spcAft>
            </a:pPr>
            <a:r>
              <a:rPr sz="800" b="0">
                <a:solidFill>
                  <a:srgbClr val="6A7177"/>
                </a:solidFill>
                <a:latin typeface="Calibri"/>
              </a:rPr>
              <a:t>Hard to challenge, and harder to trust at the size of the decision</a:t>
            </a:r>
          </a:p>
        </p:txBody>
      </p:sp>
      <p:sp>
        <p:nvSpPr>
          <p:cNvPr id="82" name="TextBox 81"/>
          <p:cNvSpPr txBox="1"/>
          <p:nvPr/>
        </p:nvSpPr>
        <p:spPr>
          <a:xfrm>
            <a:off x="685800" y="5870448"/>
            <a:ext cx="10820095" cy="274320"/>
          </a:xfrm>
          <a:prstGeom prst="rect">
            <a:avLst/>
          </a:prstGeom>
          <a:noFill/>
        </p:spPr>
        <p:txBody>
          <a:bodyPr wrap="square" anchor="t" lIns="0" rIns="0" tIns="0" bIns="0">
            <a:spAutoFit/>
          </a:bodyPr>
          <a:lstStyle/>
          <a:p>
            <a:pPr algn="l">
              <a:lnSpc>
                <a:spcPct val="104000"/>
              </a:lnSpc>
              <a:spcBef>
                <a:spcPts val="0"/>
              </a:spcBef>
              <a:spcAft>
                <a:spcPts val="0"/>
              </a:spcAft>
            </a:pPr>
            <a:r>
              <a:rPr sz="1050" b="0">
                <a:solidFill>
                  <a:srgbClr val="454F5C"/>
                </a:solidFill>
                <a:latin typeface="Calibri"/>
              </a:rPr>
              <a:t>Nexus serves both sides: the business stakeholder asks the data directly, and the analyst is freed for the work that genuinely needs a specialist.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PROPOSED SOLUTION · NEXUS</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Nexus gives the business team one place to ask, size, test and launch, and hands the Board the workings behind every number</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03</a:t>
            </a:r>
          </a:p>
        </p:txBody>
      </p:sp>
      <p:sp>
        <p:nvSpPr>
          <p:cNvPr id="10" name="TextBox 9"/>
          <p:cNvSpPr txBox="1"/>
          <p:nvPr/>
        </p:nvSpPr>
        <p:spPr>
          <a:xfrm>
            <a:off x="685800" y="1700784"/>
            <a:ext cx="3521354" cy="146304"/>
          </a:xfrm>
          <a:prstGeom prst="rect">
            <a:avLst/>
          </a:prstGeom>
          <a:noFill/>
        </p:spPr>
        <p:txBody>
          <a:bodyPr wrap="square" anchor="t" lIns="0" rIns="0" tIns="0" bIns="0">
            <a:spAutoFit/>
          </a:bodyPr>
          <a:lstStyle/>
          <a:p>
            <a:pPr algn="ctr">
              <a:lnSpc>
                <a:spcPct val="104000"/>
              </a:lnSpc>
              <a:spcBef>
                <a:spcPts val="0"/>
              </a:spcBef>
              <a:spcAft>
                <a:spcPts val="0"/>
              </a:spcAft>
            </a:pPr>
            <a:r>
              <a:rPr sz="850" b="1">
                <a:solidFill>
                  <a:srgbClr val="2E5A88"/>
                </a:solidFill>
                <a:latin typeface="Calibri"/>
              </a:rPr>
              <a:t>BOARD OF DIRECTORS</a:t>
            </a:r>
          </a:p>
        </p:txBody>
      </p:sp>
      <p:sp>
        <p:nvSpPr>
          <p:cNvPr id="11" name="TextBox 10"/>
          <p:cNvSpPr txBox="1"/>
          <p:nvPr/>
        </p:nvSpPr>
        <p:spPr>
          <a:xfrm>
            <a:off x="685800" y="1856231"/>
            <a:ext cx="3521354" cy="146304"/>
          </a:xfrm>
          <a:prstGeom prst="rect">
            <a:avLst/>
          </a:prstGeom>
          <a:noFill/>
        </p:spPr>
        <p:txBody>
          <a:bodyPr wrap="square" anchor="t" lIns="0" rIns="0" tIns="0" bIns="0">
            <a:spAutoFit/>
          </a:bodyPr>
          <a:lstStyle/>
          <a:p>
            <a:pPr algn="ctr">
              <a:lnSpc>
                <a:spcPct val="104000"/>
              </a:lnSpc>
              <a:spcBef>
                <a:spcPts val="0"/>
              </a:spcBef>
              <a:spcAft>
                <a:spcPts val="0"/>
              </a:spcAft>
            </a:pPr>
            <a:r>
              <a:rPr sz="750" b="0">
                <a:solidFill>
                  <a:srgbClr val="6A7177"/>
                </a:solidFill>
                <a:latin typeface="Calibri"/>
              </a:rPr>
              <a:t>Sets the objective, and asks for the evidence behind it</a:t>
            </a:r>
          </a:p>
        </p:txBody>
      </p:sp>
      <p:sp>
        <p:nvSpPr>
          <p:cNvPr id="12" name="Rounded Rectangle 11"/>
          <p:cNvSpPr/>
          <p:nvPr/>
        </p:nvSpPr>
        <p:spPr>
          <a:xfrm>
            <a:off x="685800" y="2029968"/>
            <a:ext cx="3521354" cy="53035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26971" y="2121408"/>
            <a:ext cx="141732" cy="141732"/>
          </a:xfrm>
          <a:prstGeom prst="ellipse">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78965" y="2290571"/>
            <a:ext cx="237744" cy="173736"/>
          </a:xfrm>
          <a:prstGeom prst="roundRect">
            <a:avLst>
              <a:gd name="adj" fmla="val 50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101291" y="2121408"/>
            <a:ext cx="141732" cy="141732"/>
          </a:xfrm>
          <a:prstGeom prst="ellipse">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053285" y="2290571"/>
            <a:ext cx="237744" cy="173736"/>
          </a:xfrm>
          <a:prstGeom prst="roundRect">
            <a:avLst>
              <a:gd name="adj" fmla="val 50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75611" y="2121408"/>
            <a:ext cx="141732" cy="141732"/>
          </a:xfrm>
          <a:prstGeom prst="ellipse">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327605" y="2290571"/>
            <a:ext cx="237744" cy="173736"/>
          </a:xfrm>
          <a:prstGeom prst="roundRect">
            <a:avLst>
              <a:gd name="adj" fmla="val 50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49931" y="2121408"/>
            <a:ext cx="141732" cy="141732"/>
          </a:xfrm>
          <a:prstGeom prst="ellipse">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601925" y="2290571"/>
            <a:ext cx="237744" cy="173736"/>
          </a:xfrm>
          <a:prstGeom prst="roundRect">
            <a:avLst>
              <a:gd name="adj" fmla="val 50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924251" y="2121408"/>
            <a:ext cx="141732" cy="141732"/>
          </a:xfrm>
          <a:prstGeom prst="ellipse">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76245" y="2290571"/>
            <a:ext cx="237744" cy="173736"/>
          </a:xfrm>
          <a:prstGeom prst="roundRect">
            <a:avLst>
              <a:gd name="adj" fmla="val 50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2355037" y="2615184"/>
            <a:ext cx="182880" cy="237744"/>
          </a:xfrm>
          <a:prstGeom prst="downArrow">
            <a:avLst>
              <a:gd name="adj1" fmla="val 45000"/>
              <a:gd name="adj2" fmla="val 55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5170" y="1700784"/>
            <a:ext cx="3521354" cy="146304"/>
          </a:xfrm>
          <a:prstGeom prst="rect">
            <a:avLst/>
          </a:prstGeom>
          <a:noFill/>
        </p:spPr>
        <p:txBody>
          <a:bodyPr wrap="square" anchor="t" lIns="0" rIns="0" tIns="0" bIns="0">
            <a:spAutoFit/>
          </a:bodyPr>
          <a:lstStyle/>
          <a:p>
            <a:pPr algn="ctr">
              <a:lnSpc>
                <a:spcPct val="104000"/>
              </a:lnSpc>
              <a:spcBef>
                <a:spcPts val="0"/>
              </a:spcBef>
              <a:spcAft>
                <a:spcPts val="0"/>
              </a:spcAft>
            </a:pPr>
            <a:r>
              <a:rPr sz="850" b="1">
                <a:solidFill>
                  <a:srgbClr val="5B87B5"/>
                </a:solidFill>
                <a:latin typeface="Calibri"/>
              </a:rPr>
              <a:t>BUSINESS STAKEHOLDERS</a:t>
            </a:r>
          </a:p>
        </p:txBody>
      </p:sp>
      <p:sp>
        <p:nvSpPr>
          <p:cNvPr id="25" name="TextBox 24"/>
          <p:cNvSpPr txBox="1"/>
          <p:nvPr/>
        </p:nvSpPr>
        <p:spPr>
          <a:xfrm>
            <a:off x="4335170" y="1856231"/>
            <a:ext cx="3521354" cy="146304"/>
          </a:xfrm>
          <a:prstGeom prst="rect">
            <a:avLst/>
          </a:prstGeom>
          <a:noFill/>
        </p:spPr>
        <p:txBody>
          <a:bodyPr wrap="square" anchor="t" lIns="0" rIns="0" tIns="0" bIns="0">
            <a:spAutoFit/>
          </a:bodyPr>
          <a:lstStyle/>
          <a:p>
            <a:pPr algn="ctr">
              <a:lnSpc>
                <a:spcPct val="104000"/>
              </a:lnSpc>
              <a:spcBef>
                <a:spcPts val="0"/>
              </a:spcBef>
              <a:spcAft>
                <a:spcPts val="0"/>
              </a:spcAft>
            </a:pPr>
            <a:r>
              <a:rPr sz="750" b="0">
                <a:solidFill>
                  <a:srgbClr val="6A7177"/>
                </a:solidFill>
                <a:latin typeface="Calibri"/>
              </a:rPr>
              <a:t>Customer Experience, Personal Banking, Premier Banking, Wealth Management</a:t>
            </a:r>
          </a:p>
        </p:txBody>
      </p:sp>
      <p:sp>
        <p:nvSpPr>
          <p:cNvPr id="26" name="Rounded Rectangle 25"/>
          <p:cNvSpPr/>
          <p:nvPr/>
        </p:nvSpPr>
        <p:spPr>
          <a:xfrm>
            <a:off x="4335170" y="2029968"/>
            <a:ext cx="3521354" cy="53035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50661" y="2121408"/>
            <a:ext cx="141732" cy="141732"/>
          </a:xfrm>
          <a:prstGeom prst="ellipse">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702655" y="2290571"/>
            <a:ext cx="237744" cy="173736"/>
          </a:xfrm>
          <a:prstGeom prst="roundRect">
            <a:avLst>
              <a:gd name="adj" fmla="val 50000"/>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24981" y="2121408"/>
            <a:ext cx="141732" cy="141732"/>
          </a:xfrm>
          <a:prstGeom prst="ellipse">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76975" y="2290571"/>
            <a:ext cx="237744" cy="173736"/>
          </a:xfrm>
          <a:prstGeom prst="roundRect">
            <a:avLst>
              <a:gd name="adj" fmla="val 50000"/>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99301" y="2121408"/>
            <a:ext cx="141732" cy="141732"/>
          </a:xfrm>
          <a:prstGeom prst="ellipse">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251295" y="2290571"/>
            <a:ext cx="237744" cy="173736"/>
          </a:xfrm>
          <a:prstGeom prst="roundRect">
            <a:avLst>
              <a:gd name="adj" fmla="val 50000"/>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wn Arrow 32"/>
          <p:cNvSpPr/>
          <p:nvPr/>
        </p:nvSpPr>
        <p:spPr>
          <a:xfrm>
            <a:off x="6004407" y="2615184"/>
            <a:ext cx="182880" cy="237744"/>
          </a:xfrm>
          <a:prstGeom prst="downArrow">
            <a:avLst>
              <a:gd name="adj1" fmla="val 45000"/>
              <a:gd name="adj2" fmla="val 55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4540" y="1700784"/>
            <a:ext cx="3521354" cy="146304"/>
          </a:xfrm>
          <a:prstGeom prst="rect">
            <a:avLst/>
          </a:prstGeom>
          <a:noFill/>
        </p:spPr>
        <p:txBody>
          <a:bodyPr wrap="square" anchor="t" lIns="0" rIns="0" tIns="0" bIns="0">
            <a:spAutoFit/>
          </a:bodyPr>
          <a:lstStyle/>
          <a:p>
            <a:pPr algn="ctr">
              <a:lnSpc>
                <a:spcPct val="104000"/>
              </a:lnSpc>
              <a:spcBef>
                <a:spcPts val="0"/>
              </a:spcBef>
              <a:spcAft>
                <a:spcPts val="0"/>
              </a:spcAft>
            </a:pPr>
            <a:r>
              <a:rPr sz="850" b="1">
                <a:solidFill>
                  <a:srgbClr val="A9603C"/>
                </a:solidFill>
                <a:latin typeface="Calibri"/>
              </a:rPr>
              <a:t>THE ANALYTICS TEAM</a:t>
            </a:r>
          </a:p>
        </p:txBody>
      </p:sp>
      <p:sp>
        <p:nvSpPr>
          <p:cNvPr id="35" name="TextBox 34"/>
          <p:cNvSpPr txBox="1"/>
          <p:nvPr/>
        </p:nvSpPr>
        <p:spPr>
          <a:xfrm>
            <a:off x="7984540" y="1856231"/>
            <a:ext cx="3521354" cy="146304"/>
          </a:xfrm>
          <a:prstGeom prst="rect">
            <a:avLst/>
          </a:prstGeom>
          <a:noFill/>
        </p:spPr>
        <p:txBody>
          <a:bodyPr wrap="square" anchor="t" lIns="0" rIns="0" tIns="0" bIns="0">
            <a:spAutoFit/>
          </a:bodyPr>
          <a:lstStyle/>
          <a:p>
            <a:pPr algn="ctr">
              <a:lnSpc>
                <a:spcPct val="104000"/>
              </a:lnSpc>
              <a:spcBef>
                <a:spcPts val="0"/>
              </a:spcBef>
              <a:spcAft>
                <a:spcPts val="0"/>
              </a:spcAft>
            </a:pPr>
            <a:r>
              <a:rPr sz="750" b="0">
                <a:solidFill>
                  <a:srgbClr val="6A7177"/>
                </a:solidFill>
                <a:latin typeface="Calibri"/>
              </a:rPr>
              <a:t>Freed for the work that genuinely needs a specialist</a:t>
            </a:r>
          </a:p>
        </p:txBody>
      </p:sp>
      <p:sp>
        <p:nvSpPr>
          <p:cNvPr id="36" name="Rounded Rectangle 35"/>
          <p:cNvSpPr/>
          <p:nvPr/>
        </p:nvSpPr>
        <p:spPr>
          <a:xfrm>
            <a:off x="7984540" y="2029968"/>
            <a:ext cx="3521354" cy="53035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537192" y="2121408"/>
            <a:ext cx="141732" cy="141732"/>
          </a:xfrm>
          <a:prstGeom prst="ellipse">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489186" y="2290571"/>
            <a:ext cx="237744" cy="173736"/>
          </a:xfrm>
          <a:prstGeom prst="roundRect">
            <a:avLst>
              <a:gd name="adj" fmla="val 50000"/>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811512" y="2121408"/>
            <a:ext cx="141732" cy="141732"/>
          </a:xfrm>
          <a:prstGeom prst="ellipse">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763506" y="2290571"/>
            <a:ext cx="237744" cy="173736"/>
          </a:xfrm>
          <a:prstGeom prst="roundRect">
            <a:avLst>
              <a:gd name="adj" fmla="val 50000"/>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own Arrow 40"/>
          <p:cNvSpPr/>
          <p:nvPr/>
        </p:nvSpPr>
        <p:spPr>
          <a:xfrm>
            <a:off x="9653778" y="2615184"/>
            <a:ext cx="182880" cy="237744"/>
          </a:xfrm>
          <a:prstGeom prst="downArrow">
            <a:avLst>
              <a:gd name="adj1" fmla="val 45000"/>
              <a:gd name="adj2" fmla="val 55000"/>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85800" y="2907792"/>
            <a:ext cx="10820095" cy="2066544"/>
          </a:xfrm>
          <a:prstGeom prst="roundRect">
            <a:avLst/>
          </a:prstGeom>
          <a:solidFill>
            <a:srgbClr val="FDFDFE"/>
          </a:solidFill>
          <a:ln w="22225">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85800" y="2907792"/>
            <a:ext cx="10820095" cy="38404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2907792"/>
            <a:ext cx="1828800" cy="384048"/>
          </a:xfrm>
          <a:prstGeom prst="rect">
            <a:avLst/>
          </a:prstGeom>
          <a:noFill/>
        </p:spPr>
        <p:txBody>
          <a:bodyPr wrap="square" anchor="ctr" lIns="0" rIns="0" tIns="0" bIns="0">
            <a:spAutoFit/>
          </a:bodyPr>
          <a:lstStyle/>
          <a:p>
            <a:pPr algn="l">
              <a:lnSpc>
                <a:spcPct val="104000"/>
              </a:lnSpc>
              <a:spcBef>
                <a:spcPts val="0"/>
              </a:spcBef>
              <a:spcAft>
                <a:spcPts val="0"/>
              </a:spcAft>
            </a:pPr>
            <a:r>
              <a:rPr sz="1400" b="1">
                <a:solidFill>
                  <a:srgbClr val="FFFFFF"/>
                </a:solidFill>
                <a:latin typeface="Calibri"/>
              </a:rPr>
              <a:t>NEXUS</a:t>
            </a:r>
          </a:p>
        </p:txBody>
      </p:sp>
      <p:sp>
        <p:nvSpPr>
          <p:cNvPr id="45" name="TextBox 44"/>
          <p:cNvSpPr txBox="1"/>
          <p:nvPr/>
        </p:nvSpPr>
        <p:spPr>
          <a:xfrm>
            <a:off x="1874519" y="2907792"/>
            <a:ext cx="9375343" cy="384048"/>
          </a:xfrm>
          <a:prstGeom prst="rect">
            <a:avLst/>
          </a:prstGeom>
          <a:noFill/>
        </p:spPr>
        <p:txBody>
          <a:bodyPr wrap="square" anchor="ctr" lIns="0" rIns="0" tIns="0" bIns="0">
            <a:spAutoFit/>
          </a:bodyPr>
          <a:lstStyle/>
          <a:p>
            <a:pPr algn="l">
              <a:lnSpc>
                <a:spcPct val="104000"/>
              </a:lnSpc>
              <a:spcBef>
                <a:spcPts val="0"/>
              </a:spcBef>
              <a:spcAft>
                <a:spcPts val="0"/>
              </a:spcAft>
            </a:pPr>
            <a:r>
              <a:rPr sz="1100" b="0">
                <a:solidFill>
                  <a:srgbClr val="DCE6F0"/>
                </a:solidFill>
                <a:latin typeface="Calibri"/>
              </a:rPr>
              <a:t>One login. Ask in plain language, get the decision, the size in rupiah and the evidence behind it.</a:t>
            </a:r>
          </a:p>
        </p:txBody>
      </p:sp>
      <p:sp>
        <p:nvSpPr>
          <p:cNvPr id="46" name="Rounded Rectangle 45"/>
          <p:cNvSpPr/>
          <p:nvPr/>
        </p:nvSpPr>
        <p:spPr>
          <a:xfrm>
            <a:off x="832104" y="3401568"/>
            <a:ext cx="1663141" cy="1517904"/>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2104" y="3401568"/>
            <a:ext cx="1663141" cy="5486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96696" y="3547872"/>
            <a:ext cx="210312" cy="210312"/>
          </a:xfrm>
          <a:prstGeom prst="ellipse">
            <a:avLst/>
          </a:prstGeom>
          <a:noFill/>
          <a:ln w="22225">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79576" y="3730752"/>
            <a:ext cx="109728" cy="41148"/>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96696" y="3931920"/>
            <a:ext cx="274320" cy="1524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6696" y="4005072"/>
            <a:ext cx="133395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Insight</a:t>
            </a:r>
          </a:p>
        </p:txBody>
      </p:sp>
      <p:sp>
        <p:nvSpPr>
          <p:cNvPr id="52" name="TextBox 51"/>
          <p:cNvSpPr txBox="1"/>
          <p:nvPr/>
        </p:nvSpPr>
        <p:spPr>
          <a:xfrm>
            <a:off x="996696" y="4261104"/>
            <a:ext cx="1333957" cy="585216"/>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Ask in plain language. The answer leads with the decision, sized in rupiah</a:t>
            </a:r>
          </a:p>
        </p:txBody>
      </p:sp>
      <p:sp>
        <p:nvSpPr>
          <p:cNvPr id="53" name="Rounded Rectangle 52"/>
          <p:cNvSpPr/>
          <p:nvPr/>
        </p:nvSpPr>
        <p:spPr>
          <a:xfrm>
            <a:off x="2604973" y="3401568"/>
            <a:ext cx="1663141" cy="1517904"/>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604973" y="3401568"/>
            <a:ext cx="1663141" cy="54864"/>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69565" y="3721608"/>
            <a:ext cx="64008" cy="118872"/>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870149" y="3639312"/>
            <a:ext cx="64008" cy="201168"/>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970733" y="3566160"/>
            <a:ext cx="64008" cy="274320"/>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769565" y="3931920"/>
            <a:ext cx="274320" cy="1524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69565" y="4005072"/>
            <a:ext cx="133395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Dashboard</a:t>
            </a:r>
          </a:p>
        </p:txBody>
      </p:sp>
      <p:sp>
        <p:nvSpPr>
          <p:cNvPr id="60" name="TextBox 59"/>
          <p:cNvSpPr txBox="1"/>
          <p:nvPr/>
        </p:nvSpPr>
        <p:spPr>
          <a:xfrm>
            <a:off x="2769565" y="4261104"/>
            <a:ext cx="1333957" cy="585216"/>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Funding, ratios and segment movement, read at a glance</a:t>
            </a:r>
          </a:p>
        </p:txBody>
      </p:sp>
      <p:sp>
        <p:nvSpPr>
          <p:cNvPr id="61" name="Rounded Rectangle 60"/>
          <p:cNvSpPr/>
          <p:nvPr/>
        </p:nvSpPr>
        <p:spPr>
          <a:xfrm>
            <a:off x="4377842" y="3401568"/>
            <a:ext cx="1663141" cy="1517904"/>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377842" y="3401568"/>
            <a:ext cx="1663141" cy="54864"/>
          </a:xfrm>
          <a:prstGeom prst="rect">
            <a:avLst/>
          </a:prstGeom>
          <a:solidFill>
            <a:srgbClr val="3D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542434" y="3547872"/>
            <a:ext cx="292608" cy="292608"/>
          </a:xfrm>
          <a:prstGeom prst="ellipse">
            <a:avLst/>
          </a:prstGeom>
          <a:noFill/>
          <a:ln w="22225">
            <a:solidFill>
              <a:srgbClr val="3D7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624730" y="3630168"/>
            <a:ext cx="128016" cy="128016"/>
          </a:xfrm>
          <a:prstGeom prst="ellipse">
            <a:avLst/>
          </a:prstGeom>
          <a:solidFill>
            <a:srgbClr val="3D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542434" y="3931920"/>
            <a:ext cx="274320" cy="1524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42434" y="4005072"/>
            <a:ext cx="133395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Target market</a:t>
            </a:r>
          </a:p>
        </p:txBody>
      </p:sp>
      <p:sp>
        <p:nvSpPr>
          <p:cNvPr id="67" name="TextBox 66"/>
          <p:cNvSpPr txBox="1"/>
          <p:nvPr/>
        </p:nvSpPr>
        <p:spPr>
          <a:xfrm>
            <a:off x="4542434" y="4261104"/>
            <a:ext cx="1333957" cy="585216"/>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The optimal cohort, chosen from the data, not a hunch</a:t>
            </a:r>
          </a:p>
        </p:txBody>
      </p:sp>
      <p:sp>
        <p:nvSpPr>
          <p:cNvPr id="68" name="Rounded Rectangle 67"/>
          <p:cNvSpPr/>
          <p:nvPr/>
        </p:nvSpPr>
        <p:spPr>
          <a:xfrm>
            <a:off x="6150711" y="3401568"/>
            <a:ext cx="1663141" cy="1517904"/>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50711" y="3401568"/>
            <a:ext cx="1663141" cy="54864"/>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15303" y="3675888"/>
            <a:ext cx="118872" cy="41148"/>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434175" y="3566160"/>
            <a:ext cx="41148" cy="146304"/>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434175" y="3566160"/>
            <a:ext cx="173736" cy="41148"/>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434175" y="3794760"/>
            <a:ext cx="173736" cy="41148"/>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315303" y="3931920"/>
            <a:ext cx="274320" cy="1524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15303" y="4005072"/>
            <a:ext cx="133395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Simulator</a:t>
            </a:r>
          </a:p>
        </p:txBody>
      </p:sp>
      <p:sp>
        <p:nvSpPr>
          <p:cNvPr id="76" name="TextBox 75"/>
          <p:cNvSpPr txBox="1"/>
          <p:nvPr/>
        </p:nvSpPr>
        <p:spPr>
          <a:xfrm>
            <a:off x="6315303" y="4261104"/>
            <a:ext cx="1333957" cy="585216"/>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What happens if we run it, before a rupiah is committed</a:t>
            </a:r>
          </a:p>
        </p:txBody>
      </p:sp>
      <p:sp>
        <p:nvSpPr>
          <p:cNvPr id="77" name="Rounded Rectangle 76"/>
          <p:cNvSpPr/>
          <p:nvPr/>
        </p:nvSpPr>
        <p:spPr>
          <a:xfrm>
            <a:off x="7923580" y="3401568"/>
            <a:ext cx="1663141" cy="1517904"/>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923580" y="3401568"/>
            <a:ext cx="1663141" cy="5486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088172" y="3593592"/>
            <a:ext cx="128016" cy="219456"/>
          </a:xfrm>
          <a:prstGeom prst="rect">
            <a:avLst/>
          </a:prstGeom>
          <a:no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252764" y="3593592"/>
            <a:ext cx="128016" cy="219456"/>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088172" y="3931920"/>
            <a:ext cx="274320" cy="1524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88172" y="4005072"/>
            <a:ext cx="133395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Campaigns</a:t>
            </a:r>
          </a:p>
        </p:txBody>
      </p:sp>
      <p:sp>
        <p:nvSpPr>
          <p:cNvPr id="83" name="TextBox 82"/>
          <p:cNvSpPr txBox="1"/>
          <p:nvPr/>
        </p:nvSpPr>
        <p:spPr>
          <a:xfrm>
            <a:off x="8088172" y="4261104"/>
            <a:ext cx="1333957" cy="585216"/>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Target list, A/B split and copy, with consent respected</a:t>
            </a:r>
          </a:p>
        </p:txBody>
      </p:sp>
      <p:sp>
        <p:nvSpPr>
          <p:cNvPr id="84" name="Rounded Rectangle 83"/>
          <p:cNvSpPr/>
          <p:nvPr/>
        </p:nvSpPr>
        <p:spPr>
          <a:xfrm>
            <a:off x="9696450" y="3401568"/>
            <a:ext cx="1663141" cy="1517904"/>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696450" y="3401568"/>
            <a:ext cx="1663141" cy="54864"/>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861042" y="3575304"/>
            <a:ext cx="292608" cy="237744"/>
          </a:xfrm>
          <a:prstGeom prst="rect">
            <a:avLst/>
          </a:prstGeom>
          <a:noFill/>
          <a:ln w="19050">
            <a:solidFill>
              <a:srgbClr val="5B87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906762" y="3630168"/>
            <a:ext cx="128016" cy="32004"/>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906762" y="3703320"/>
            <a:ext cx="201168" cy="32004"/>
          </a:xfrm>
          <a:prstGeom prst="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861042" y="3931920"/>
            <a:ext cx="274320" cy="15240"/>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861042" y="4005072"/>
            <a:ext cx="133395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Pitch decks</a:t>
            </a:r>
          </a:p>
        </p:txBody>
      </p:sp>
      <p:sp>
        <p:nvSpPr>
          <p:cNvPr id="91" name="TextBox 90"/>
          <p:cNvSpPr txBox="1"/>
          <p:nvPr/>
        </p:nvSpPr>
        <p:spPr>
          <a:xfrm>
            <a:off x="9861042" y="4261104"/>
            <a:ext cx="1333957" cy="585216"/>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The chosen results become a deck for the Board, with sources</a:t>
            </a:r>
          </a:p>
        </p:txBody>
      </p:sp>
      <p:sp>
        <p:nvSpPr>
          <p:cNvPr id="92" name="TextBox 91"/>
          <p:cNvSpPr txBox="1"/>
          <p:nvPr/>
        </p:nvSpPr>
        <p:spPr>
          <a:xfrm>
            <a:off x="685800" y="5084064"/>
            <a:ext cx="5486400" cy="18288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2E5A88"/>
                </a:solidFill>
                <a:latin typeface="Calibri"/>
              </a:rPr>
              <a:t>WHY THE ANSWERS CAN BE TRUSTED</a:t>
            </a:r>
          </a:p>
        </p:txBody>
      </p:sp>
      <p:sp>
        <p:nvSpPr>
          <p:cNvPr id="93" name="Rounded Rectangle 92"/>
          <p:cNvSpPr/>
          <p:nvPr/>
        </p:nvSpPr>
        <p:spPr>
          <a:xfrm>
            <a:off x="685800" y="5285232"/>
            <a:ext cx="2609011" cy="713232"/>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85800" y="5285232"/>
            <a:ext cx="2609011" cy="45720"/>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2104" y="5404104"/>
            <a:ext cx="2316403"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16202E"/>
                </a:solidFill>
                <a:latin typeface="Calibri"/>
              </a:rPr>
              <a:t>It refuses what it cannot answer</a:t>
            </a:r>
          </a:p>
        </p:txBody>
      </p:sp>
      <p:sp>
        <p:nvSpPr>
          <p:cNvPr id="96" name="TextBox 95"/>
          <p:cNvSpPr txBox="1"/>
          <p:nvPr/>
        </p:nvSpPr>
        <p:spPr>
          <a:xfrm>
            <a:off x="832104" y="5614416"/>
            <a:ext cx="2316403" cy="329184"/>
          </a:xfrm>
          <a:prstGeom prst="rect">
            <a:avLst/>
          </a:prstGeom>
          <a:noFill/>
        </p:spPr>
        <p:txBody>
          <a:bodyPr wrap="square" anchor="t" lIns="0" rIns="0" tIns="0" bIns="0">
            <a:spAutoFit/>
          </a:bodyPr>
          <a:lstStyle/>
          <a:p>
            <a:pPr algn="l">
              <a:lnSpc>
                <a:spcPct val="106000"/>
              </a:lnSpc>
              <a:spcBef>
                <a:spcPts val="0"/>
              </a:spcBef>
              <a:spcAft>
                <a:spcPts val="0"/>
              </a:spcAft>
            </a:pPr>
            <a:r>
              <a:rPr sz="750" b="0">
                <a:solidFill>
                  <a:srgbClr val="6A7177"/>
                </a:solidFill>
                <a:latin typeface="Calibri"/>
              </a:rPr>
              <a:t>Coverage is checked before planning, so there is no confident guess</a:t>
            </a:r>
          </a:p>
        </p:txBody>
      </p:sp>
      <p:sp>
        <p:nvSpPr>
          <p:cNvPr id="97" name="Rounded Rectangle 96"/>
          <p:cNvSpPr/>
          <p:nvPr/>
        </p:nvSpPr>
        <p:spPr>
          <a:xfrm>
            <a:off x="3422827" y="5285232"/>
            <a:ext cx="2609011" cy="713232"/>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3422827" y="5285232"/>
            <a:ext cx="2609011" cy="45720"/>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569131" y="5404104"/>
            <a:ext cx="2316403"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16202E"/>
                </a:solidFill>
                <a:latin typeface="Calibri"/>
              </a:rPr>
              <a:t>Impact is computed, not estimated</a:t>
            </a:r>
          </a:p>
        </p:txBody>
      </p:sp>
      <p:sp>
        <p:nvSpPr>
          <p:cNvPr id="100" name="TextBox 99"/>
          <p:cNvSpPr txBox="1"/>
          <p:nvPr/>
        </p:nvSpPr>
        <p:spPr>
          <a:xfrm>
            <a:off x="3569131" y="5614416"/>
            <a:ext cx="2316403" cy="329184"/>
          </a:xfrm>
          <a:prstGeom prst="rect">
            <a:avLst/>
          </a:prstGeom>
          <a:noFill/>
        </p:spPr>
        <p:txBody>
          <a:bodyPr wrap="square" anchor="t" lIns="0" rIns="0" tIns="0" bIns="0">
            <a:spAutoFit/>
          </a:bodyPr>
          <a:lstStyle/>
          <a:p>
            <a:pPr algn="l">
              <a:lnSpc>
                <a:spcPct val="106000"/>
              </a:lnSpc>
              <a:spcBef>
                <a:spcPts val="0"/>
              </a:spcBef>
              <a:spcAft>
                <a:spcPts val="0"/>
              </a:spcAft>
            </a:pPr>
            <a:r>
              <a:rPr sz="750" b="0">
                <a:solidFill>
                  <a:srgbClr val="6A7177"/>
                </a:solidFill>
                <a:latin typeface="Calibri"/>
              </a:rPr>
              <a:t>The size comes from the cohort's own value; the model only phrases it</a:t>
            </a:r>
          </a:p>
        </p:txBody>
      </p:sp>
      <p:sp>
        <p:nvSpPr>
          <p:cNvPr id="101" name="Rounded Rectangle 100"/>
          <p:cNvSpPr/>
          <p:nvPr/>
        </p:nvSpPr>
        <p:spPr>
          <a:xfrm>
            <a:off x="6159855" y="5285232"/>
            <a:ext cx="2609011" cy="713232"/>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159855" y="5285232"/>
            <a:ext cx="2609011" cy="45720"/>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06159" y="5404104"/>
            <a:ext cx="2316403"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16202E"/>
                </a:solidFill>
                <a:latin typeface="Calibri"/>
              </a:rPr>
              <a:t>Every figure is traceable</a:t>
            </a:r>
          </a:p>
        </p:txBody>
      </p:sp>
      <p:sp>
        <p:nvSpPr>
          <p:cNvPr id="104" name="TextBox 103"/>
          <p:cNvSpPr txBox="1"/>
          <p:nvPr/>
        </p:nvSpPr>
        <p:spPr>
          <a:xfrm>
            <a:off x="6306159" y="5614416"/>
            <a:ext cx="2316403" cy="329184"/>
          </a:xfrm>
          <a:prstGeom prst="rect">
            <a:avLst/>
          </a:prstGeom>
          <a:noFill/>
        </p:spPr>
        <p:txBody>
          <a:bodyPr wrap="square" anchor="t" lIns="0" rIns="0" tIns="0" bIns="0">
            <a:spAutoFit/>
          </a:bodyPr>
          <a:lstStyle/>
          <a:p>
            <a:pPr algn="l">
              <a:lnSpc>
                <a:spcPct val="106000"/>
              </a:lnSpc>
              <a:spcBef>
                <a:spcPts val="0"/>
              </a:spcBef>
              <a:spcAft>
                <a:spcPts val="0"/>
              </a:spcAft>
            </a:pPr>
            <a:r>
              <a:rPr sz="750" b="0">
                <a:solidFill>
                  <a:srgbClr val="6A7177"/>
                </a:solidFill>
                <a:latin typeface="Calibri"/>
              </a:rPr>
              <a:t>One reconstructable record per turn, and the query behind each number</a:t>
            </a:r>
          </a:p>
        </p:txBody>
      </p:sp>
      <p:sp>
        <p:nvSpPr>
          <p:cNvPr id="105" name="Rounded Rectangle 104"/>
          <p:cNvSpPr/>
          <p:nvPr/>
        </p:nvSpPr>
        <p:spPr>
          <a:xfrm>
            <a:off x="8896883" y="5285232"/>
            <a:ext cx="2609011" cy="713232"/>
          </a:xfrm>
          <a:prstGeom prst="roundRect">
            <a:avLst/>
          </a:prstGeom>
          <a:solidFill>
            <a:srgbClr val="F4F7FA"/>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896883" y="5285232"/>
            <a:ext cx="2609011" cy="45720"/>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043187" y="5404104"/>
            <a:ext cx="2316403"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16202E"/>
                </a:solidFill>
                <a:latin typeface="Calibri"/>
              </a:rPr>
              <a:t>Privacy holds by construction</a:t>
            </a:r>
          </a:p>
        </p:txBody>
      </p:sp>
      <p:sp>
        <p:nvSpPr>
          <p:cNvPr id="108" name="TextBox 107"/>
          <p:cNvSpPr txBox="1"/>
          <p:nvPr/>
        </p:nvSpPr>
        <p:spPr>
          <a:xfrm>
            <a:off x="9043187" y="5614416"/>
            <a:ext cx="2316403" cy="329184"/>
          </a:xfrm>
          <a:prstGeom prst="rect">
            <a:avLst/>
          </a:prstGeom>
          <a:noFill/>
        </p:spPr>
        <p:txBody>
          <a:bodyPr wrap="square" anchor="t" lIns="0" rIns="0" tIns="0" bIns="0">
            <a:spAutoFit/>
          </a:bodyPr>
          <a:lstStyle/>
          <a:p>
            <a:pPr algn="l">
              <a:lnSpc>
                <a:spcPct val="106000"/>
              </a:lnSpc>
              <a:spcBef>
                <a:spcPts val="0"/>
              </a:spcBef>
              <a:spcAft>
                <a:spcPts val="0"/>
              </a:spcAft>
            </a:pPr>
            <a:r>
              <a:rPr sz="750" b="0">
                <a:solidFill>
                  <a:srgbClr val="6A7177"/>
                </a:solidFill>
                <a:latin typeface="Calibri"/>
              </a:rPr>
              <a:t>Small cohorts suppressed, consent applied before any list leaves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NEXUS · SEE IT IN ACTION</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One objective, six questions, answered end to end in a single session, finishing as a deck for the Board</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04</a:t>
            </a:r>
          </a:p>
        </p:txBody>
      </p:sp>
      <p:sp>
        <p:nvSpPr>
          <p:cNvPr id="10" name="Rounded Rectangle 9"/>
          <p:cNvSpPr/>
          <p:nvPr/>
        </p:nvSpPr>
        <p:spPr>
          <a:xfrm>
            <a:off x="685800" y="1773936"/>
            <a:ext cx="7589520" cy="3931920"/>
          </a:xfrm>
          <a:prstGeom prst="roundRect">
            <a:avLst/>
          </a:prstGeom>
          <a:solidFill>
            <a:srgbClr val="EDF2F7"/>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73936"/>
            <a:ext cx="7589520" cy="54864"/>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33087" y="2615184"/>
            <a:ext cx="694944" cy="694944"/>
          </a:xfrm>
          <a:prstGeom prst="ellipse">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5400000">
            <a:off x="4379976" y="2825496"/>
            <a:ext cx="237744" cy="27432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529584"/>
            <a:ext cx="6858000" cy="548640"/>
          </a:xfrm>
          <a:prstGeom prst="rect">
            <a:avLst/>
          </a:prstGeom>
          <a:noFill/>
        </p:spPr>
        <p:txBody>
          <a:bodyPr wrap="square" anchor="t" lIns="0" rIns="0" tIns="0" bIns="0">
            <a:spAutoFit/>
          </a:bodyPr>
          <a:lstStyle/>
          <a:p>
            <a:pPr algn="ctr">
              <a:lnSpc>
                <a:spcPct val="106000"/>
              </a:lnSpc>
              <a:spcBef>
                <a:spcPts val="0"/>
              </a:spcBef>
              <a:spcAft>
                <a:spcPts val="0"/>
              </a:spcAft>
            </a:pPr>
            <a:r>
              <a:rPr sz="1700" b="1">
                <a:solidFill>
                  <a:srgbClr val="16202E"/>
                </a:solidFill>
                <a:latin typeface="Calibri"/>
              </a:rPr>
              <a:t>Nexus in action: one objective, from the Board's question to the campaign and back</a:t>
            </a:r>
          </a:p>
        </p:txBody>
      </p:sp>
      <p:sp>
        <p:nvSpPr>
          <p:cNvPr id="15" name="TextBox 14"/>
          <p:cNvSpPr txBox="1"/>
          <p:nvPr/>
        </p:nvSpPr>
        <p:spPr>
          <a:xfrm>
            <a:off x="1051560" y="4224528"/>
            <a:ext cx="6858000" cy="219456"/>
          </a:xfrm>
          <a:prstGeom prst="rect">
            <a:avLst/>
          </a:prstGeom>
          <a:noFill/>
        </p:spPr>
        <p:txBody>
          <a:bodyPr wrap="square" anchor="t" lIns="0" rIns="0" tIns="0" bIns="0">
            <a:spAutoFit/>
          </a:bodyPr>
          <a:lstStyle/>
          <a:p>
            <a:pPr algn="ctr">
              <a:lnSpc>
                <a:spcPct val="104000"/>
              </a:lnSpc>
              <a:spcBef>
                <a:spcPts val="0"/>
              </a:spcBef>
              <a:spcAft>
                <a:spcPts val="0"/>
              </a:spcAft>
            </a:pPr>
            <a:r>
              <a:rPr sz="1000" b="0">
                <a:solidFill>
                  <a:srgbClr val="6A7177"/>
                </a:solidFill>
                <a:latin typeface="Calibri"/>
              </a:rPr>
              <a:t>Place the recording here. Everything after the opening is the live product.</a:t>
            </a:r>
          </a:p>
        </p:txBody>
      </p:sp>
      <p:sp>
        <p:nvSpPr>
          <p:cNvPr id="16" name="Rounded Rectangle 15"/>
          <p:cNvSpPr/>
          <p:nvPr/>
        </p:nvSpPr>
        <p:spPr>
          <a:xfrm>
            <a:off x="8549640" y="1773936"/>
            <a:ext cx="2953512" cy="58521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49640" y="1773936"/>
            <a:ext cx="2953512"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14232" y="1847088"/>
            <a:ext cx="329184"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D42030"/>
                </a:solidFill>
                <a:latin typeface="Calibri"/>
              </a:rPr>
              <a:t>01</a:t>
            </a:r>
          </a:p>
        </p:txBody>
      </p:sp>
      <p:sp>
        <p:nvSpPr>
          <p:cNvPr id="19" name="TextBox 18"/>
          <p:cNvSpPr txBox="1"/>
          <p:nvPr/>
        </p:nvSpPr>
        <p:spPr>
          <a:xfrm>
            <a:off x="9052560" y="1837943"/>
            <a:ext cx="2286000" cy="201168"/>
          </a:xfrm>
          <a:prstGeom prst="rect">
            <a:avLst/>
          </a:prstGeom>
          <a:noFill/>
        </p:spPr>
        <p:txBody>
          <a:bodyPr wrap="square" anchor="t" lIns="0" rIns="0" tIns="0" bIns="0">
            <a:spAutoFit/>
          </a:bodyPr>
          <a:lstStyle/>
          <a:p>
            <a:pPr algn="l">
              <a:lnSpc>
                <a:spcPct val="104000"/>
              </a:lnSpc>
              <a:spcBef>
                <a:spcPts val="0"/>
              </a:spcBef>
              <a:spcAft>
                <a:spcPts val="0"/>
              </a:spcAft>
            </a:pPr>
            <a:r>
              <a:rPr sz="1000" b="1">
                <a:solidFill>
                  <a:srgbClr val="16202E"/>
                </a:solidFill>
                <a:latin typeface="Calibri"/>
              </a:rPr>
              <a:t>The objective</a:t>
            </a:r>
          </a:p>
        </p:txBody>
      </p:sp>
      <p:sp>
        <p:nvSpPr>
          <p:cNvPr id="20" name="TextBox 19"/>
          <p:cNvSpPr txBox="1"/>
          <p:nvPr/>
        </p:nvSpPr>
        <p:spPr>
          <a:xfrm>
            <a:off x="9052560" y="2039112"/>
            <a:ext cx="2286000" cy="27432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Grow Time Deposit, and who exactly we are selling it to</a:t>
            </a:r>
          </a:p>
        </p:txBody>
      </p:sp>
      <p:sp>
        <p:nvSpPr>
          <p:cNvPr id="21" name="Rounded Rectangle 20"/>
          <p:cNvSpPr/>
          <p:nvPr/>
        </p:nvSpPr>
        <p:spPr>
          <a:xfrm>
            <a:off x="8549640" y="2432304"/>
            <a:ext cx="2953512" cy="58521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49640" y="2432304"/>
            <a:ext cx="2953512"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14232" y="2505456"/>
            <a:ext cx="329184"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D42030"/>
                </a:solidFill>
                <a:latin typeface="Calibri"/>
              </a:rPr>
              <a:t>02</a:t>
            </a:r>
          </a:p>
        </p:txBody>
      </p:sp>
      <p:sp>
        <p:nvSpPr>
          <p:cNvPr id="24" name="TextBox 23"/>
          <p:cNvSpPr txBox="1"/>
          <p:nvPr/>
        </p:nvSpPr>
        <p:spPr>
          <a:xfrm>
            <a:off x="9052560" y="2496312"/>
            <a:ext cx="2286000" cy="201168"/>
          </a:xfrm>
          <a:prstGeom prst="rect">
            <a:avLst/>
          </a:prstGeom>
          <a:noFill/>
        </p:spPr>
        <p:txBody>
          <a:bodyPr wrap="square" anchor="t" lIns="0" rIns="0" tIns="0" bIns="0">
            <a:spAutoFit/>
          </a:bodyPr>
          <a:lstStyle/>
          <a:p>
            <a:pPr algn="l">
              <a:lnSpc>
                <a:spcPct val="104000"/>
              </a:lnSpc>
              <a:spcBef>
                <a:spcPts val="0"/>
              </a:spcBef>
              <a:spcAft>
                <a:spcPts val="0"/>
              </a:spcAft>
            </a:pPr>
            <a:r>
              <a:rPr sz="1000" b="1">
                <a:solidFill>
                  <a:srgbClr val="16202E"/>
                </a:solidFill>
                <a:latin typeface="Calibri"/>
              </a:rPr>
              <a:t>Who holds it today</a:t>
            </a:r>
          </a:p>
        </p:txBody>
      </p:sp>
      <p:sp>
        <p:nvSpPr>
          <p:cNvPr id="25" name="TextBox 24"/>
          <p:cNvSpPr txBox="1"/>
          <p:nvPr/>
        </p:nvSpPr>
        <p:spPr>
          <a:xfrm>
            <a:off x="9052560" y="2697480"/>
            <a:ext cx="2286000" cy="27432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The spread across segment and region</a:t>
            </a:r>
          </a:p>
        </p:txBody>
      </p:sp>
      <p:sp>
        <p:nvSpPr>
          <p:cNvPr id="26" name="Rounded Rectangle 25"/>
          <p:cNvSpPr/>
          <p:nvPr/>
        </p:nvSpPr>
        <p:spPr>
          <a:xfrm>
            <a:off x="8549640" y="3090672"/>
            <a:ext cx="2953512" cy="58521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49640" y="3090672"/>
            <a:ext cx="2953512"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14232" y="3163824"/>
            <a:ext cx="329184"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D42030"/>
                </a:solidFill>
                <a:latin typeface="Calibri"/>
              </a:rPr>
              <a:t>03</a:t>
            </a:r>
          </a:p>
        </p:txBody>
      </p:sp>
      <p:sp>
        <p:nvSpPr>
          <p:cNvPr id="29" name="TextBox 28"/>
          <p:cNvSpPr txBox="1"/>
          <p:nvPr/>
        </p:nvSpPr>
        <p:spPr>
          <a:xfrm>
            <a:off x="9052560" y="3154679"/>
            <a:ext cx="2286000" cy="201168"/>
          </a:xfrm>
          <a:prstGeom prst="rect">
            <a:avLst/>
          </a:prstGeom>
          <a:noFill/>
        </p:spPr>
        <p:txBody>
          <a:bodyPr wrap="square" anchor="t" lIns="0" rIns="0" tIns="0" bIns="0">
            <a:spAutoFit/>
          </a:bodyPr>
          <a:lstStyle/>
          <a:p>
            <a:pPr algn="l">
              <a:lnSpc>
                <a:spcPct val="104000"/>
              </a:lnSpc>
              <a:spcBef>
                <a:spcPts val="0"/>
              </a:spcBef>
              <a:spcAft>
                <a:spcPts val="0"/>
              </a:spcAft>
            </a:pPr>
            <a:r>
              <a:rPr sz="1000" b="1">
                <a:solidFill>
                  <a:srgbClr val="16202E"/>
                </a:solidFill>
                <a:latin typeface="Calibri"/>
              </a:rPr>
              <a:t>Which segment to improve</a:t>
            </a:r>
          </a:p>
        </p:txBody>
      </p:sp>
      <p:sp>
        <p:nvSpPr>
          <p:cNvPr id="30" name="TextBox 29"/>
          <p:cNvSpPr txBox="1"/>
          <p:nvPr/>
        </p:nvSpPr>
        <p:spPr>
          <a:xfrm>
            <a:off x="9052560" y="3355848"/>
            <a:ext cx="2286000" cy="27432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Chosen on the data, sized in rupiah</a:t>
            </a:r>
          </a:p>
        </p:txBody>
      </p:sp>
      <p:sp>
        <p:nvSpPr>
          <p:cNvPr id="31" name="Rounded Rectangle 30"/>
          <p:cNvSpPr/>
          <p:nvPr/>
        </p:nvSpPr>
        <p:spPr>
          <a:xfrm>
            <a:off x="8549640" y="3749039"/>
            <a:ext cx="2953512" cy="58521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49640" y="3749039"/>
            <a:ext cx="2953512"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14232" y="3822191"/>
            <a:ext cx="329184"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D42030"/>
                </a:solidFill>
                <a:latin typeface="Calibri"/>
              </a:rPr>
              <a:t>04</a:t>
            </a:r>
          </a:p>
        </p:txBody>
      </p:sp>
      <p:sp>
        <p:nvSpPr>
          <p:cNvPr id="34" name="TextBox 33"/>
          <p:cNvSpPr txBox="1"/>
          <p:nvPr/>
        </p:nvSpPr>
        <p:spPr>
          <a:xfrm>
            <a:off x="9052560" y="3813048"/>
            <a:ext cx="2286000" cy="201168"/>
          </a:xfrm>
          <a:prstGeom prst="rect">
            <a:avLst/>
          </a:prstGeom>
          <a:noFill/>
        </p:spPr>
        <p:txBody>
          <a:bodyPr wrap="square" anchor="t" lIns="0" rIns="0" tIns="0" bIns="0">
            <a:spAutoFit/>
          </a:bodyPr>
          <a:lstStyle/>
          <a:p>
            <a:pPr algn="l">
              <a:lnSpc>
                <a:spcPct val="104000"/>
              </a:lnSpc>
              <a:spcBef>
                <a:spcPts val="0"/>
              </a:spcBef>
              <a:spcAft>
                <a:spcPts val="0"/>
              </a:spcAft>
            </a:pPr>
            <a:r>
              <a:rPr sz="1000" b="1">
                <a:solidFill>
                  <a:srgbClr val="16202E"/>
                </a:solidFill>
                <a:latin typeface="Calibri"/>
              </a:rPr>
              <a:t>The optimal target market</a:t>
            </a:r>
          </a:p>
        </p:txBody>
      </p:sp>
      <p:sp>
        <p:nvSpPr>
          <p:cNvPr id="35" name="TextBox 34"/>
          <p:cNvSpPr txBox="1"/>
          <p:nvPr/>
        </p:nvSpPr>
        <p:spPr>
          <a:xfrm>
            <a:off x="9052560" y="4014215"/>
            <a:ext cx="2286000" cy="27432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A list that respects consent</a:t>
            </a:r>
          </a:p>
        </p:txBody>
      </p:sp>
      <p:sp>
        <p:nvSpPr>
          <p:cNvPr id="36" name="Rounded Rectangle 35"/>
          <p:cNvSpPr/>
          <p:nvPr/>
        </p:nvSpPr>
        <p:spPr>
          <a:xfrm>
            <a:off x="8549640" y="4407408"/>
            <a:ext cx="2953512" cy="58521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549640" y="4407408"/>
            <a:ext cx="2953512"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14232" y="4480560"/>
            <a:ext cx="329184"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D42030"/>
                </a:solidFill>
                <a:latin typeface="Calibri"/>
              </a:rPr>
              <a:t>05</a:t>
            </a:r>
          </a:p>
        </p:txBody>
      </p:sp>
      <p:sp>
        <p:nvSpPr>
          <p:cNvPr id="39" name="TextBox 38"/>
          <p:cNvSpPr txBox="1"/>
          <p:nvPr/>
        </p:nvSpPr>
        <p:spPr>
          <a:xfrm>
            <a:off x="9052560" y="4471416"/>
            <a:ext cx="2286000" cy="201168"/>
          </a:xfrm>
          <a:prstGeom prst="rect">
            <a:avLst/>
          </a:prstGeom>
          <a:noFill/>
        </p:spPr>
        <p:txBody>
          <a:bodyPr wrap="square" anchor="t" lIns="0" rIns="0" tIns="0" bIns="0">
            <a:spAutoFit/>
          </a:bodyPr>
          <a:lstStyle/>
          <a:p>
            <a:pPr algn="l">
              <a:lnSpc>
                <a:spcPct val="104000"/>
              </a:lnSpc>
              <a:spcBef>
                <a:spcPts val="0"/>
              </a:spcBef>
              <a:spcAft>
                <a:spcPts val="0"/>
              </a:spcAft>
            </a:pPr>
            <a:r>
              <a:rPr sz="1000" b="1">
                <a:solidFill>
                  <a:srgbClr val="16202E"/>
                </a:solidFill>
                <a:latin typeface="Calibri"/>
              </a:rPr>
              <a:t>Simulate, then test</a:t>
            </a:r>
          </a:p>
        </p:txBody>
      </p:sp>
      <p:sp>
        <p:nvSpPr>
          <p:cNvPr id="40" name="TextBox 39"/>
          <p:cNvSpPr txBox="1"/>
          <p:nvPr/>
        </p:nvSpPr>
        <p:spPr>
          <a:xfrm>
            <a:off x="9052560" y="4672584"/>
            <a:ext cx="2286000" cy="27432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The A/B design before the spend</a:t>
            </a:r>
          </a:p>
        </p:txBody>
      </p:sp>
      <p:sp>
        <p:nvSpPr>
          <p:cNvPr id="41" name="Rounded Rectangle 40"/>
          <p:cNvSpPr/>
          <p:nvPr/>
        </p:nvSpPr>
        <p:spPr>
          <a:xfrm>
            <a:off x="8549640" y="5065775"/>
            <a:ext cx="2953512" cy="585216"/>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49640" y="5065775"/>
            <a:ext cx="2953512"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14232" y="5138927"/>
            <a:ext cx="329184" cy="201168"/>
          </a:xfrm>
          <a:prstGeom prst="rect">
            <a:avLst/>
          </a:prstGeom>
          <a:noFill/>
        </p:spPr>
        <p:txBody>
          <a:bodyPr wrap="square" anchor="t" lIns="0" rIns="0" tIns="0" bIns="0">
            <a:spAutoFit/>
          </a:bodyPr>
          <a:lstStyle/>
          <a:p>
            <a:pPr algn="l">
              <a:lnSpc>
                <a:spcPct val="104000"/>
              </a:lnSpc>
              <a:spcBef>
                <a:spcPts val="0"/>
              </a:spcBef>
              <a:spcAft>
                <a:spcPts val="0"/>
              </a:spcAft>
            </a:pPr>
            <a:r>
              <a:rPr sz="950" b="1">
                <a:solidFill>
                  <a:srgbClr val="D42030"/>
                </a:solidFill>
                <a:latin typeface="Calibri"/>
              </a:rPr>
              <a:t>06</a:t>
            </a:r>
          </a:p>
        </p:txBody>
      </p:sp>
      <p:sp>
        <p:nvSpPr>
          <p:cNvPr id="44" name="TextBox 43"/>
          <p:cNvSpPr txBox="1"/>
          <p:nvPr/>
        </p:nvSpPr>
        <p:spPr>
          <a:xfrm>
            <a:off x="9052560" y="5129783"/>
            <a:ext cx="2286000" cy="201168"/>
          </a:xfrm>
          <a:prstGeom prst="rect">
            <a:avLst/>
          </a:prstGeom>
          <a:noFill/>
        </p:spPr>
        <p:txBody>
          <a:bodyPr wrap="square" anchor="t" lIns="0" rIns="0" tIns="0" bIns="0">
            <a:spAutoFit/>
          </a:bodyPr>
          <a:lstStyle/>
          <a:p>
            <a:pPr algn="l">
              <a:lnSpc>
                <a:spcPct val="104000"/>
              </a:lnSpc>
              <a:spcBef>
                <a:spcPts val="0"/>
              </a:spcBef>
              <a:spcAft>
                <a:spcPts val="0"/>
              </a:spcAft>
            </a:pPr>
            <a:r>
              <a:rPr sz="1000" b="1">
                <a:solidFill>
                  <a:srgbClr val="16202E"/>
                </a:solidFill>
                <a:latin typeface="Calibri"/>
              </a:rPr>
              <a:t>Back to the Board</a:t>
            </a:r>
          </a:p>
        </p:txBody>
      </p:sp>
      <p:sp>
        <p:nvSpPr>
          <p:cNvPr id="45" name="TextBox 44"/>
          <p:cNvSpPr txBox="1"/>
          <p:nvPr/>
        </p:nvSpPr>
        <p:spPr>
          <a:xfrm>
            <a:off x="9052560" y="5330951"/>
            <a:ext cx="2286000" cy="27432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The results picked, the deck built</a:t>
            </a:r>
          </a:p>
        </p:txBody>
      </p:sp>
      <p:sp>
        <p:nvSpPr>
          <p:cNvPr id="46" name="TextBox 45"/>
          <p:cNvSpPr txBox="1"/>
          <p:nvPr/>
        </p:nvSpPr>
        <p:spPr>
          <a:xfrm>
            <a:off x="685800" y="5870448"/>
            <a:ext cx="10820095" cy="274320"/>
          </a:xfrm>
          <a:prstGeom prst="rect">
            <a:avLst/>
          </a:prstGeom>
          <a:noFill/>
        </p:spPr>
        <p:txBody>
          <a:bodyPr wrap="square" anchor="t" lIns="0" rIns="0" tIns="0" bIns="0">
            <a:spAutoFit/>
          </a:bodyPr>
          <a:lstStyle/>
          <a:p>
            <a:pPr algn="l">
              <a:lnSpc>
                <a:spcPct val="104000"/>
              </a:lnSpc>
              <a:spcBef>
                <a:spcPts val="0"/>
              </a:spcBef>
              <a:spcAft>
                <a:spcPts val="0"/>
              </a:spcAft>
            </a:pPr>
            <a:r>
              <a:rPr sz="1000" b="0">
                <a:solidFill>
                  <a:srgbClr val="454F5C"/>
                </a:solidFill>
                <a:latin typeface="Calibri"/>
              </a:rPr>
              <a:t>The recording is the product as it runs, with its real data on screen.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COST &amp; BENEFIT ANALYSIS · PROJECTION</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On projection, Nexus returns far more each month than it costs to run: analyst weeks handed back to the business, and better targeted funding won</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05</a:t>
            </a:r>
          </a:p>
        </p:txBody>
      </p:sp>
      <p:sp>
        <p:nvSpPr>
          <p:cNvPr id="10" name="Rounded Rectangle 9"/>
          <p:cNvSpPr/>
          <p:nvPr/>
        </p:nvSpPr>
        <p:spPr>
          <a:xfrm>
            <a:off x="685800" y="1755648"/>
            <a:ext cx="2286000" cy="2468880"/>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1755648"/>
            <a:ext cx="2286000" cy="310896"/>
          </a:xfrm>
          <a:prstGeom prst="round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755648"/>
            <a:ext cx="2286000" cy="310896"/>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COST</a:t>
            </a:r>
          </a:p>
        </p:txBody>
      </p:sp>
      <p:sp>
        <p:nvSpPr>
          <p:cNvPr id="13" name="TextBox 12"/>
          <p:cNvSpPr txBox="1"/>
          <p:nvPr/>
        </p:nvSpPr>
        <p:spPr>
          <a:xfrm>
            <a:off x="850392" y="2121408"/>
            <a:ext cx="1993392" cy="118872"/>
          </a:xfrm>
          <a:prstGeom prst="rect">
            <a:avLst/>
          </a:prstGeom>
          <a:noFill/>
        </p:spPr>
        <p:txBody>
          <a:bodyPr wrap="square" anchor="t" lIns="0" rIns="0" tIns="0" bIns="0">
            <a:spAutoFit/>
          </a:bodyPr>
          <a:lstStyle/>
          <a:p>
            <a:pPr algn="l">
              <a:lnSpc>
                <a:spcPct val="104000"/>
              </a:lnSpc>
              <a:spcBef>
                <a:spcPts val="0"/>
              </a:spcBef>
              <a:spcAft>
                <a:spcPts val="0"/>
              </a:spcAft>
            </a:pPr>
            <a:r>
              <a:rPr sz="750" b="1">
                <a:solidFill>
                  <a:srgbClr val="D42030"/>
                </a:solidFill>
                <a:latin typeface="Calibri"/>
              </a:rPr>
              <a:t>CAPEX · ONE OFF</a:t>
            </a:r>
          </a:p>
        </p:txBody>
      </p:sp>
      <p:sp>
        <p:nvSpPr>
          <p:cNvPr id="14" name="TextBox 13"/>
          <p:cNvSpPr txBox="1"/>
          <p:nvPr/>
        </p:nvSpPr>
        <p:spPr>
          <a:xfrm>
            <a:off x="850392" y="2240280"/>
            <a:ext cx="1993392" cy="192024"/>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Database, 500 GB</a:t>
            </a:r>
          </a:p>
        </p:txBody>
      </p:sp>
      <p:sp>
        <p:nvSpPr>
          <p:cNvPr id="15" name="TextBox 14"/>
          <p:cNvSpPr txBox="1"/>
          <p:nvPr/>
        </p:nvSpPr>
        <p:spPr>
          <a:xfrm>
            <a:off x="850392" y="2423160"/>
            <a:ext cx="1993392" cy="137160"/>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6A7177"/>
                </a:solidFill>
                <a:latin typeface="Calibri"/>
              </a:rPr>
              <a:t>One off. Amount not yet costed</a:t>
            </a:r>
          </a:p>
        </p:txBody>
      </p:sp>
      <p:sp>
        <p:nvSpPr>
          <p:cNvPr id="16" name="Rectangle 15"/>
          <p:cNvSpPr/>
          <p:nvPr/>
        </p:nvSpPr>
        <p:spPr>
          <a:xfrm>
            <a:off x="850392" y="2615184"/>
            <a:ext cx="1993392"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2670048"/>
            <a:ext cx="1993392" cy="118872"/>
          </a:xfrm>
          <a:prstGeom prst="rect">
            <a:avLst/>
          </a:prstGeom>
          <a:noFill/>
        </p:spPr>
        <p:txBody>
          <a:bodyPr wrap="square" anchor="t" lIns="0" rIns="0" tIns="0" bIns="0">
            <a:spAutoFit/>
          </a:bodyPr>
          <a:lstStyle/>
          <a:p>
            <a:pPr algn="l">
              <a:lnSpc>
                <a:spcPct val="104000"/>
              </a:lnSpc>
              <a:spcBef>
                <a:spcPts val="0"/>
              </a:spcBef>
              <a:spcAft>
                <a:spcPts val="0"/>
              </a:spcAft>
            </a:pPr>
            <a:r>
              <a:rPr sz="750" b="1">
                <a:solidFill>
                  <a:srgbClr val="D42030"/>
                </a:solidFill>
                <a:latin typeface="Calibri"/>
              </a:rPr>
              <a:t>OPEX · PER YEAR</a:t>
            </a:r>
          </a:p>
        </p:txBody>
      </p:sp>
      <p:sp>
        <p:nvSpPr>
          <p:cNvPr id="18" name="TextBox 17"/>
          <p:cNvSpPr txBox="1"/>
          <p:nvPr/>
        </p:nvSpPr>
        <p:spPr>
          <a:xfrm>
            <a:off x="850392" y="2816352"/>
            <a:ext cx="1188720" cy="173736"/>
          </a:xfrm>
          <a:prstGeom prst="rect">
            <a:avLst/>
          </a:prstGeom>
          <a:noFill/>
        </p:spPr>
        <p:txBody>
          <a:bodyPr wrap="square" anchor="ctr" lIns="0" rIns="0" tIns="0" bIns="0">
            <a:spAutoFit/>
          </a:bodyPr>
          <a:lstStyle/>
          <a:p>
            <a:pPr algn="l">
              <a:lnSpc>
                <a:spcPct val="104000"/>
              </a:lnSpc>
              <a:spcBef>
                <a:spcPts val="0"/>
              </a:spcBef>
              <a:spcAft>
                <a:spcPts val="0"/>
              </a:spcAft>
            </a:pPr>
            <a:r>
              <a:rPr sz="800" b="0">
                <a:solidFill>
                  <a:srgbClr val="454F5C"/>
                </a:solidFill>
                <a:latin typeface="Calibri"/>
              </a:rPr>
              <a:t>Database IT direct charge</a:t>
            </a:r>
          </a:p>
        </p:txBody>
      </p:sp>
      <p:sp>
        <p:nvSpPr>
          <p:cNvPr id="19" name="TextBox 18"/>
          <p:cNvSpPr txBox="1"/>
          <p:nvPr/>
        </p:nvSpPr>
        <p:spPr>
          <a:xfrm>
            <a:off x="2039112" y="2816352"/>
            <a:ext cx="804672" cy="173736"/>
          </a:xfrm>
          <a:prstGeom prst="rect">
            <a:avLst/>
          </a:prstGeom>
          <a:noFill/>
        </p:spPr>
        <p:txBody>
          <a:bodyPr wrap="square" anchor="ctr" lIns="0" rIns="0" tIns="0" bIns="0">
            <a:spAutoFit/>
          </a:bodyPr>
          <a:lstStyle/>
          <a:p>
            <a:pPr algn="r">
              <a:lnSpc>
                <a:spcPct val="104000"/>
              </a:lnSpc>
              <a:spcBef>
                <a:spcPts val="0"/>
              </a:spcBef>
              <a:spcAft>
                <a:spcPts val="0"/>
              </a:spcAft>
            </a:pPr>
            <a:r>
              <a:rPr sz="850" b="1">
                <a:solidFill>
                  <a:srgbClr val="16202E"/>
                </a:solidFill>
                <a:latin typeface="Calibri"/>
              </a:rPr>
              <a:t>3 MD</a:t>
            </a:r>
          </a:p>
        </p:txBody>
      </p:sp>
      <p:sp>
        <p:nvSpPr>
          <p:cNvPr id="20" name="TextBox 19"/>
          <p:cNvSpPr txBox="1"/>
          <p:nvPr/>
        </p:nvSpPr>
        <p:spPr>
          <a:xfrm>
            <a:off x="850392" y="3003804"/>
            <a:ext cx="1188720" cy="173736"/>
          </a:xfrm>
          <a:prstGeom prst="rect">
            <a:avLst/>
          </a:prstGeom>
          <a:noFill/>
        </p:spPr>
        <p:txBody>
          <a:bodyPr wrap="square" anchor="ctr" lIns="0" rIns="0" tIns="0" bIns="0">
            <a:spAutoFit/>
          </a:bodyPr>
          <a:lstStyle/>
          <a:p>
            <a:pPr algn="l">
              <a:lnSpc>
                <a:spcPct val="104000"/>
              </a:lnSpc>
              <a:spcBef>
                <a:spcPts val="0"/>
              </a:spcBef>
              <a:spcAft>
                <a:spcPts val="0"/>
              </a:spcAft>
            </a:pPr>
            <a:r>
              <a:rPr sz="800" b="0">
                <a:solidFill>
                  <a:srgbClr val="454F5C"/>
                </a:solidFill>
                <a:latin typeface="Calibri"/>
              </a:rPr>
              <a:t>Develop Nexus</a:t>
            </a:r>
          </a:p>
        </p:txBody>
      </p:sp>
      <p:sp>
        <p:nvSpPr>
          <p:cNvPr id="21" name="TextBox 20"/>
          <p:cNvSpPr txBox="1"/>
          <p:nvPr/>
        </p:nvSpPr>
        <p:spPr>
          <a:xfrm>
            <a:off x="2039112" y="3003804"/>
            <a:ext cx="804672" cy="173736"/>
          </a:xfrm>
          <a:prstGeom prst="rect">
            <a:avLst/>
          </a:prstGeom>
          <a:noFill/>
        </p:spPr>
        <p:txBody>
          <a:bodyPr wrap="square" anchor="ctr" lIns="0" rIns="0" tIns="0" bIns="0">
            <a:spAutoFit/>
          </a:bodyPr>
          <a:lstStyle/>
          <a:p>
            <a:pPr algn="r">
              <a:lnSpc>
                <a:spcPct val="104000"/>
              </a:lnSpc>
              <a:spcBef>
                <a:spcPts val="0"/>
              </a:spcBef>
              <a:spcAft>
                <a:spcPts val="0"/>
              </a:spcAft>
            </a:pPr>
            <a:r>
              <a:rPr sz="850" b="1">
                <a:solidFill>
                  <a:srgbClr val="16202E"/>
                </a:solidFill>
                <a:latin typeface="Calibri"/>
              </a:rPr>
              <a:t>30 MD</a:t>
            </a:r>
          </a:p>
        </p:txBody>
      </p:sp>
      <p:sp>
        <p:nvSpPr>
          <p:cNvPr id="22" name="TextBox 21"/>
          <p:cNvSpPr txBox="1"/>
          <p:nvPr/>
        </p:nvSpPr>
        <p:spPr>
          <a:xfrm>
            <a:off x="850392" y="3191256"/>
            <a:ext cx="1188720" cy="173736"/>
          </a:xfrm>
          <a:prstGeom prst="rect">
            <a:avLst/>
          </a:prstGeom>
          <a:noFill/>
        </p:spPr>
        <p:txBody>
          <a:bodyPr wrap="square" anchor="ctr" lIns="0" rIns="0" tIns="0" bIns="0">
            <a:spAutoFit/>
          </a:bodyPr>
          <a:lstStyle/>
          <a:p>
            <a:pPr algn="l">
              <a:lnSpc>
                <a:spcPct val="104000"/>
              </a:lnSpc>
              <a:spcBef>
                <a:spcPts val="0"/>
              </a:spcBef>
              <a:spcAft>
                <a:spcPts val="0"/>
              </a:spcAft>
            </a:pPr>
            <a:r>
              <a:rPr sz="800" b="0">
                <a:solidFill>
                  <a:srgbClr val="454F5C"/>
                </a:solidFill>
                <a:latin typeface="Calibri"/>
              </a:rPr>
              <a:t>Deployment</a:t>
            </a:r>
          </a:p>
        </p:txBody>
      </p:sp>
      <p:sp>
        <p:nvSpPr>
          <p:cNvPr id="23" name="TextBox 22"/>
          <p:cNvSpPr txBox="1"/>
          <p:nvPr/>
        </p:nvSpPr>
        <p:spPr>
          <a:xfrm>
            <a:off x="2039112" y="3191256"/>
            <a:ext cx="804672" cy="173736"/>
          </a:xfrm>
          <a:prstGeom prst="rect">
            <a:avLst/>
          </a:prstGeom>
          <a:noFill/>
        </p:spPr>
        <p:txBody>
          <a:bodyPr wrap="square" anchor="ctr" lIns="0" rIns="0" tIns="0" bIns="0">
            <a:spAutoFit/>
          </a:bodyPr>
          <a:lstStyle/>
          <a:p>
            <a:pPr algn="r">
              <a:lnSpc>
                <a:spcPct val="104000"/>
              </a:lnSpc>
              <a:spcBef>
                <a:spcPts val="0"/>
              </a:spcBef>
              <a:spcAft>
                <a:spcPts val="0"/>
              </a:spcAft>
            </a:pPr>
            <a:r>
              <a:rPr sz="850" b="1">
                <a:solidFill>
                  <a:srgbClr val="16202E"/>
                </a:solidFill>
                <a:latin typeface="Calibri"/>
              </a:rPr>
              <a:t>15 MD</a:t>
            </a:r>
          </a:p>
        </p:txBody>
      </p:sp>
      <p:sp>
        <p:nvSpPr>
          <p:cNvPr id="24" name="TextBox 23"/>
          <p:cNvSpPr txBox="1"/>
          <p:nvPr/>
        </p:nvSpPr>
        <p:spPr>
          <a:xfrm>
            <a:off x="850392" y="3378708"/>
            <a:ext cx="1188720" cy="173736"/>
          </a:xfrm>
          <a:prstGeom prst="rect">
            <a:avLst/>
          </a:prstGeom>
          <a:noFill/>
        </p:spPr>
        <p:txBody>
          <a:bodyPr wrap="square" anchor="ctr" lIns="0" rIns="0" tIns="0" bIns="0">
            <a:spAutoFit/>
          </a:bodyPr>
          <a:lstStyle/>
          <a:p>
            <a:pPr algn="l">
              <a:lnSpc>
                <a:spcPct val="104000"/>
              </a:lnSpc>
              <a:spcBef>
                <a:spcPts val="0"/>
              </a:spcBef>
              <a:spcAft>
                <a:spcPts val="0"/>
              </a:spcAft>
            </a:pPr>
            <a:r>
              <a:rPr sz="800" b="0">
                <a:solidFill>
                  <a:srgbClr val="454F5C"/>
                </a:solidFill>
                <a:latin typeface="Calibri"/>
              </a:rPr>
              <a:t>Cloudera licence</a:t>
            </a:r>
          </a:p>
        </p:txBody>
      </p:sp>
      <p:sp>
        <p:nvSpPr>
          <p:cNvPr id="25" name="TextBox 24"/>
          <p:cNvSpPr txBox="1"/>
          <p:nvPr/>
        </p:nvSpPr>
        <p:spPr>
          <a:xfrm>
            <a:off x="2039112" y="3378708"/>
            <a:ext cx="804672" cy="173736"/>
          </a:xfrm>
          <a:prstGeom prst="rect">
            <a:avLst/>
          </a:prstGeom>
          <a:noFill/>
        </p:spPr>
        <p:txBody>
          <a:bodyPr wrap="square" anchor="ctr" lIns="0" rIns="0" tIns="0" bIns="0">
            <a:spAutoFit/>
          </a:bodyPr>
          <a:lstStyle/>
          <a:p>
            <a:pPr algn="r">
              <a:lnSpc>
                <a:spcPct val="104000"/>
              </a:lnSpc>
              <a:spcBef>
                <a:spcPts val="0"/>
              </a:spcBef>
              <a:spcAft>
                <a:spcPts val="0"/>
              </a:spcAft>
            </a:pPr>
            <a:r>
              <a:rPr sz="850" b="1">
                <a:solidFill>
                  <a:srgbClr val="16202E"/>
                </a:solidFill>
                <a:latin typeface="Calibri"/>
              </a:rPr>
              <a:t>IDR 200 Mio</a:t>
            </a:r>
          </a:p>
        </p:txBody>
      </p:sp>
      <p:sp>
        <p:nvSpPr>
          <p:cNvPr id="26" name="TextBox 25"/>
          <p:cNvSpPr txBox="1"/>
          <p:nvPr/>
        </p:nvSpPr>
        <p:spPr>
          <a:xfrm>
            <a:off x="850392" y="3566160"/>
            <a:ext cx="1188720" cy="173736"/>
          </a:xfrm>
          <a:prstGeom prst="rect">
            <a:avLst/>
          </a:prstGeom>
          <a:noFill/>
        </p:spPr>
        <p:txBody>
          <a:bodyPr wrap="square" anchor="ctr" lIns="0" rIns="0" tIns="0" bIns="0">
            <a:spAutoFit/>
          </a:bodyPr>
          <a:lstStyle/>
          <a:p>
            <a:pPr algn="l">
              <a:lnSpc>
                <a:spcPct val="104000"/>
              </a:lnSpc>
              <a:spcBef>
                <a:spcPts val="0"/>
              </a:spcBef>
              <a:spcAft>
                <a:spcPts val="0"/>
              </a:spcAft>
            </a:pPr>
            <a:r>
              <a:rPr sz="800" b="0">
                <a:solidFill>
                  <a:srgbClr val="454F5C"/>
                </a:solidFill>
                <a:latin typeface="Calibri"/>
              </a:rPr>
              <a:t>Cloudera maintenance</a:t>
            </a:r>
          </a:p>
        </p:txBody>
      </p:sp>
      <p:sp>
        <p:nvSpPr>
          <p:cNvPr id="27" name="TextBox 26"/>
          <p:cNvSpPr txBox="1"/>
          <p:nvPr/>
        </p:nvSpPr>
        <p:spPr>
          <a:xfrm>
            <a:off x="2039112" y="3566160"/>
            <a:ext cx="804672" cy="173736"/>
          </a:xfrm>
          <a:prstGeom prst="rect">
            <a:avLst/>
          </a:prstGeom>
          <a:noFill/>
        </p:spPr>
        <p:txBody>
          <a:bodyPr wrap="square" anchor="ctr" lIns="0" rIns="0" tIns="0" bIns="0">
            <a:spAutoFit/>
          </a:bodyPr>
          <a:lstStyle/>
          <a:p>
            <a:pPr algn="r">
              <a:lnSpc>
                <a:spcPct val="104000"/>
              </a:lnSpc>
              <a:spcBef>
                <a:spcPts val="0"/>
              </a:spcBef>
              <a:spcAft>
                <a:spcPts val="0"/>
              </a:spcAft>
            </a:pPr>
            <a:r>
              <a:rPr sz="850" b="1">
                <a:solidFill>
                  <a:srgbClr val="16202E"/>
                </a:solidFill>
                <a:latin typeface="Calibri"/>
              </a:rPr>
              <a:t>IDR 6 Mio</a:t>
            </a:r>
          </a:p>
        </p:txBody>
      </p:sp>
      <p:sp>
        <p:nvSpPr>
          <p:cNvPr id="28" name="Rectangle 27"/>
          <p:cNvSpPr/>
          <p:nvPr/>
        </p:nvSpPr>
        <p:spPr>
          <a:xfrm>
            <a:off x="850392" y="3799332"/>
            <a:ext cx="1993392" cy="1270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 y="3845052"/>
            <a:ext cx="1993392" cy="219456"/>
          </a:xfrm>
          <a:prstGeom prst="rect">
            <a:avLst/>
          </a:prstGeom>
          <a:noFill/>
        </p:spPr>
        <p:txBody>
          <a:bodyPr wrap="square" anchor="t" lIns="0" rIns="0" tIns="0" bIns="0">
            <a:spAutoFit/>
          </a:bodyPr>
          <a:lstStyle/>
          <a:p>
            <a:pPr algn="l">
              <a:lnSpc>
                <a:spcPct val="104000"/>
              </a:lnSpc>
              <a:spcBef>
                <a:spcPts val="0"/>
              </a:spcBef>
              <a:spcAft>
                <a:spcPts val="0"/>
              </a:spcAft>
            </a:pPr>
            <a:r>
              <a:rPr sz="1300" b="1">
                <a:solidFill>
                  <a:srgbClr val="D42030"/>
                </a:solidFill>
                <a:latin typeface="Calibri"/>
              </a:rPr>
              <a:t>IDR 240 Mio</a:t>
            </a:r>
            <a:r>
              <a:rPr sz="800" b="0">
                <a:solidFill>
                  <a:srgbClr val="6A7177"/>
                </a:solidFill>
                <a:latin typeface="Calibri"/>
              </a:rPr>
              <a:t>  a year</a:t>
            </a:r>
          </a:p>
        </p:txBody>
      </p:sp>
      <p:sp>
        <p:nvSpPr>
          <p:cNvPr id="30" name="TextBox 29"/>
          <p:cNvSpPr txBox="1"/>
          <p:nvPr/>
        </p:nvSpPr>
        <p:spPr>
          <a:xfrm>
            <a:off x="850392" y="4037076"/>
            <a:ext cx="1993392" cy="137160"/>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IDR 20 Mio a month</a:t>
            </a:r>
          </a:p>
        </p:txBody>
      </p:sp>
      <p:sp>
        <p:nvSpPr>
          <p:cNvPr id="31" name="Rounded Rectangle 30"/>
          <p:cNvSpPr/>
          <p:nvPr/>
        </p:nvSpPr>
        <p:spPr>
          <a:xfrm>
            <a:off x="3099816" y="1755648"/>
            <a:ext cx="3383280" cy="2468880"/>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099816" y="1755648"/>
            <a:ext cx="3383280" cy="310896"/>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9816" y="1755648"/>
            <a:ext cx="3383280" cy="310896"/>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FINANCIAL BENEFIT 1 · PRODUCTIVITY VALUE</a:t>
            </a:r>
          </a:p>
        </p:txBody>
      </p:sp>
      <p:sp>
        <p:nvSpPr>
          <p:cNvPr id="34" name="TextBox 33"/>
          <p:cNvSpPr txBox="1"/>
          <p:nvPr/>
        </p:nvSpPr>
        <p:spPr>
          <a:xfrm>
            <a:off x="3246120" y="21396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
            </a:r>
          </a:p>
        </p:txBody>
      </p:sp>
      <p:sp>
        <p:nvSpPr>
          <p:cNvPr id="35" name="TextBox 34"/>
          <p:cNvSpPr txBox="1"/>
          <p:nvPr/>
        </p:nvSpPr>
        <p:spPr>
          <a:xfrm>
            <a:off x="3410712" y="2139696"/>
            <a:ext cx="1792589"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Ad hoc requests</a:t>
            </a:r>
            <a:r>
              <a:rPr sz="900" b="1">
                <a:solidFill>
                  <a:srgbClr val="D42030"/>
                </a:solidFill>
                <a:latin typeface="Calibri"/>
              </a:rPr>
              <a:t> *</a:t>
            </a:r>
          </a:p>
        </p:txBody>
      </p:sp>
      <p:sp>
        <p:nvSpPr>
          <p:cNvPr id="36" name="TextBox 35"/>
          <p:cNvSpPr txBox="1"/>
          <p:nvPr/>
        </p:nvSpPr>
        <p:spPr>
          <a:xfrm>
            <a:off x="5038709" y="2139696"/>
            <a:ext cx="1298082"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87 / month</a:t>
            </a:r>
          </a:p>
        </p:txBody>
      </p:sp>
      <p:sp>
        <p:nvSpPr>
          <p:cNvPr id="37" name="TextBox 36"/>
          <p:cNvSpPr txBox="1"/>
          <p:nvPr/>
        </p:nvSpPr>
        <p:spPr>
          <a:xfrm>
            <a:off x="3246120" y="23682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
            </a:r>
          </a:p>
        </p:txBody>
      </p:sp>
      <p:sp>
        <p:nvSpPr>
          <p:cNvPr id="38" name="TextBox 37"/>
          <p:cNvSpPr txBox="1"/>
          <p:nvPr/>
        </p:nvSpPr>
        <p:spPr>
          <a:xfrm>
            <a:off x="3410712" y="2368296"/>
            <a:ext cx="1792589"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Analyst effort: today → Nexus</a:t>
            </a:r>
            <a:r>
              <a:rPr sz="900" b="1">
                <a:solidFill>
                  <a:srgbClr val="D42030"/>
                </a:solidFill>
                <a:latin typeface="Calibri"/>
              </a:rPr>
              <a:t> *</a:t>
            </a:r>
          </a:p>
        </p:txBody>
      </p:sp>
      <p:sp>
        <p:nvSpPr>
          <p:cNvPr id="39" name="TextBox 38"/>
          <p:cNvSpPr txBox="1"/>
          <p:nvPr/>
        </p:nvSpPr>
        <p:spPr>
          <a:xfrm>
            <a:off x="5038709" y="2368296"/>
            <a:ext cx="1298082"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12 h → 0.5 h</a:t>
            </a:r>
          </a:p>
        </p:txBody>
      </p:sp>
      <p:sp>
        <p:nvSpPr>
          <p:cNvPr id="40" name="TextBox 39"/>
          <p:cNvSpPr txBox="1"/>
          <p:nvPr/>
        </p:nvSpPr>
        <p:spPr>
          <a:xfrm>
            <a:off x="3246120" y="25968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a:t>
            </a:r>
          </a:p>
        </p:txBody>
      </p:sp>
      <p:sp>
        <p:nvSpPr>
          <p:cNvPr id="41" name="TextBox 40"/>
          <p:cNvSpPr txBox="1"/>
          <p:nvPr/>
        </p:nvSpPr>
        <p:spPr>
          <a:xfrm>
            <a:off x="3410712" y="2596896"/>
            <a:ext cx="1792589"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Time saved per request</a:t>
            </a:r>
          </a:p>
        </p:txBody>
      </p:sp>
      <p:sp>
        <p:nvSpPr>
          <p:cNvPr id="42" name="TextBox 41"/>
          <p:cNvSpPr txBox="1"/>
          <p:nvPr/>
        </p:nvSpPr>
        <p:spPr>
          <a:xfrm>
            <a:off x="5038709" y="2596896"/>
            <a:ext cx="1298082"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11.5 h</a:t>
            </a:r>
          </a:p>
        </p:txBody>
      </p:sp>
      <p:sp>
        <p:nvSpPr>
          <p:cNvPr id="43" name="TextBox 42"/>
          <p:cNvSpPr txBox="1"/>
          <p:nvPr/>
        </p:nvSpPr>
        <p:spPr>
          <a:xfrm>
            <a:off x="3246120" y="28254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a:t>
            </a:r>
          </a:p>
        </p:txBody>
      </p:sp>
      <p:sp>
        <p:nvSpPr>
          <p:cNvPr id="44" name="TextBox 43"/>
          <p:cNvSpPr txBox="1"/>
          <p:nvPr/>
        </p:nvSpPr>
        <p:spPr>
          <a:xfrm>
            <a:off x="3410712" y="2825496"/>
            <a:ext cx="1792589"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Hours released</a:t>
            </a:r>
          </a:p>
        </p:txBody>
      </p:sp>
      <p:sp>
        <p:nvSpPr>
          <p:cNvPr id="45" name="TextBox 44"/>
          <p:cNvSpPr txBox="1"/>
          <p:nvPr/>
        </p:nvSpPr>
        <p:spPr>
          <a:xfrm>
            <a:off x="5038709" y="2825496"/>
            <a:ext cx="1298082"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1,000 h / month</a:t>
            </a:r>
          </a:p>
        </p:txBody>
      </p:sp>
      <p:sp>
        <p:nvSpPr>
          <p:cNvPr id="46" name="TextBox 45"/>
          <p:cNvSpPr txBox="1"/>
          <p:nvPr/>
        </p:nvSpPr>
        <p:spPr>
          <a:xfrm>
            <a:off x="3246120" y="30540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a:t>
            </a:r>
          </a:p>
        </p:txBody>
      </p:sp>
      <p:sp>
        <p:nvSpPr>
          <p:cNvPr id="47" name="TextBox 46"/>
          <p:cNvSpPr txBox="1"/>
          <p:nvPr/>
        </p:nvSpPr>
        <p:spPr>
          <a:xfrm>
            <a:off x="3410712" y="3054096"/>
            <a:ext cx="1792589"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Cost of an analyst hour</a:t>
            </a:r>
            <a:r>
              <a:rPr sz="900" b="1">
                <a:solidFill>
                  <a:srgbClr val="D42030"/>
                </a:solidFill>
                <a:latin typeface="Calibri"/>
              </a:rPr>
              <a:t> *</a:t>
            </a:r>
          </a:p>
        </p:txBody>
      </p:sp>
      <p:sp>
        <p:nvSpPr>
          <p:cNvPr id="48" name="TextBox 47"/>
          <p:cNvSpPr txBox="1"/>
          <p:nvPr/>
        </p:nvSpPr>
        <p:spPr>
          <a:xfrm>
            <a:off x="5038709" y="3054096"/>
            <a:ext cx="1298082"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IDR 150,000</a:t>
            </a:r>
          </a:p>
        </p:txBody>
      </p:sp>
      <p:sp>
        <p:nvSpPr>
          <p:cNvPr id="49" name="Rounded Rectangle 48"/>
          <p:cNvSpPr/>
          <p:nvPr/>
        </p:nvSpPr>
        <p:spPr>
          <a:xfrm>
            <a:off x="3246120" y="3346704"/>
            <a:ext cx="3090672" cy="219456"/>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46120" y="3346704"/>
            <a:ext cx="3090672" cy="219456"/>
          </a:xfrm>
          <a:prstGeom prst="rect">
            <a:avLst/>
          </a:prstGeom>
          <a:noFill/>
        </p:spPr>
        <p:txBody>
          <a:bodyPr wrap="square" anchor="ctr" lIns="0" rIns="0" tIns="0" bIns="0">
            <a:spAutoFit/>
          </a:bodyPr>
          <a:lstStyle/>
          <a:p>
            <a:pPr algn="ctr">
              <a:lnSpc>
                <a:spcPct val="104000"/>
              </a:lnSpc>
              <a:spcBef>
                <a:spcPts val="0"/>
              </a:spcBef>
              <a:spcAft>
                <a:spcPts val="0"/>
              </a:spcAft>
            </a:pPr>
            <a:r>
              <a:rPr sz="850" b="1">
                <a:solidFill>
                  <a:srgbClr val="2E5A88"/>
                </a:solidFill>
                <a:latin typeface="Calibri"/>
              </a:rPr>
              <a:t>87 x 11.5 h x IDR 150,000</a:t>
            </a:r>
          </a:p>
        </p:txBody>
      </p:sp>
      <p:sp>
        <p:nvSpPr>
          <p:cNvPr id="51" name="Rounded Rectangle 50"/>
          <p:cNvSpPr/>
          <p:nvPr/>
        </p:nvSpPr>
        <p:spPr>
          <a:xfrm>
            <a:off x="3246120" y="3621024"/>
            <a:ext cx="3090672" cy="530352"/>
          </a:xfrm>
          <a:prstGeom prst="round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46120" y="3621024"/>
            <a:ext cx="3090672" cy="530352"/>
          </a:xfrm>
          <a:prstGeom prst="rect">
            <a:avLst/>
          </a:prstGeom>
          <a:noFill/>
        </p:spPr>
        <p:txBody>
          <a:bodyPr wrap="square" anchor="ctr" lIns="0" rIns="0" tIns="0" bIns="0">
            <a:spAutoFit/>
          </a:bodyPr>
          <a:lstStyle/>
          <a:p>
            <a:pPr algn="ctr">
              <a:lnSpc>
                <a:spcPct val="104000"/>
              </a:lnSpc>
              <a:spcBef>
                <a:spcPts val="0"/>
              </a:spcBef>
              <a:spcAft>
                <a:spcPts val="100"/>
              </a:spcAft>
            </a:pPr>
            <a:r>
              <a:rPr sz="1500" b="1">
                <a:solidFill>
                  <a:srgbClr val="D42030"/>
                </a:solidFill>
                <a:latin typeface="Calibri"/>
              </a:rPr>
              <a:t>IDR 150 Mio / month</a:t>
            </a:r>
          </a:p>
          <a:p>
            <a:pPr algn="ctr">
              <a:lnSpc>
                <a:spcPct val="104000"/>
              </a:lnSpc>
              <a:spcBef>
                <a:spcPts val="0"/>
              </a:spcBef>
              <a:spcAft>
                <a:spcPts val="100"/>
              </a:spcAft>
            </a:pPr>
            <a:r>
              <a:rPr sz="1000" b="1">
                <a:solidFill>
                  <a:srgbClr val="16202E"/>
                </a:solidFill>
                <a:latin typeface="Calibri"/>
              </a:rPr>
              <a:t>IDR 1.8 Bio / year</a:t>
            </a:r>
          </a:p>
        </p:txBody>
      </p:sp>
      <p:sp>
        <p:nvSpPr>
          <p:cNvPr id="53" name="Rounded Rectangle 52"/>
          <p:cNvSpPr/>
          <p:nvPr/>
        </p:nvSpPr>
        <p:spPr>
          <a:xfrm>
            <a:off x="6611112" y="1755648"/>
            <a:ext cx="2697480" cy="2468880"/>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611112" y="1755648"/>
            <a:ext cx="2697480" cy="310896"/>
          </a:xfrm>
          <a:prstGeom prst="round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11112" y="1755648"/>
            <a:ext cx="2697480" cy="310896"/>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FINANCIAL BENEFIT 2 · CAMPAIGN VALUE</a:t>
            </a:r>
          </a:p>
        </p:txBody>
      </p:sp>
      <p:sp>
        <p:nvSpPr>
          <p:cNvPr id="56" name="TextBox 55"/>
          <p:cNvSpPr txBox="1"/>
          <p:nvPr/>
        </p:nvSpPr>
        <p:spPr>
          <a:xfrm>
            <a:off x="6757416" y="21396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
            </a:r>
          </a:p>
        </p:txBody>
      </p:sp>
      <p:sp>
        <p:nvSpPr>
          <p:cNvPr id="57" name="TextBox 56"/>
          <p:cNvSpPr txBox="1"/>
          <p:nvPr/>
        </p:nvSpPr>
        <p:spPr>
          <a:xfrm>
            <a:off x="6922007" y="2139696"/>
            <a:ext cx="1394825"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Customers contacted</a:t>
            </a:r>
            <a:r>
              <a:rPr sz="900" b="1">
                <a:solidFill>
                  <a:srgbClr val="D42030"/>
                </a:solidFill>
                <a:latin typeface="Calibri"/>
              </a:rPr>
              <a:t> *</a:t>
            </a:r>
          </a:p>
        </p:txBody>
      </p:sp>
      <p:sp>
        <p:nvSpPr>
          <p:cNvPr id="58" name="TextBox 57"/>
          <p:cNvSpPr txBox="1"/>
          <p:nvPr/>
        </p:nvSpPr>
        <p:spPr>
          <a:xfrm>
            <a:off x="8152241" y="2139696"/>
            <a:ext cx="1010046"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100,000 / mo</a:t>
            </a:r>
          </a:p>
        </p:txBody>
      </p:sp>
      <p:sp>
        <p:nvSpPr>
          <p:cNvPr id="59" name="TextBox 58"/>
          <p:cNvSpPr txBox="1"/>
          <p:nvPr/>
        </p:nvSpPr>
        <p:spPr>
          <a:xfrm>
            <a:off x="6757416" y="23682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a:t>
            </a:r>
          </a:p>
        </p:txBody>
      </p:sp>
      <p:sp>
        <p:nvSpPr>
          <p:cNvPr id="60" name="TextBox 59"/>
          <p:cNvSpPr txBox="1"/>
          <p:nvPr/>
        </p:nvSpPr>
        <p:spPr>
          <a:xfrm>
            <a:off x="6922007" y="2368296"/>
            <a:ext cx="1394825"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Extra take up from targeting</a:t>
            </a:r>
            <a:r>
              <a:rPr sz="900" b="1">
                <a:solidFill>
                  <a:srgbClr val="D42030"/>
                </a:solidFill>
                <a:latin typeface="Calibri"/>
              </a:rPr>
              <a:t> *</a:t>
            </a:r>
          </a:p>
        </p:txBody>
      </p:sp>
      <p:sp>
        <p:nvSpPr>
          <p:cNvPr id="61" name="TextBox 60"/>
          <p:cNvSpPr txBox="1"/>
          <p:nvPr/>
        </p:nvSpPr>
        <p:spPr>
          <a:xfrm>
            <a:off x="8152241" y="2368296"/>
            <a:ext cx="1010046"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1% = 1,000</a:t>
            </a:r>
          </a:p>
        </p:txBody>
      </p:sp>
      <p:sp>
        <p:nvSpPr>
          <p:cNvPr id="62" name="TextBox 61"/>
          <p:cNvSpPr txBox="1"/>
          <p:nvPr/>
        </p:nvSpPr>
        <p:spPr>
          <a:xfrm>
            <a:off x="6757416" y="25968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a:t>
            </a:r>
          </a:p>
        </p:txBody>
      </p:sp>
      <p:sp>
        <p:nvSpPr>
          <p:cNvPr id="63" name="TextBox 62"/>
          <p:cNvSpPr txBox="1"/>
          <p:nvPr/>
        </p:nvSpPr>
        <p:spPr>
          <a:xfrm>
            <a:off x="6922007" y="2596896"/>
            <a:ext cx="1394825"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Average TD balance</a:t>
            </a:r>
            <a:r>
              <a:rPr sz="900" b="1">
                <a:solidFill>
                  <a:srgbClr val="D42030"/>
                </a:solidFill>
                <a:latin typeface="Calibri"/>
              </a:rPr>
              <a:t> *</a:t>
            </a:r>
          </a:p>
        </p:txBody>
      </p:sp>
      <p:sp>
        <p:nvSpPr>
          <p:cNvPr id="64" name="TextBox 63"/>
          <p:cNvSpPr txBox="1"/>
          <p:nvPr/>
        </p:nvSpPr>
        <p:spPr>
          <a:xfrm>
            <a:off x="8152241" y="2596896"/>
            <a:ext cx="1010046"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IDR 120 Mio</a:t>
            </a:r>
          </a:p>
        </p:txBody>
      </p:sp>
      <p:sp>
        <p:nvSpPr>
          <p:cNvPr id="65" name="TextBox 64"/>
          <p:cNvSpPr txBox="1"/>
          <p:nvPr/>
        </p:nvSpPr>
        <p:spPr>
          <a:xfrm>
            <a:off x="6757416" y="2825496"/>
            <a:ext cx="146304" cy="201168"/>
          </a:xfrm>
          <a:prstGeom prst="rect">
            <a:avLst/>
          </a:prstGeom>
          <a:noFill/>
        </p:spPr>
        <p:txBody>
          <a:bodyPr wrap="square" anchor="ctr" lIns="0" rIns="0" tIns="0" bIns="0">
            <a:spAutoFit/>
          </a:bodyPr>
          <a:lstStyle/>
          <a:p>
            <a:pPr algn="l">
              <a:lnSpc>
                <a:spcPct val="104000"/>
              </a:lnSpc>
              <a:spcBef>
                <a:spcPts val="0"/>
              </a:spcBef>
              <a:spcAft>
                <a:spcPts val="0"/>
              </a:spcAft>
            </a:pPr>
            <a:r>
              <a:rPr sz="950" b="1">
                <a:solidFill>
                  <a:srgbClr val="D42030"/>
                </a:solidFill>
                <a:latin typeface="Calibri"/>
              </a:rPr>
              <a:t>×</a:t>
            </a:r>
          </a:p>
        </p:txBody>
      </p:sp>
      <p:sp>
        <p:nvSpPr>
          <p:cNvPr id="66" name="TextBox 65"/>
          <p:cNvSpPr txBox="1"/>
          <p:nvPr/>
        </p:nvSpPr>
        <p:spPr>
          <a:xfrm>
            <a:off x="6922007" y="2825496"/>
            <a:ext cx="1394825" cy="201168"/>
          </a:xfrm>
          <a:prstGeom prst="rect">
            <a:avLst/>
          </a:prstGeom>
          <a:noFill/>
        </p:spPr>
        <p:txBody>
          <a:bodyPr wrap="square" anchor="ctr" lIns="0" rIns="0" tIns="0" bIns="0">
            <a:spAutoFit/>
          </a:bodyPr>
          <a:lstStyle/>
          <a:p>
            <a:pPr algn="l">
              <a:lnSpc>
                <a:spcPct val="104000"/>
              </a:lnSpc>
              <a:spcBef>
                <a:spcPts val="0"/>
              </a:spcBef>
              <a:spcAft>
                <a:spcPts val="0"/>
              </a:spcAft>
            </a:pPr>
            <a:r>
              <a:rPr sz="900" b="0">
                <a:solidFill>
                  <a:srgbClr val="454F5C"/>
                </a:solidFill>
                <a:latin typeface="Calibri"/>
              </a:rPr>
              <a:t>Margin on funding</a:t>
            </a:r>
            <a:r>
              <a:rPr sz="900" b="1">
                <a:solidFill>
                  <a:srgbClr val="D42030"/>
                </a:solidFill>
                <a:latin typeface="Calibri"/>
              </a:rPr>
              <a:t> *</a:t>
            </a:r>
          </a:p>
        </p:txBody>
      </p:sp>
      <p:sp>
        <p:nvSpPr>
          <p:cNvPr id="67" name="TextBox 66"/>
          <p:cNvSpPr txBox="1"/>
          <p:nvPr/>
        </p:nvSpPr>
        <p:spPr>
          <a:xfrm>
            <a:off x="8152241" y="2825496"/>
            <a:ext cx="1010046"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1.5% / year</a:t>
            </a:r>
          </a:p>
        </p:txBody>
      </p:sp>
      <p:sp>
        <p:nvSpPr>
          <p:cNvPr id="68" name="TextBox 67"/>
          <p:cNvSpPr txBox="1"/>
          <p:nvPr/>
        </p:nvSpPr>
        <p:spPr>
          <a:xfrm>
            <a:off x="6757416" y="3090672"/>
            <a:ext cx="2404872" cy="182880"/>
          </a:xfrm>
          <a:prstGeom prst="rect">
            <a:avLst/>
          </a:prstGeom>
          <a:noFill/>
        </p:spPr>
        <p:txBody>
          <a:bodyPr wrap="square" anchor="ctr" lIns="0" rIns="0" tIns="0" bIns="0">
            <a:spAutoFit/>
          </a:bodyPr>
          <a:lstStyle/>
          <a:p>
            <a:pPr algn="l">
              <a:lnSpc>
                <a:spcPct val="104000"/>
              </a:lnSpc>
              <a:spcBef>
                <a:spcPts val="0"/>
              </a:spcBef>
              <a:spcAft>
                <a:spcPts val="0"/>
              </a:spcAft>
            </a:pPr>
            <a:r>
              <a:rPr sz="900" b="1">
                <a:solidFill>
                  <a:srgbClr val="D42030"/>
                </a:solidFill>
                <a:latin typeface="Calibri"/>
              </a:rPr>
              <a:t>*  </a:t>
            </a:r>
            <a:r>
              <a:rPr sz="750" b="0">
                <a:solidFill>
                  <a:srgbClr val="6A7177"/>
                </a:solidFill>
                <a:latin typeface="Calibri"/>
              </a:rPr>
              <a:t>Assumption</a:t>
            </a:r>
          </a:p>
        </p:txBody>
      </p:sp>
      <p:sp>
        <p:nvSpPr>
          <p:cNvPr id="69" name="Rounded Rectangle 68"/>
          <p:cNvSpPr/>
          <p:nvPr/>
        </p:nvSpPr>
        <p:spPr>
          <a:xfrm>
            <a:off x="6757416" y="3346704"/>
            <a:ext cx="2404872" cy="219456"/>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757416" y="3346704"/>
            <a:ext cx="2404872" cy="219456"/>
          </a:xfrm>
          <a:prstGeom prst="rect">
            <a:avLst/>
          </a:prstGeom>
          <a:noFill/>
        </p:spPr>
        <p:txBody>
          <a:bodyPr wrap="square" anchor="ctr" lIns="0" rIns="0" tIns="0" bIns="0">
            <a:spAutoFit/>
          </a:bodyPr>
          <a:lstStyle/>
          <a:p>
            <a:pPr algn="ctr">
              <a:lnSpc>
                <a:spcPct val="104000"/>
              </a:lnSpc>
              <a:spcBef>
                <a:spcPts val="0"/>
              </a:spcBef>
              <a:spcAft>
                <a:spcPts val="0"/>
              </a:spcAft>
            </a:pPr>
            <a:r>
              <a:rPr sz="850" b="1">
                <a:solidFill>
                  <a:srgbClr val="2E5A88"/>
                </a:solidFill>
                <a:latin typeface="Calibri"/>
              </a:rPr>
              <a:t>100,000 x 1% x IDR 120 Mio x 1.5% / 12</a:t>
            </a:r>
          </a:p>
        </p:txBody>
      </p:sp>
      <p:sp>
        <p:nvSpPr>
          <p:cNvPr id="71" name="Rounded Rectangle 70"/>
          <p:cNvSpPr/>
          <p:nvPr/>
        </p:nvSpPr>
        <p:spPr>
          <a:xfrm>
            <a:off x="6757416" y="3621024"/>
            <a:ext cx="2404872" cy="530352"/>
          </a:xfrm>
          <a:prstGeom prst="round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757416" y="3621024"/>
            <a:ext cx="2404872" cy="530352"/>
          </a:xfrm>
          <a:prstGeom prst="rect">
            <a:avLst/>
          </a:prstGeom>
          <a:noFill/>
        </p:spPr>
        <p:txBody>
          <a:bodyPr wrap="square" anchor="ctr" lIns="0" rIns="0" tIns="0" bIns="0">
            <a:spAutoFit/>
          </a:bodyPr>
          <a:lstStyle/>
          <a:p>
            <a:pPr algn="ctr">
              <a:lnSpc>
                <a:spcPct val="104000"/>
              </a:lnSpc>
              <a:spcBef>
                <a:spcPts val="0"/>
              </a:spcBef>
              <a:spcAft>
                <a:spcPts val="100"/>
              </a:spcAft>
            </a:pPr>
            <a:r>
              <a:rPr sz="1500" b="1">
                <a:solidFill>
                  <a:srgbClr val="D42030"/>
                </a:solidFill>
                <a:latin typeface="Calibri"/>
              </a:rPr>
              <a:t>IDR 150 Mio / month</a:t>
            </a:r>
          </a:p>
          <a:p>
            <a:pPr algn="ctr">
              <a:lnSpc>
                <a:spcPct val="104000"/>
              </a:lnSpc>
              <a:spcBef>
                <a:spcPts val="0"/>
              </a:spcBef>
              <a:spcAft>
                <a:spcPts val="100"/>
              </a:spcAft>
            </a:pPr>
            <a:r>
              <a:rPr sz="1000" b="1">
                <a:solidFill>
                  <a:srgbClr val="16202E"/>
                </a:solidFill>
                <a:latin typeface="Calibri"/>
              </a:rPr>
              <a:t>IDR 1.8 Bio / year</a:t>
            </a:r>
          </a:p>
        </p:txBody>
      </p:sp>
      <p:sp>
        <p:nvSpPr>
          <p:cNvPr id="73" name="Rounded Rectangle 72"/>
          <p:cNvSpPr/>
          <p:nvPr/>
        </p:nvSpPr>
        <p:spPr>
          <a:xfrm>
            <a:off x="9436608" y="1755648"/>
            <a:ext cx="2066543" cy="2468880"/>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436608" y="1755648"/>
            <a:ext cx="2066543" cy="310896"/>
          </a:xfrm>
          <a:prstGeom prst="round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436608" y="1755648"/>
            <a:ext cx="2066543" cy="310896"/>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FINANCIAL BENEFIT</a:t>
            </a:r>
          </a:p>
        </p:txBody>
      </p:sp>
      <p:sp>
        <p:nvSpPr>
          <p:cNvPr id="76" name="TextBox 75"/>
          <p:cNvSpPr txBox="1"/>
          <p:nvPr/>
        </p:nvSpPr>
        <p:spPr>
          <a:xfrm>
            <a:off x="9582912" y="2157984"/>
            <a:ext cx="1773936" cy="128016"/>
          </a:xfrm>
          <a:prstGeom prst="rect">
            <a:avLst/>
          </a:prstGeom>
          <a:noFill/>
        </p:spPr>
        <p:txBody>
          <a:bodyPr wrap="square" anchor="t" lIns="0" rIns="0" tIns="0" bIns="0">
            <a:spAutoFit/>
          </a:bodyPr>
          <a:lstStyle/>
          <a:p>
            <a:pPr algn="l">
              <a:lnSpc>
                <a:spcPct val="104000"/>
              </a:lnSpc>
              <a:spcBef>
                <a:spcPts val="0"/>
              </a:spcBef>
              <a:spcAft>
                <a:spcPts val="0"/>
              </a:spcAft>
            </a:pPr>
            <a:r>
              <a:rPr sz="750" b="1">
                <a:solidFill>
                  <a:srgbClr val="9BA1A7"/>
                </a:solidFill>
                <a:latin typeface="Calibri"/>
              </a:rPr>
              <a:t>PRODUCTIVITY VALUE</a:t>
            </a:r>
          </a:p>
        </p:txBody>
      </p:sp>
      <p:sp>
        <p:nvSpPr>
          <p:cNvPr id="77" name="TextBox 76"/>
          <p:cNvSpPr txBox="1"/>
          <p:nvPr/>
        </p:nvSpPr>
        <p:spPr>
          <a:xfrm>
            <a:off x="9582912" y="2286000"/>
            <a:ext cx="1773936" cy="237744"/>
          </a:xfrm>
          <a:prstGeom prst="rect">
            <a:avLst/>
          </a:prstGeom>
          <a:noFill/>
        </p:spPr>
        <p:txBody>
          <a:bodyPr wrap="square" anchor="t" lIns="0" rIns="0" tIns="0" bIns="0">
            <a:spAutoFit/>
          </a:bodyPr>
          <a:lstStyle/>
          <a:p>
            <a:pPr algn="l">
              <a:lnSpc>
                <a:spcPct val="104000"/>
              </a:lnSpc>
              <a:spcBef>
                <a:spcPts val="0"/>
              </a:spcBef>
              <a:spcAft>
                <a:spcPts val="0"/>
              </a:spcAft>
            </a:pPr>
            <a:r>
              <a:rPr sz="1400" b="1">
                <a:solidFill>
                  <a:srgbClr val="16202E"/>
                </a:solidFill>
                <a:latin typeface="Calibri"/>
              </a:rPr>
              <a:t>IDR 150 Mio</a:t>
            </a:r>
          </a:p>
        </p:txBody>
      </p:sp>
      <p:sp>
        <p:nvSpPr>
          <p:cNvPr id="78" name="TextBox 77"/>
          <p:cNvSpPr txBox="1"/>
          <p:nvPr/>
        </p:nvSpPr>
        <p:spPr>
          <a:xfrm>
            <a:off x="9582912" y="2523744"/>
            <a:ext cx="1773936" cy="146304"/>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analyst hours released, not cash</a:t>
            </a:r>
          </a:p>
        </p:txBody>
      </p:sp>
      <p:sp>
        <p:nvSpPr>
          <p:cNvPr id="79" name="Rectangle 78"/>
          <p:cNvSpPr/>
          <p:nvPr/>
        </p:nvSpPr>
        <p:spPr>
          <a:xfrm>
            <a:off x="9582912" y="2688336"/>
            <a:ext cx="1773936"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582912" y="2743200"/>
            <a:ext cx="1773936" cy="128016"/>
          </a:xfrm>
          <a:prstGeom prst="rect">
            <a:avLst/>
          </a:prstGeom>
          <a:noFill/>
        </p:spPr>
        <p:txBody>
          <a:bodyPr wrap="square" anchor="t" lIns="0" rIns="0" tIns="0" bIns="0">
            <a:spAutoFit/>
          </a:bodyPr>
          <a:lstStyle/>
          <a:p>
            <a:pPr algn="l">
              <a:lnSpc>
                <a:spcPct val="104000"/>
              </a:lnSpc>
              <a:spcBef>
                <a:spcPts val="0"/>
              </a:spcBef>
              <a:spcAft>
                <a:spcPts val="0"/>
              </a:spcAft>
            </a:pPr>
            <a:r>
              <a:rPr sz="750" b="1">
                <a:solidFill>
                  <a:srgbClr val="9BA1A7"/>
                </a:solidFill>
                <a:latin typeface="Calibri"/>
              </a:rPr>
              <a:t>CAMPAIGN MARGIN</a:t>
            </a:r>
          </a:p>
        </p:txBody>
      </p:sp>
      <p:sp>
        <p:nvSpPr>
          <p:cNvPr id="81" name="TextBox 80"/>
          <p:cNvSpPr txBox="1"/>
          <p:nvPr/>
        </p:nvSpPr>
        <p:spPr>
          <a:xfrm>
            <a:off x="9582912" y="2871216"/>
            <a:ext cx="1773936" cy="237744"/>
          </a:xfrm>
          <a:prstGeom prst="rect">
            <a:avLst/>
          </a:prstGeom>
          <a:noFill/>
        </p:spPr>
        <p:txBody>
          <a:bodyPr wrap="square" anchor="t" lIns="0" rIns="0" tIns="0" bIns="0">
            <a:spAutoFit/>
          </a:bodyPr>
          <a:lstStyle/>
          <a:p>
            <a:pPr algn="l">
              <a:lnSpc>
                <a:spcPct val="104000"/>
              </a:lnSpc>
              <a:spcBef>
                <a:spcPts val="0"/>
              </a:spcBef>
              <a:spcAft>
                <a:spcPts val="0"/>
              </a:spcAft>
            </a:pPr>
            <a:r>
              <a:rPr sz="1400" b="1">
                <a:solidFill>
                  <a:srgbClr val="D42030"/>
                </a:solidFill>
                <a:latin typeface="Calibri"/>
              </a:rPr>
              <a:t>IDR 150 Mio</a:t>
            </a:r>
          </a:p>
        </p:txBody>
      </p:sp>
      <p:sp>
        <p:nvSpPr>
          <p:cNvPr id="82" name="TextBox 81"/>
          <p:cNvSpPr txBox="1"/>
          <p:nvPr/>
        </p:nvSpPr>
        <p:spPr>
          <a:xfrm>
            <a:off x="9582912" y="3108960"/>
            <a:ext cx="1773936" cy="146304"/>
          </a:xfrm>
          <a:prstGeom prst="rect">
            <a:avLst/>
          </a:prstGeom>
          <a:noFill/>
        </p:spPr>
        <p:txBody>
          <a:bodyPr wrap="square" anchor="t" lIns="0" rIns="0" tIns="0" bIns="0">
            <a:spAutoFit/>
          </a:bodyPr>
          <a:lstStyle/>
          <a:p>
            <a:pPr algn="l">
              <a:lnSpc>
                <a:spcPct val="104000"/>
              </a:lnSpc>
              <a:spcBef>
                <a:spcPts val="0"/>
              </a:spcBef>
              <a:spcAft>
                <a:spcPts val="0"/>
              </a:spcAft>
            </a:pPr>
            <a:r>
              <a:rPr sz="750" b="0">
                <a:solidFill>
                  <a:srgbClr val="6A7177"/>
                </a:solidFill>
                <a:latin typeface="Calibri"/>
              </a:rPr>
              <a:t>margin on funding won</a:t>
            </a:r>
          </a:p>
        </p:txBody>
      </p:sp>
      <p:sp>
        <p:nvSpPr>
          <p:cNvPr id="83" name="Rectangle 82"/>
          <p:cNvSpPr/>
          <p:nvPr/>
        </p:nvSpPr>
        <p:spPr>
          <a:xfrm>
            <a:off x="9582912" y="3273552"/>
            <a:ext cx="1773936"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582912" y="3328416"/>
            <a:ext cx="960120" cy="201168"/>
          </a:xfrm>
          <a:prstGeom prst="rect">
            <a:avLst/>
          </a:prstGeom>
          <a:noFill/>
        </p:spPr>
        <p:txBody>
          <a:bodyPr wrap="square" anchor="ctr" lIns="0" rIns="0" tIns="0" bIns="0">
            <a:spAutoFit/>
          </a:bodyPr>
          <a:lstStyle/>
          <a:p>
            <a:pPr algn="l">
              <a:lnSpc>
                <a:spcPct val="104000"/>
              </a:lnSpc>
              <a:spcBef>
                <a:spcPts val="0"/>
              </a:spcBef>
              <a:spcAft>
                <a:spcPts val="0"/>
              </a:spcAft>
            </a:pPr>
            <a:r>
              <a:rPr sz="800" b="0">
                <a:solidFill>
                  <a:srgbClr val="6A7177"/>
                </a:solidFill>
                <a:latin typeface="Calibri"/>
              </a:rPr>
              <a:t>Running cost</a:t>
            </a:r>
          </a:p>
        </p:txBody>
      </p:sp>
      <p:sp>
        <p:nvSpPr>
          <p:cNvPr id="85" name="TextBox 84"/>
          <p:cNvSpPr txBox="1"/>
          <p:nvPr/>
        </p:nvSpPr>
        <p:spPr>
          <a:xfrm>
            <a:off x="10543032" y="3328416"/>
            <a:ext cx="813816" cy="201168"/>
          </a:xfrm>
          <a:prstGeom prst="rect">
            <a:avLst/>
          </a:prstGeom>
          <a:noFill/>
        </p:spPr>
        <p:txBody>
          <a:bodyPr wrap="square" anchor="ctr" lIns="0" rIns="0" tIns="0" bIns="0">
            <a:spAutoFit/>
          </a:bodyPr>
          <a:lstStyle/>
          <a:p>
            <a:pPr algn="r">
              <a:lnSpc>
                <a:spcPct val="104000"/>
              </a:lnSpc>
              <a:spcBef>
                <a:spcPts val="0"/>
              </a:spcBef>
              <a:spcAft>
                <a:spcPts val="0"/>
              </a:spcAft>
            </a:pPr>
            <a:r>
              <a:rPr sz="1000" b="1">
                <a:solidFill>
                  <a:srgbClr val="16202E"/>
                </a:solidFill>
                <a:latin typeface="Calibri"/>
              </a:rPr>
              <a:t>− IDR 20 Mio</a:t>
            </a:r>
          </a:p>
        </p:txBody>
      </p:sp>
      <p:sp>
        <p:nvSpPr>
          <p:cNvPr id="86" name="Rectangle 85"/>
          <p:cNvSpPr/>
          <p:nvPr/>
        </p:nvSpPr>
        <p:spPr>
          <a:xfrm>
            <a:off x="9582912" y="3602736"/>
            <a:ext cx="1773936" cy="1270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582912" y="3657600"/>
            <a:ext cx="1773936" cy="128016"/>
          </a:xfrm>
          <a:prstGeom prst="rect">
            <a:avLst/>
          </a:prstGeom>
          <a:noFill/>
        </p:spPr>
        <p:txBody>
          <a:bodyPr wrap="square" anchor="t" lIns="0" rIns="0" tIns="0" bIns="0">
            <a:spAutoFit/>
          </a:bodyPr>
          <a:lstStyle/>
          <a:p>
            <a:pPr algn="l">
              <a:lnSpc>
                <a:spcPct val="104000"/>
              </a:lnSpc>
              <a:spcBef>
                <a:spcPts val="0"/>
              </a:spcBef>
              <a:spcAft>
                <a:spcPts val="0"/>
              </a:spcAft>
            </a:pPr>
            <a:r>
              <a:rPr sz="750" b="1">
                <a:solidFill>
                  <a:srgbClr val="9BA1A7"/>
                </a:solidFill>
                <a:latin typeface="Calibri"/>
              </a:rPr>
              <a:t>A YEAR OF COST, COVERED IN</a:t>
            </a:r>
          </a:p>
        </p:txBody>
      </p:sp>
      <p:sp>
        <p:nvSpPr>
          <p:cNvPr id="88" name="TextBox 87"/>
          <p:cNvSpPr txBox="1"/>
          <p:nvPr/>
        </p:nvSpPr>
        <p:spPr>
          <a:xfrm>
            <a:off x="9582912" y="3785615"/>
            <a:ext cx="1773936" cy="237744"/>
          </a:xfrm>
          <a:prstGeom prst="rect">
            <a:avLst/>
          </a:prstGeom>
          <a:noFill/>
        </p:spPr>
        <p:txBody>
          <a:bodyPr wrap="square" anchor="t" lIns="0" rIns="0" tIns="0" bIns="0">
            <a:spAutoFit/>
          </a:bodyPr>
          <a:lstStyle/>
          <a:p>
            <a:pPr algn="l">
              <a:lnSpc>
                <a:spcPct val="104000"/>
              </a:lnSpc>
              <a:spcBef>
                <a:spcPts val="0"/>
              </a:spcBef>
              <a:spcAft>
                <a:spcPts val="0"/>
              </a:spcAft>
            </a:pPr>
            <a:r>
              <a:rPr sz="1300" b="1">
                <a:solidFill>
                  <a:srgbClr val="16202E"/>
                </a:solidFill>
                <a:latin typeface="Calibri"/>
              </a:rPr>
              <a:t>About 2 months</a:t>
            </a:r>
          </a:p>
        </p:txBody>
      </p:sp>
      <p:sp>
        <p:nvSpPr>
          <p:cNvPr id="89" name="TextBox 88"/>
          <p:cNvSpPr txBox="1"/>
          <p:nvPr/>
        </p:nvSpPr>
        <p:spPr>
          <a:xfrm>
            <a:off x="9582912" y="4005072"/>
            <a:ext cx="1773936" cy="164592"/>
          </a:xfrm>
          <a:prstGeom prst="rect">
            <a:avLst/>
          </a:prstGeom>
          <a:noFill/>
        </p:spPr>
        <p:txBody>
          <a:bodyPr wrap="square" anchor="t" lIns="0" rIns="0" tIns="0" bIns="0">
            <a:spAutoFit/>
          </a:bodyPr>
          <a:lstStyle/>
          <a:p>
            <a:pPr algn="l">
              <a:lnSpc>
                <a:spcPct val="104000"/>
              </a:lnSpc>
              <a:spcBef>
                <a:spcPts val="0"/>
              </a:spcBef>
              <a:spcAft>
                <a:spcPts val="0"/>
              </a:spcAft>
            </a:pPr>
            <a:r>
              <a:rPr sz="700" b="0">
                <a:solidFill>
                  <a:srgbClr val="9BA1A7"/>
                </a:solidFill>
                <a:latin typeface="Calibri"/>
              </a:rPr>
              <a:t>The two are not added: one is time, one is cash.</a:t>
            </a:r>
          </a:p>
        </p:txBody>
      </p:sp>
      <p:sp>
        <p:nvSpPr>
          <p:cNvPr id="90" name="Rounded Rectangle 89"/>
          <p:cNvSpPr/>
          <p:nvPr/>
        </p:nvSpPr>
        <p:spPr>
          <a:xfrm>
            <a:off x="685800" y="4334256"/>
            <a:ext cx="10820095" cy="292608"/>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85800" y="4334256"/>
            <a:ext cx="10820095" cy="292608"/>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NON-FINANCIAL BENEFIT</a:t>
            </a:r>
          </a:p>
        </p:txBody>
      </p:sp>
      <p:sp>
        <p:nvSpPr>
          <p:cNvPr id="92" name="Rounded Rectangle 91"/>
          <p:cNvSpPr/>
          <p:nvPr/>
        </p:nvSpPr>
        <p:spPr>
          <a:xfrm>
            <a:off x="685800" y="4736592"/>
            <a:ext cx="2061606" cy="148132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85800" y="473659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850392" y="4919472"/>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50392" y="4919472"/>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1</a:t>
            </a:r>
          </a:p>
        </p:txBody>
      </p:sp>
      <p:sp>
        <p:nvSpPr>
          <p:cNvPr id="96" name="TextBox 95"/>
          <p:cNvSpPr txBox="1"/>
          <p:nvPr/>
        </p:nvSpPr>
        <p:spPr>
          <a:xfrm>
            <a:off x="850392" y="5230368"/>
            <a:ext cx="1732422" cy="420624"/>
          </a:xfrm>
          <a:prstGeom prst="rect">
            <a:avLst/>
          </a:prstGeom>
          <a:noFill/>
        </p:spPr>
        <p:txBody>
          <a:bodyPr wrap="square" anchor="t" lIns="0" rIns="0" tIns="0" bIns="0">
            <a:spAutoFit/>
          </a:bodyPr>
          <a:lstStyle/>
          <a:p>
            <a:pPr algn="l">
              <a:lnSpc>
                <a:spcPct val="106000"/>
              </a:lnSpc>
              <a:spcBef>
                <a:spcPts val="0"/>
              </a:spcBef>
              <a:spcAft>
                <a:spcPts val="0"/>
              </a:spcAft>
            </a:pPr>
            <a:r>
              <a:rPr sz="1050" b="1">
                <a:solidFill>
                  <a:srgbClr val="16202E"/>
                </a:solidFill>
                <a:latin typeface="Calibri"/>
              </a:rPr>
              <a:t>Decisions in a session</a:t>
            </a:r>
          </a:p>
        </p:txBody>
      </p:sp>
      <p:sp>
        <p:nvSpPr>
          <p:cNvPr id="97" name="TextBox 96"/>
          <p:cNvSpPr txBox="1"/>
          <p:nvPr/>
        </p:nvSpPr>
        <p:spPr>
          <a:xfrm>
            <a:off x="850392" y="5687568"/>
            <a:ext cx="1732422" cy="402336"/>
          </a:xfrm>
          <a:prstGeom prst="rect">
            <a:avLst/>
          </a:prstGeom>
          <a:noFill/>
        </p:spPr>
        <p:txBody>
          <a:bodyPr wrap="square" anchor="t" lIns="0" rIns="0" tIns="0" bIns="0">
            <a:spAutoFit/>
          </a:bodyPr>
          <a:lstStyle/>
          <a:p>
            <a:pPr algn="l">
              <a:lnSpc>
                <a:spcPct val="106000"/>
              </a:lnSpc>
              <a:spcBef>
                <a:spcPts val="0"/>
              </a:spcBef>
              <a:spcAft>
                <a:spcPts val="0"/>
              </a:spcAft>
            </a:pPr>
            <a:r>
              <a:rPr sz="900" b="0">
                <a:solidFill>
                  <a:srgbClr val="6A7177"/>
                </a:solidFill>
                <a:latin typeface="Calibri"/>
              </a:rPr>
              <a:t>The loop closes in minutes, not across weeks</a:t>
            </a:r>
          </a:p>
        </p:txBody>
      </p:sp>
      <p:sp>
        <p:nvSpPr>
          <p:cNvPr id="98" name="Rounded Rectangle 97"/>
          <p:cNvSpPr/>
          <p:nvPr/>
        </p:nvSpPr>
        <p:spPr>
          <a:xfrm>
            <a:off x="2875422" y="4736592"/>
            <a:ext cx="2061606" cy="148132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875422" y="473659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3040014" y="4919472"/>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040014" y="4919472"/>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2</a:t>
            </a:r>
          </a:p>
        </p:txBody>
      </p:sp>
      <p:sp>
        <p:nvSpPr>
          <p:cNvPr id="102" name="TextBox 101"/>
          <p:cNvSpPr txBox="1"/>
          <p:nvPr/>
        </p:nvSpPr>
        <p:spPr>
          <a:xfrm>
            <a:off x="3040014" y="5230368"/>
            <a:ext cx="1732422" cy="420624"/>
          </a:xfrm>
          <a:prstGeom prst="rect">
            <a:avLst/>
          </a:prstGeom>
          <a:noFill/>
        </p:spPr>
        <p:txBody>
          <a:bodyPr wrap="square" anchor="t" lIns="0" rIns="0" tIns="0" bIns="0">
            <a:spAutoFit/>
          </a:bodyPr>
          <a:lstStyle/>
          <a:p>
            <a:pPr algn="l">
              <a:lnSpc>
                <a:spcPct val="106000"/>
              </a:lnSpc>
              <a:spcBef>
                <a:spcPts val="0"/>
              </a:spcBef>
              <a:spcAft>
                <a:spcPts val="0"/>
              </a:spcAft>
            </a:pPr>
            <a:r>
              <a:rPr sz="1050" b="1">
                <a:solidFill>
                  <a:srgbClr val="16202E"/>
                </a:solidFill>
                <a:latin typeface="Calibri"/>
              </a:rPr>
              <a:t>One version of the number</a:t>
            </a:r>
          </a:p>
        </p:txBody>
      </p:sp>
      <p:sp>
        <p:nvSpPr>
          <p:cNvPr id="103" name="TextBox 102"/>
          <p:cNvSpPr txBox="1"/>
          <p:nvPr/>
        </p:nvSpPr>
        <p:spPr>
          <a:xfrm>
            <a:off x="3040014" y="5687568"/>
            <a:ext cx="1732422" cy="402336"/>
          </a:xfrm>
          <a:prstGeom prst="rect">
            <a:avLst/>
          </a:prstGeom>
          <a:noFill/>
        </p:spPr>
        <p:txBody>
          <a:bodyPr wrap="square" anchor="t" lIns="0" rIns="0" tIns="0" bIns="0">
            <a:spAutoFit/>
          </a:bodyPr>
          <a:lstStyle/>
          <a:p>
            <a:pPr algn="l">
              <a:lnSpc>
                <a:spcPct val="106000"/>
              </a:lnSpc>
              <a:spcBef>
                <a:spcPts val="0"/>
              </a:spcBef>
              <a:spcAft>
                <a:spcPts val="0"/>
              </a:spcAft>
            </a:pPr>
            <a:r>
              <a:rPr sz="900" b="0">
                <a:solidFill>
                  <a:srgbClr val="6A7177"/>
                </a:solidFill>
                <a:latin typeface="Calibri"/>
              </a:rPr>
              <a:t>Everyone argues from the same computed figure</a:t>
            </a:r>
          </a:p>
        </p:txBody>
      </p:sp>
      <p:sp>
        <p:nvSpPr>
          <p:cNvPr id="104" name="Rounded Rectangle 103"/>
          <p:cNvSpPr/>
          <p:nvPr/>
        </p:nvSpPr>
        <p:spPr>
          <a:xfrm>
            <a:off x="5065044" y="4736592"/>
            <a:ext cx="2061606" cy="148132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5065044" y="473659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5229636" y="4919472"/>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229636" y="4919472"/>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3</a:t>
            </a:r>
          </a:p>
        </p:txBody>
      </p:sp>
      <p:sp>
        <p:nvSpPr>
          <p:cNvPr id="108" name="TextBox 107"/>
          <p:cNvSpPr txBox="1"/>
          <p:nvPr/>
        </p:nvSpPr>
        <p:spPr>
          <a:xfrm>
            <a:off x="5229636" y="5230368"/>
            <a:ext cx="1732422" cy="420624"/>
          </a:xfrm>
          <a:prstGeom prst="rect">
            <a:avLst/>
          </a:prstGeom>
          <a:noFill/>
        </p:spPr>
        <p:txBody>
          <a:bodyPr wrap="square" anchor="t" lIns="0" rIns="0" tIns="0" bIns="0">
            <a:spAutoFit/>
          </a:bodyPr>
          <a:lstStyle/>
          <a:p>
            <a:pPr algn="l">
              <a:lnSpc>
                <a:spcPct val="106000"/>
              </a:lnSpc>
              <a:spcBef>
                <a:spcPts val="0"/>
              </a:spcBef>
              <a:spcAft>
                <a:spcPts val="0"/>
              </a:spcAft>
            </a:pPr>
            <a:r>
              <a:rPr sz="1050" b="1">
                <a:solidFill>
                  <a:srgbClr val="16202E"/>
                </a:solidFill>
                <a:latin typeface="Calibri"/>
              </a:rPr>
              <a:t>Analysts on the hard problems</a:t>
            </a:r>
          </a:p>
        </p:txBody>
      </p:sp>
      <p:sp>
        <p:nvSpPr>
          <p:cNvPr id="109" name="TextBox 108"/>
          <p:cNvSpPr txBox="1"/>
          <p:nvPr/>
        </p:nvSpPr>
        <p:spPr>
          <a:xfrm>
            <a:off x="5229636" y="5687568"/>
            <a:ext cx="1732422" cy="402336"/>
          </a:xfrm>
          <a:prstGeom prst="rect">
            <a:avLst/>
          </a:prstGeom>
          <a:noFill/>
        </p:spPr>
        <p:txBody>
          <a:bodyPr wrap="square" anchor="t" lIns="0" rIns="0" tIns="0" bIns="0">
            <a:spAutoFit/>
          </a:bodyPr>
          <a:lstStyle/>
          <a:p>
            <a:pPr algn="l">
              <a:lnSpc>
                <a:spcPct val="106000"/>
              </a:lnSpc>
              <a:spcBef>
                <a:spcPts val="0"/>
              </a:spcBef>
              <a:spcAft>
                <a:spcPts val="0"/>
              </a:spcAft>
            </a:pPr>
            <a:r>
              <a:rPr sz="900" b="0">
                <a:solidFill>
                  <a:srgbClr val="6A7177"/>
                </a:solidFill>
                <a:latin typeface="Calibri"/>
              </a:rPr>
              <a:t>Routine extracts stop consuming the team</a:t>
            </a:r>
          </a:p>
        </p:txBody>
      </p:sp>
      <p:sp>
        <p:nvSpPr>
          <p:cNvPr id="110" name="Rounded Rectangle 109"/>
          <p:cNvSpPr/>
          <p:nvPr/>
        </p:nvSpPr>
        <p:spPr>
          <a:xfrm>
            <a:off x="7254666" y="4736592"/>
            <a:ext cx="2061606" cy="148132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254666" y="473659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7419258" y="4919472"/>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419258" y="4919472"/>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4</a:t>
            </a:r>
          </a:p>
        </p:txBody>
      </p:sp>
      <p:sp>
        <p:nvSpPr>
          <p:cNvPr id="114" name="TextBox 113"/>
          <p:cNvSpPr txBox="1"/>
          <p:nvPr/>
        </p:nvSpPr>
        <p:spPr>
          <a:xfrm>
            <a:off x="7419258" y="5230368"/>
            <a:ext cx="1732422" cy="420624"/>
          </a:xfrm>
          <a:prstGeom prst="rect">
            <a:avLst/>
          </a:prstGeom>
          <a:noFill/>
        </p:spPr>
        <p:txBody>
          <a:bodyPr wrap="square" anchor="t" lIns="0" rIns="0" tIns="0" bIns="0">
            <a:spAutoFit/>
          </a:bodyPr>
          <a:lstStyle/>
          <a:p>
            <a:pPr algn="l">
              <a:lnSpc>
                <a:spcPct val="106000"/>
              </a:lnSpc>
              <a:spcBef>
                <a:spcPts val="0"/>
              </a:spcBef>
              <a:spcAft>
                <a:spcPts val="0"/>
              </a:spcAft>
            </a:pPr>
            <a:r>
              <a:rPr sz="1050" b="1">
                <a:solidFill>
                  <a:srgbClr val="16202E"/>
                </a:solidFill>
                <a:latin typeface="Calibri"/>
              </a:rPr>
              <a:t>Evidence the Board can test</a:t>
            </a:r>
          </a:p>
        </p:txBody>
      </p:sp>
      <p:sp>
        <p:nvSpPr>
          <p:cNvPr id="115" name="TextBox 114"/>
          <p:cNvSpPr txBox="1"/>
          <p:nvPr/>
        </p:nvSpPr>
        <p:spPr>
          <a:xfrm>
            <a:off x="7419258" y="5687568"/>
            <a:ext cx="1732422" cy="402336"/>
          </a:xfrm>
          <a:prstGeom prst="rect">
            <a:avLst/>
          </a:prstGeom>
          <a:noFill/>
        </p:spPr>
        <p:txBody>
          <a:bodyPr wrap="square" anchor="t" lIns="0" rIns="0" tIns="0" bIns="0">
            <a:spAutoFit/>
          </a:bodyPr>
          <a:lstStyle/>
          <a:p>
            <a:pPr algn="l">
              <a:lnSpc>
                <a:spcPct val="106000"/>
              </a:lnSpc>
              <a:spcBef>
                <a:spcPts val="0"/>
              </a:spcBef>
              <a:spcAft>
                <a:spcPts val="0"/>
              </a:spcAft>
            </a:pPr>
            <a:r>
              <a:rPr sz="900" b="0">
                <a:solidFill>
                  <a:srgbClr val="6A7177"/>
                </a:solidFill>
                <a:latin typeface="Calibri"/>
              </a:rPr>
              <a:t>Every figure carries the query behind it</a:t>
            </a:r>
          </a:p>
        </p:txBody>
      </p:sp>
      <p:sp>
        <p:nvSpPr>
          <p:cNvPr id="116" name="Rounded Rectangle 115"/>
          <p:cNvSpPr/>
          <p:nvPr/>
        </p:nvSpPr>
        <p:spPr>
          <a:xfrm>
            <a:off x="9444288" y="4736592"/>
            <a:ext cx="2061606" cy="1481328"/>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444288" y="4736592"/>
            <a:ext cx="2061606" cy="50292"/>
          </a:xfrm>
          <a:prstGeom prst="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9608880" y="4919472"/>
            <a:ext cx="237744" cy="237744"/>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608880" y="4919472"/>
            <a:ext cx="237744" cy="237744"/>
          </a:xfrm>
          <a:prstGeom prst="rect">
            <a:avLst/>
          </a:prstGeom>
          <a:noFill/>
        </p:spPr>
        <p:txBody>
          <a:bodyPr wrap="square" anchor="ctr" lIns="0" rIns="0" tIns="0" bIns="0">
            <a:spAutoFit/>
          </a:bodyPr>
          <a:lstStyle/>
          <a:p>
            <a:pPr algn="ctr">
              <a:lnSpc>
                <a:spcPct val="104000"/>
              </a:lnSpc>
              <a:spcBef>
                <a:spcPts val="0"/>
              </a:spcBef>
              <a:spcAft>
                <a:spcPts val="0"/>
              </a:spcAft>
            </a:pPr>
            <a:r>
              <a:rPr sz="900" b="1">
                <a:solidFill>
                  <a:srgbClr val="FFFFFF"/>
                </a:solidFill>
                <a:latin typeface="Calibri"/>
              </a:rPr>
              <a:t>5</a:t>
            </a:r>
          </a:p>
        </p:txBody>
      </p:sp>
      <p:sp>
        <p:nvSpPr>
          <p:cNvPr id="120" name="TextBox 119"/>
          <p:cNvSpPr txBox="1"/>
          <p:nvPr/>
        </p:nvSpPr>
        <p:spPr>
          <a:xfrm>
            <a:off x="9608880" y="5230368"/>
            <a:ext cx="1732422" cy="420624"/>
          </a:xfrm>
          <a:prstGeom prst="rect">
            <a:avLst/>
          </a:prstGeom>
          <a:noFill/>
        </p:spPr>
        <p:txBody>
          <a:bodyPr wrap="square" anchor="t" lIns="0" rIns="0" tIns="0" bIns="0">
            <a:spAutoFit/>
          </a:bodyPr>
          <a:lstStyle/>
          <a:p>
            <a:pPr algn="l">
              <a:lnSpc>
                <a:spcPct val="106000"/>
              </a:lnSpc>
              <a:spcBef>
                <a:spcPts val="0"/>
              </a:spcBef>
              <a:spcAft>
                <a:spcPts val="0"/>
              </a:spcAft>
            </a:pPr>
            <a:r>
              <a:rPr sz="1050" b="1">
                <a:solidFill>
                  <a:srgbClr val="16202E"/>
                </a:solidFill>
                <a:latin typeface="Calibri"/>
              </a:rPr>
              <a:t>Knowledge that compounds</a:t>
            </a:r>
          </a:p>
        </p:txBody>
      </p:sp>
      <p:sp>
        <p:nvSpPr>
          <p:cNvPr id="121" name="TextBox 120"/>
          <p:cNvSpPr txBox="1"/>
          <p:nvPr/>
        </p:nvSpPr>
        <p:spPr>
          <a:xfrm>
            <a:off x="9608880" y="5687568"/>
            <a:ext cx="1732422" cy="402336"/>
          </a:xfrm>
          <a:prstGeom prst="rect">
            <a:avLst/>
          </a:prstGeom>
          <a:noFill/>
        </p:spPr>
        <p:txBody>
          <a:bodyPr wrap="square" anchor="t" lIns="0" rIns="0" tIns="0" bIns="0">
            <a:spAutoFit/>
          </a:bodyPr>
          <a:lstStyle/>
          <a:p>
            <a:pPr algn="l">
              <a:lnSpc>
                <a:spcPct val="106000"/>
              </a:lnSpc>
              <a:spcBef>
                <a:spcPts val="0"/>
              </a:spcBef>
              <a:spcAft>
                <a:spcPts val="0"/>
              </a:spcAft>
            </a:pPr>
            <a:r>
              <a:rPr sz="900" b="0">
                <a:solidFill>
                  <a:srgbClr val="6A7177"/>
                </a:solidFill>
                <a:latin typeface="Calibri"/>
              </a:rPr>
              <a:t>Each answer stays askable, instead of ageing in a thread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PATH TO VALUE CAPTURE</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The value turns on four enablers and three risks, and each risk has a control that can be put in place before launch</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06</a:t>
            </a:r>
          </a:p>
        </p:txBody>
      </p:sp>
      <p:sp>
        <p:nvSpPr>
          <p:cNvPr id="10" name="Rounded Rectangle 9"/>
          <p:cNvSpPr/>
          <p:nvPr/>
        </p:nvSpPr>
        <p:spPr>
          <a:xfrm>
            <a:off x="685800" y="1737360"/>
            <a:ext cx="10820095" cy="29260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737360"/>
            <a:ext cx="10820095" cy="292608"/>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ENABLERS</a:t>
            </a:r>
          </a:p>
        </p:txBody>
      </p:sp>
      <p:sp>
        <p:nvSpPr>
          <p:cNvPr id="12" name="Rounded Rectangle 11"/>
          <p:cNvSpPr/>
          <p:nvPr/>
        </p:nvSpPr>
        <p:spPr>
          <a:xfrm>
            <a:off x="685800" y="2139696"/>
            <a:ext cx="2609011" cy="107899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139696"/>
            <a:ext cx="2609011"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249424"/>
            <a:ext cx="2243251"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Data foundation</a:t>
            </a:r>
          </a:p>
        </p:txBody>
      </p:sp>
      <p:sp>
        <p:nvSpPr>
          <p:cNvPr id="15" name="TextBox 14"/>
          <p:cNvSpPr txBox="1"/>
          <p:nvPr/>
        </p:nvSpPr>
        <p:spPr>
          <a:xfrm>
            <a:off x="868680" y="2505456"/>
            <a:ext cx="2243251" cy="621792"/>
          </a:xfrm>
          <a:prstGeom prst="rect">
            <a:avLst/>
          </a:prstGeom>
          <a:noFill/>
        </p:spPr>
        <p:txBody>
          <a:bodyPr wrap="square" anchor="t" lIns="0" rIns="0" tIns="0" bIns="0">
            <a:spAutoFit/>
          </a:bodyPr>
          <a:lstStyle/>
          <a:p>
            <a:pPr algn="l">
              <a:lnSpc>
                <a:spcPct val="108000"/>
              </a:lnSpc>
              <a:spcBef>
                <a:spcPts val="0"/>
              </a:spcBef>
              <a:spcAft>
                <a:spcPts val="0"/>
              </a:spcAft>
            </a:pPr>
            <a:r>
              <a:rPr sz="900" b="0">
                <a:solidFill>
                  <a:srgbClr val="6A7177"/>
                </a:solidFill>
                <a:latin typeface="Calibri"/>
              </a:rPr>
              <a:t>The warehouse tables joined and governed, with lineage on every load</a:t>
            </a:r>
          </a:p>
        </p:txBody>
      </p:sp>
      <p:sp>
        <p:nvSpPr>
          <p:cNvPr id="16" name="Rounded Rectangle 15"/>
          <p:cNvSpPr/>
          <p:nvPr/>
        </p:nvSpPr>
        <p:spPr>
          <a:xfrm>
            <a:off x="3422827" y="2139696"/>
            <a:ext cx="2609011" cy="107899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2827" y="2139696"/>
            <a:ext cx="2609011"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5707" y="2249424"/>
            <a:ext cx="2243251"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Upskilling the business team</a:t>
            </a:r>
          </a:p>
        </p:txBody>
      </p:sp>
      <p:sp>
        <p:nvSpPr>
          <p:cNvPr id="19" name="TextBox 18"/>
          <p:cNvSpPr txBox="1"/>
          <p:nvPr/>
        </p:nvSpPr>
        <p:spPr>
          <a:xfrm>
            <a:off x="3605707" y="2505456"/>
            <a:ext cx="2243251" cy="621792"/>
          </a:xfrm>
          <a:prstGeom prst="rect">
            <a:avLst/>
          </a:prstGeom>
          <a:noFill/>
        </p:spPr>
        <p:txBody>
          <a:bodyPr wrap="square" anchor="t" lIns="0" rIns="0" tIns="0" bIns="0">
            <a:spAutoFit/>
          </a:bodyPr>
          <a:lstStyle/>
          <a:p>
            <a:pPr algn="l">
              <a:lnSpc>
                <a:spcPct val="108000"/>
              </a:lnSpc>
              <a:spcBef>
                <a:spcPts val="0"/>
              </a:spcBef>
              <a:spcAft>
                <a:spcPts val="0"/>
              </a:spcAft>
            </a:pPr>
            <a:r>
              <a:rPr sz="900" b="0">
                <a:solidFill>
                  <a:srgbClr val="6A7177"/>
                </a:solidFill>
                <a:latin typeface="Calibri"/>
              </a:rPr>
              <a:t>Asking well is a skill; the team learns what a good question looks like</a:t>
            </a:r>
          </a:p>
        </p:txBody>
      </p:sp>
      <p:sp>
        <p:nvSpPr>
          <p:cNvPr id="20" name="Rounded Rectangle 19"/>
          <p:cNvSpPr/>
          <p:nvPr/>
        </p:nvSpPr>
        <p:spPr>
          <a:xfrm>
            <a:off x="6159855" y="2139696"/>
            <a:ext cx="2609011" cy="107899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9855" y="2139696"/>
            <a:ext cx="2609011"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249424"/>
            <a:ext cx="2243251"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Workflow change</a:t>
            </a:r>
          </a:p>
        </p:txBody>
      </p:sp>
      <p:sp>
        <p:nvSpPr>
          <p:cNvPr id="23" name="TextBox 22"/>
          <p:cNvSpPr txBox="1"/>
          <p:nvPr/>
        </p:nvSpPr>
        <p:spPr>
          <a:xfrm>
            <a:off x="6342735" y="2505456"/>
            <a:ext cx="2243251" cy="621792"/>
          </a:xfrm>
          <a:prstGeom prst="rect">
            <a:avLst/>
          </a:prstGeom>
          <a:noFill/>
        </p:spPr>
        <p:txBody>
          <a:bodyPr wrap="square" anchor="t" lIns="0" rIns="0" tIns="0" bIns="0">
            <a:spAutoFit/>
          </a:bodyPr>
          <a:lstStyle/>
          <a:p>
            <a:pPr algn="l">
              <a:lnSpc>
                <a:spcPct val="108000"/>
              </a:lnSpc>
              <a:spcBef>
                <a:spcPts val="0"/>
              </a:spcBef>
              <a:spcAft>
                <a:spcPts val="0"/>
              </a:spcAft>
            </a:pPr>
            <a:r>
              <a:rPr sz="900" b="0">
                <a:solidFill>
                  <a:srgbClr val="6A7177"/>
                </a:solidFill>
                <a:latin typeface="Calibri"/>
              </a:rPr>
              <a:t>The campaign process starts in Nexus rather than in a request form</a:t>
            </a:r>
          </a:p>
        </p:txBody>
      </p:sp>
      <p:sp>
        <p:nvSpPr>
          <p:cNvPr id="24" name="Rounded Rectangle 23"/>
          <p:cNvSpPr/>
          <p:nvPr/>
        </p:nvSpPr>
        <p:spPr>
          <a:xfrm>
            <a:off x="8896883" y="2139696"/>
            <a:ext cx="2609011" cy="1078992"/>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96883" y="2139696"/>
            <a:ext cx="2609011" cy="5029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79763" y="2249424"/>
            <a:ext cx="2243251"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Adoption and measurement</a:t>
            </a:r>
          </a:p>
        </p:txBody>
      </p:sp>
      <p:sp>
        <p:nvSpPr>
          <p:cNvPr id="27" name="TextBox 26"/>
          <p:cNvSpPr txBox="1"/>
          <p:nvPr/>
        </p:nvSpPr>
        <p:spPr>
          <a:xfrm>
            <a:off x="9079763" y="2505456"/>
            <a:ext cx="2243251" cy="621792"/>
          </a:xfrm>
          <a:prstGeom prst="rect">
            <a:avLst/>
          </a:prstGeom>
          <a:noFill/>
        </p:spPr>
        <p:txBody>
          <a:bodyPr wrap="square" anchor="t" lIns="0" rIns="0" tIns="0" bIns="0">
            <a:spAutoFit/>
          </a:bodyPr>
          <a:lstStyle/>
          <a:p>
            <a:pPr algn="l">
              <a:lnSpc>
                <a:spcPct val="108000"/>
              </a:lnSpc>
              <a:spcBef>
                <a:spcPts val="0"/>
              </a:spcBef>
              <a:spcAft>
                <a:spcPts val="0"/>
              </a:spcAft>
            </a:pPr>
            <a:r>
              <a:rPr sz="900" b="0">
                <a:solidFill>
                  <a:srgbClr val="6A7177"/>
                </a:solidFill>
                <a:latin typeface="Calibri"/>
              </a:rPr>
              <a:t>Track questions asked, decisions made and campaigns launched</a:t>
            </a:r>
          </a:p>
        </p:txBody>
      </p:sp>
      <p:sp>
        <p:nvSpPr>
          <p:cNvPr id="28" name="Rounded Rectangle 27"/>
          <p:cNvSpPr/>
          <p:nvPr/>
        </p:nvSpPr>
        <p:spPr>
          <a:xfrm>
            <a:off x="685800" y="3346704"/>
            <a:ext cx="10820095" cy="292608"/>
          </a:xfrm>
          <a:prstGeom prst="round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346704"/>
            <a:ext cx="10820095" cy="292608"/>
          </a:xfrm>
          <a:prstGeom prst="rect">
            <a:avLst/>
          </a:prstGeom>
          <a:noFill/>
        </p:spPr>
        <p:txBody>
          <a:bodyPr wrap="square" anchor="ctr" lIns="0" rIns="0" tIns="0" bIns="0">
            <a:spAutoFit/>
          </a:bodyPr>
          <a:lstStyle/>
          <a:p>
            <a:pPr algn="ctr">
              <a:lnSpc>
                <a:spcPct val="104000"/>
              </a:lnSpc>
              <a:spcBef>
                <a:spcPts val="0"/>
              </a:spcBef>
              <a:spcAft>
                <a:spcPts val="0"/>
              </a:spcAft>
            </a:pPr>
            <a:r>
              <a:rPr sz="950" b="1">
                <a:solidFill>
                  <a:srgbClr val="FFFFFF"/>
                </a:solidFill>
                <a:latin typeface="Calibri"/>
              </a:rPr>
              <a:t>CHALLENGES · DATA, ACCESS AND RISK</a:t>
            </a:r>
          </a:p>
        </p:txBody>
      </p:sp>
      <p:sp>
        <p:nvSpPr>
          <p:cNvPr id="30" name="Rounded Rectangle 29"/>
          <p:cNvSpPr/>
          <p:nvPr/>
        </p:nvSpPr>
        <p:spPr>
          <a:xfrm>
            <a:off x="685800" y="3749039"/>
            <a:ext cx="2641015" cy="1828800"/>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858768"/>
            <a:ext cx="2275255"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Data readiness</a:t>
            </a:r>
          </a:p>
        </p:txBody>
      </p:sp>
      <p:sp>
        <p:nvSpPr>
          <p:cNvPr id="32" name="TextBox 31"/>
          <p:cNvSpPr txBox="1"/>
          <p:nvPr/>
        </p:nvSpPr>
        <p:spPr>
          <a:xfrm>
            <a:off x="868680" y="413308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33" name="TextBox 32"/>
          <p:cNvSpPr txBox="1"/>
          <p:nvPr/>
        </p:nvSpPr>
        <p:spPr>
          <a:xfrm>
            <a:off x="1014983" y="4133087"/>
            <a:ext cx="2128951"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Seven tables must agree before any answer is trusted</a:t>
            </a:r>
          </a:p>
        </p:txBody>
      </p:sp>
      <p:sp>
        <p:nvSpPr>
          <p:cNvPr id="34" name="TextBox 33"/>
          <p:cNvSpPr txBox="1"/>
          <p:nvPr/>
        </p:nvSpPr>
        <p:spPr>
          <a:xfrm>
            <a:off x="868680" y="440740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35" name="TextBox 34"/>
          <p:cNvSpPr txBox="1"/>
          <p:nvPr/>
        </p:nvSpPr>
        <p:spPr>
          <a:xfrm>
            <a:off x="1014983" y="4407407"/>
            <a:ext cx="2128951"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Lineage hashed on every load, so a figure can be traced to a version</a:t>
            </a:r>
          </a:p>
        </p:txBody>
      </p:sp>
      <p:sp>
        <p:nvSpPr>
          <p:cNvPr id="36" name="Rounded Rectangle 35"/>
          <p:cNvSpPr/>
          <p:nvPr/>
        </p:nvSpPr>
        <p:spPr>
          <a:xfrm>
            <a:off x="3454831" y="3749039"/>
            <a:ext cx="2641015" cy="1828800"/>
          </a:xfrm>
          <a:prstGeom prst="round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37711" y="3858768"/>
            <a:ext cx="2275255"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Who may ask what</a:t>
            </a:r>
          </a:p>
        </p:txBody>
      </p:sp>
      <p:sp>
        <p:nvSpPr>
          <p:cNvPr id="38" name="TextBox 37"/>
          <p:cNvSpPr txBox="1"/>
          <p:nvPr/>
        </p:nvSpPr>
        <p:spPr>
          <a:xfrm>
            <a:off x="3637711" y="413308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39" name="TextBox 38"/>
          <p:cNvSpPr txBox="1"/>
          <p:nvPr/>
        </p:nvSpPr>
        <p:spPr>
          <a:xfrm>
            <a:off x="3784015" y="4133087"/>
            <a:ext cx="2128951"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Not every team should see every segment or every customer list</a:t>
            </a:r>
          </a:p>
        </p:txBody>
      </p:sp>
      <p:sp>
        <p:nvSpPr>
          <p:cNvPr id="40" name="TextBox 39"/>
          <p:cNvSpPr txBox="1"/>
          <p:nvPr/>
        </p:nvSpPr>
        <p:spPr>
          <a:xfrm>
            <a:off x="3637711" y="440740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41" name="TextBox 40"/>
          <p:cNvSpPr txBox="1"/>
          <p:nvPr/>
        </p:nvSpPr>
        <p:spPr>
          <a:xfrm>
            <a:off x="3784015" y="4407407"/>
            <a:ext cx="2128951"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Access follows role; the target list applies consent and DNC before export</a:t>
            </a:r>
          </a:p>
        </p:txBody>
      </p:sp>
      <p:sp>
        <p:nvSpPr>
          <p:cNvPr id="42" name="Rounded Rectangle 41"/>
          <p:cNvSpPr/>
          <p:nvPr/>
        </p:nvSpPr>
        <p:spPr>
          <a:xfrm>
            <a:off x="6223863" y="3749039"/>
            <a:ext cx="5410047" cy="1828800"/>
          </a:xfrm>
          <a:prstGeom prst="roundRect">
            <a:avLst/>
          </a:prstGeom>
          <a:solidFill>
            <a:srgbClr val="FCECED"/>
          </a:solidFill>
          <a:ln w="12700">
            <a:solidFill>
              <a:srgbClr val="D42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6743" y="3858768"/>
            <a:ext cx="5044287"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16202E"/>
                </a:solidFill>
                <a:latin typeface="Calibri"/>
              </a:rPr>
              <a:t>A confident wrong answer</a:t>
            </a:r>
          </a:p>
        </p:txBody>
      </p:sp>
      <p:sp>
        <p:nvSpPr>
          <p:cNvPr id="44" name="TextBox 43"/>
          <p:cNvSpPr txBox="1"/>
          <p:nvPr/>
        </p:nvSpPr>
        <p:spPr>
          <a:xfrm>
            <a:off x="6406743" y="413308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45" name="TextBox 44"/>
          <p:cNvSpPr txBox="1"/>
          <p:nvPr/>
        </p:nvSpPr>
        <p:spPr>
          <a:xfrm>
            <a:off x="6553047" y="4133087"/>
            <a:ext cx="4897983"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The real risk is not a refusal, it is a number that looks right and is not</a:t>
            </a:r>
          </a:p>
        </p:txBody>
      </p:sp>
      <p:sp>
        <p:nvSpPr>
          <p:cNvPr id="46" name="TextBox 45"/>
          <p:cNvSpPr txBox="1"/>
          <p:nvPr/>
        </p:nvSpPr>
        <p:spPr>
          <a:xfrm>
            <a:off x="6406743" y="440740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47" name="TextBox 46"/>
          <p:cNvSpPr txBox="1"/>
          <p:nvPr/>
        </p:nvSpPr>
        <p:spPr>
          <a:xfrm>
            <a:off x="6553047" y="4407407"/>
            <a:ext cx="4897983"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Coverage refuses out of scope questions before planning, at no token cost</a:t>
            </a:r>
          </a:p>
        </p:txBody>
      </p:sp>
      <p:sp>
        <p:nvSpPr>
          <p:cNvPr id="48" name="TextBox 47"/>
          <p:cNvSpPr txBox="1"/>
          <p:nvPr/>
        </p:nvSpPr>
        <p:spPr>
          <a:xfrm>
            <a:off x="6406743" y="4681727"/>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49" name="TextBox 48"/>
          <p:cNvSpPr txBox="1"/>
          <p:nvPr/>
        </p:nvSpPr>
        <p:spPr>
          <a:xfrm>
            <a:off x="6553047" y="4681727"/>
            <a:ext cx="4897983"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Impact is computed from the cohort, and the model may only phrase it</a:t>
            </a:r>
          </a:p>
        </p:txBody>
      </p:sp>
      <p:sp>
        <p:nvSpPr>
          <p:cNvPr id="50" name="TextBox 49"/>
          <p:cNvSpPr txBox="1"/>
          <p:nvPr/>
        </p:nvSpPr>
        <p:spPr>
          <a:xfrm>
            <a:off x="6406743" y="4956048"/>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51" name="TextBox 50"/>
          <p:cNvSpPr txBox="1"/>
          <p:nvPr/>
        </p:nvSpPr>
        <p:spPr>
          <a:xfrm>
            <a:off x="6553047" y="4956048"/>
            <a:ext cx="4897983"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Grounding is unit aware, so a percentage cannot vouch for a rupiah figure</a:t>
            </a:r>
          </a:p>
        </p:txBody>
      </p:sp>
      <p:sp>
        <p:nvSpPr>
          <p:cNvPr id="52" name="TextBox 51"/>
          <p:cNvSpPr txBox="1"/>
          <p:nvPr/>
        </p:nvSpPr>
        <p:spPr>
          <a:xfrm>
            <a:off x="6406743" y="5230368"/>
            <a:ext cx="128016"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D42030"/>
                </a:solidFill>
                <a:latin typeface="Calibri"/>
              </a:rPr>
              <a:t>·</a:t>
            </a:r>
          </a:p>
        </p:txBody>
      </p:sp>
      <p:sp>
        <p:nvSpPr>
          <p:cNvPr id="53" name="TextBox 52"/>
          <p:cNvSpPr txBox="1"/>
          <p:nvPr/>
        </p:nvSpPr>
        <p:spPr>
          <a:xfrm>
            <a:off x="6553047" y="5230368"/>
            <a:ext cx="4897983" cy="256032"/>
          </a:xfrm>
          <a:prstGeom prst="rect">
            <a:avLst/>
          </a:prstGeom>
          <a:noFill/>
        </p:spPr>
        <p:txBody>
          <a:bodyPr wrap="square" anchor="t" lIns="0" rIns="0" tIns="0" bIns="0">
            <a:spAutoFit/>
          </a:bodyPr>
          <a:lstStyle/>
          <a:p>
            <a:pPr algn="l">
              <a:lnSpc>
                <a:spcPct val="106000"/>
              </a:lnSpc>
              <a:spcBef>
                <a:spcPts val="0"/>
              </a:spcBef>
              <a:spcAft>
                <a:spcPts val="0"/>
              </a:spcAft>
            </a:pPr>
            <a:r>
              <a:rPr sz="850" b="0">
                <a:solidFill>
                  <a:srgbClr val="6A7177"/>
                </a:solidFill>
                <a:latin typeface="Calibri"/>
              </a:rPr>
              <a:t>Small cohorts are suppressed, and every turn is written to an audit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APPENDIX · ARCHITECTURE AND TECH STACK</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Nexus runs on the bank's own warehouse and can run on premise, with every answer traceable to the query that produced it</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07</a:t>
            </a:r>
          </a:p>
        </p:txBody>
      </p:sp>
      <p:sp>
        <p:nvSpPr>
          <p:cNvPr id="10" name="Rounded Rectangle 9"/>
          <p:cNvSpPr/>
          <p:nvPr/>
        </p:nvSpPr>
        <p:spPr>
          <a:xfrm>
            <a:off x="685800" y="1783080"/>
            <a:ext cx="10820095" cy="71323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1783080"/>
            <a:ext cx="2331720" cy="713232"/>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29384"/>
            <a:ext cx="1965960"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FFFFFF"/>
                </a:solidFill>
                <a:latin typeface="Calibri"/>
              </a:rPr>
              <a:t>EXPERIENCE</a:t>
            </a:r>
          </a:p>
        </p:txBody>
      </p:sp>
      <p:sp>
        <p:nvSpPr>
          <p:cNvPr id="13" name="TextBox 12"/>
          <p:cNvSpPr txBox="1"/>
          <p:nvPr/>
        </p:nvSpPr>
        <p:spPr>
          <a:xfrm>
            <a:off x="868680" y="2167128"/>
            <a:ext cx="1965960" cy="201168"/>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D8DCE0"/>
                </a:solidFill>
                <a:latin typeface="Calibri"/>
              </a:rPr>
              <a:t>what the business team touches</a:t>
            </a:r>
          </a:p>
        </p:txBody>
      </p:sp>
      <p:sp>
        <p:nvSpPr>
          <p:cNvPr id="14" name="Rounded Rectangle 13"/>
          <p:cNvSpPr/>
          <p:nvPr/>
        </p:nvSpPr>
        <p:spPr>
          <a:xfrm>
            <a:off x="3200400" y="1929384"/>
            <a:ext cx="2707538"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1929384"/>
            <a:ext cx="2488082"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Nexus web app</a:t>
            </a:r>
          </a:p>
        </p:txBody>
      </p:sp>
      <p:sp>
        <p:nvSpPr>
          <p:cNvPr id="16" name="Rounded Rectangle 15"/>
          <p:cNvSpPr/>
          <p:nvPr/>
        </p:nvSpPr>
        <p:spPr>
          <a:xfrm>
            <a:off x="5999378" y="1929384"/>
            <a:ext cx="2707538"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09106" y="1929384"/>
            <a:ext cx="2488082"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Insight, Dashboard, Simulator</a:t>
            </a:r>
          </a:p>
        </p:txBody>
      </p:sp>
      <p:sp>
        <p:nvSpPr>
          <p:cNvPr id="18" name="Rounded Rectangle 17"/>
          <p:cNvSpPr/>
          <p:nvPr/>
        </p:nvSpPr>
        <p:spPr>
          <a:xfrm>
            <a:off x="8798356" y="1929384"/>
            <a:ext cx="2707538"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08084" y="1929384"/>
            <a:ext cx="2488082"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Campaigns, Pitch decks</a:t>
            </a:r>
          </a:p>
        </p:txBody>
      </p:sp>
      <p:sp>
        <p:nvSpPr>
          <p:cNvPr id="20" name="Rounded Rectangle 19"/>
          <p:cNvSpPr/>
          <p:nvPr/>
        </p:nvSpPr>
        <p:spPr>
          <a:xfrm>
            <a:off x="685800" y="2587752"/>
            <a:ext cx="10820095" cy="71323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2587752"/>
            <a:ext cx="2331720" cy="713232"/>
          </a:xfrm>
          <a:prstGeom prst="roundRect">
            <a:avLst/>
          </a:prstGeom>
          <a:solidFill>
            <a:srgbClr val="3D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2734056"/>
            <a:ext cx="1965960"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FFFFFF"/>
                </a:solidFill>
                <a:latin typeface="Calibri"/>
              </a:rPr>
              <a:t>INTELLIGENCE</a:t>
            </a:r>
          </a:p>
        </p:txBody>
      </p:sp>
      <p:sp>
        <p:nvSpPr>
          <p:cNvPr id="23" name="TextBox 22"/>
          <p:cNvSpPr txBox="1"/>
          <p:nvPr/>
        </p:nvSpPr>
        <p:spPr>
          <a:xfrm>
            <a:off x="868680" y="2971800"/>
            <a:ext cx="1965960" cy="201168"/>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D8DCE0"/>
                </a:solidFill>
                <a:latin typeface="Calibri"/>
              </a:rPr>
              <a:t>what plans, checks and answers</a:t>
            </a:r>
          </a:p>
        </p:txBody>
      </p:sp>
      <p:sp>
        <p:nvSpPr>
          <p:cNvPr id="24" name="Rounded Rectangle 23"/>
          <p:cNvSpPr/>
          <p:nvPr/>
        </p:nvSpPr>
        <p:spPr>
          <a:xfrm>
            <a:off x="3200400" y="2734056"/>
            <a:ext cx="2007793"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10128" y="2734056"/>
            <a:ext cx="1788337"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Orchestrator and data agent</a:t>
            </a:r>
          </a:p>
        </p:txBody>
      </p:sp>
      <p:sp>
        <p:nvSpPr>
          <p:cNvPr id="26" name="Rounded Rectangle 25"/>
          <p:cNvSpPr/>
          <p:nvPr/>
        </p:nvSpPr>
        <p:spPr>
          <a:xfrm>
            <a:off x="5299633" y="2734056"/>
            <a:ext cx="2007793"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9361" y="2734056"/>
            <a:ext cx="1788337"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Coverage: refuses what it cannot answer</a:t>
            </a:r>
          </a:p>
        </p:txBody>
      </p:sp>
      <p:sp>
        <p:nvSpPr>
          <p:cNvPr id="28" name="Rounded Rectangle 27"/>
          <p:cNvSpPr/>
          <p:nvPr/>
        </p:nvSpPr>
        <p:spPr>
          <a:xfrm>
            <a:off x="7398867" y="2734056"/>
            <a:ext cx="2007793"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08595" y="2734056"/>
            <a:ext cx="1788337"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Advisor: impact computed, not guessed</a:t>
            </a:r>
          </a:p>
        </p:txBody>
      </p:sp>
      <p:sp>
        <p:nvSpPr>
          <p:cNvPr id="30" name="Rounded Rectangle 29"/>
          <p:cNvSpPr/>
          <p:nvPr/>
        </p:nvSpPr>
        <p:spPr>
          <a:xfrm>
            <a:off x="9498101" y="2734056"/>
            <a:ext cx="2007793"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7829" y="2734056"/>
            <a:ext cx="1788337"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Grounding and audit</a:t>
            </a:r>
          </a:p>
        </p:txBody>
      </p:sp>
      <p:sp>
        <p:nvSpPr>
          <p:cNvPr id="32" name="Rounded Rectangle 31"/>
          <p:cNvSpPr/>
          <p:nvPr/>
        </p:nvSpPr>
        <p:spPr>
          <a:xfrm>
            <a:off x="685800" y="3392424"/>
            <a:ext cx="10820095" cy="71323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 y="3392424"/>
            <a:ext cx="2331720" cy="713232"/>
          </a:xfrm>
          <a:prstGeom prst="roundRect">
            <a:avLst/>
          </a:prstGeom>
          <a:solidFill>
            <a:srgbClr val="5B8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3538728"/>
            <a:ext cx="1965960"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FFFFFF"/>
                </a:solidFill>
                <a:latin typeface="Calibri"/>
              </a:rPr>
              <a:t>DOMAIN</a:t>
            </a:r>
          </a:p>
        </p:txBody>
      </p:sp>
      <p:sp>
        <p:nvSpPr>
          <p:cNvPr id="35" name="TextBox 34"/>
          <p:cNvSpPr txBox="1"/>
          <p:nvPr/>
        </p:nvSpPr>
        <p:spPr>
          <a:xfrm>
            <a:off x="868680" y="3776472"/>
            <a:ext cx="1965960" cy="201168"/>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D8DCE0"/>
                </a:solidFill>
                <a:latin typeface="Calibri"/>
              </a:rPr>
              <a:t>what it knows about the customer</a:t>
            </a:r>
          </a:p>
        </p:txBody>
      </p:sp>
      <p:sp>
        <p:nvSpPr>
          <p:cNvPr id="36" name="Rounded Rectangle 35"/>
          <p:cNvSpPr/>
          <p:nvPr/>
        </p:nvSpPr>
        <p:spPr>
          <a:xfrm>
            <a:off x="3200400" y="3538728"/>
            <a:ext cx="4107027"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10128" y="3538728"/>
            <a:ext cx="3887571"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Seven table warehouse: customers, monthly, holdings</a:t>
            </a:r>
          </a:p>
        </p:txBody>
      </p:sp>
      <p:sp>
        <p:nvSpPr>
          <p:cNvPr id="38" name="Rounded Rectangle 37"/>
          <p:cNvSpPr/>
          <p:nvPr/>
        </p:nvSpPr>
        <p:spPr>
          <a:xfrm>
            <a:off x="7398867" y="3538728"/>
            <a:ext cx="4107027"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08595" y="3538728"/>
            <a:ext cx="3887571"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Campaigns, contacts, channel spend, branches</a:t>
            </a:r>
          </a:p>
        </p:txBody>
      </p:sp>
      <p:sp>
        <p:nvSpPr>
          <p:cNvPr id="40" name="Rounded Rectangle 39"/>
          <p:cNvSpPr/>
          <p:nvPr/>
        </p:nvSpPr>
        <p:spPr>
          <a:xfrm>
            <a:off x="685800" y="4197096"/>
            <a:ext cx="10820095" cy="713232"/>
          </a:xfrm>
          <a:prstGeom prst="roundRect">
            <a:avLst/>
          </a:prstGeom>
          <a:solidFill>
            <a:srgbClr val="F4F7FA"/>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85800" y="4197096"/>
            <a:ext cx="2331720" cy="713232"/>
          </a:xfrm>
          <a:prstGeom prst="roundRect">
            <a:avLst/>
          </a:prstGeom>
          <a:solidFill>
            <a:srgbClr val="A96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343400"/>
            <a:ext cx="1965960" cy="219456"/>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FFFFFF"/>
                </a:solidFill>
                <a:latin typeface="Calibri"/>
              </a:rPr>
              <a:t>DATA AND MODEL</a:t>
            </a:r>
          </a:p>
        </p:txBody>
      </p:sp>
      <p:sp>
        <p:nvSpPr>
          <p:cNvPr id="43" name="TextBox 42"/>
          <p:cNvSpPr txBox="1"/>
          <p:nvPr/>
        </p:nvSpPr>
        <p:spPr>
          <a:xfrm>
            <a:off x="868680" y="4581144"/>
            <a:ext cx="1965960" cy="201168"/>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D8DCE0"/>
                </a:solidFill>
                <a:latin typeface="Calibri"/>
              </a:rPr>
              <a:t>what it runs on</a:t>
            </a:r>
          </a:p>
        </p:txBody>
      </p:sp>
      <p:sp>
        <p:nvSpPr>
          <p:cNvPr id="44" name="Rounded Rectangle 43"/>
          <p:cNvSpPr/>
          <p:nvPr/>
        </p:nvSpPr>
        <p:spPr>
          <a:xfrm>
            <a:off x="3200400" y="4343400"/>
            <a:ext cx="2707538"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10128" y="4343400"/>
            <a:ext cx="2488082"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Parquet warehouse</a:t>
            </a:r>
          </a:p>
        </p:txBody>
      </p:sp>
      <p:sp>
        <p:nvSpPr>
          <p:cNvPr id="46" name="Rounded Rectangle 45"/>
          <p:cNvSpPr/>
          <p:nvPr/>
        </p:nvSpPr>
        <p:spPr>
          <a:xfrm>
            <a:off x="5999378" y="4343400"/>
            <a:ext cx="2707538"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09106" y="4343400"/>
            <a:ext cx="2488082"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DuckDB query engine</a:t>
            </a:r>
          </a:p>
        </p:txBody>
      </p:sp>
      <p:sp>
        <p:nvSpPr>
          <p:cNvPr id="48" name="Rounded Rectangle 47"/>
          <p:cNvSpPr/>
          <p:nvPr/>
        </p:nvSpPr>
        <p:spPr>
          <a:xfrm>
            <a:off x="8798356" y="4343400"/>
            <a:ext cx="2707538" cy="420624"/>
          </a:xfrm>
          <a:prstGeom prst="roundRect">
            <a:avLst/>
          </a:prstGeom>
          <a:solidFill>
            <a:srgbClr val="FFFFFF"/>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08084" y="4343400"/>
            <a:ext cx="2488082" cy="420624"/>
          </a:xfrm>
          <a:prstGeom prst="rect">
            <a:avLst/>
          </a:prstGeom>
          <a:noFill/>
        </p:spPr>
        <p:txBody>
          <a:bodyPr wrap="square" anchor="ctr" lIns="0" rIns="0" tIns="0" bIns="0">
            <a:spAutoFit/>
          </a:bodyPr>
          <a:lstStyle/>
          <a:p>
            <a:pPr algn="l">
              <a:lnSpc>
                <a:spcPct val="106000"/>
              </a:lnSpc>
              <a:spcBef>
                <a:spcPts val="0"/>
              </a:spcBef>
              <a:spcAft>
                <a:spcPts val="0"/>
              </a:spcAft>
            </a:pPr>
            <a:r>
              <a:rPr sz="900" b="0">
                <a:solidFill>
                  <a:srgbClr val="16202E"/>
                </a:solidFill>
                <a:latin typeface="Calibri"/>
              </a:rPr>
              <a:t>Qwen 3.5 35B</a:t>
            </a:r>
          </a:p>
        </p:txBody>
      </p:sp>
      <p:sp>
        <p:nvSpPr>
          <p:cNvPr id="50" name="Rectangle 49"/>
          <p:cNvSpPr/>
          <p:nvPr/>
        </p:nvSpPr>
        <p:spPr>
          <a:xfrm>
            <a:off x="685800" y="50474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 y="5138928"/>
            <a:ext cx="3657600" cy="182880"/>
          </a:xfrm>
          <a:prstGeom prst="rect">
            <a:avLst/>
          </a:prstGeom>
          <a:noFill/>
        </p:spPr>
        <p:txBody>
          <a:bodyPr wrap="square" anchor="t" lIns="0" rIns="0" tIns="0" bIns="0">
            <a:spAutoFit/>
          </a:bodyPr>
          <a:lstStyle/>
          <a:p>
            <a:pPr algn="l">
              <a:lnSpc>
                <a:spcPct val="104000"/>
              </a:lnSpc>
              <a:spcBef>
                <a:spcPts val="0"/>
              </a:spcBef>
              <a:spcAft>
                <a:spcPts val="0"/>
              </a:spcAft>
            </a:pPr>
            <a:r>
              <a:rPr sz="850" b="1">
                <a:solidFill>
                  <a:srgbClr val="2E5A88"/>
                </a:solidFill>
                <a:latin typeface="Calibri"/>
              </a:rPr>
              <a:t>TECH STACK</a:t>
            </a:r>
          </a:p>
        </p:txBody>
      </p:sp>
      <p:sp>
        <p:nvSpPr>
          <p:cNvPr id="52" name="Rectangle 51"/>
          <p:cNvSpPr/>
          <p:nvPr/>
        </p:nvSpPr>
        <p:spPr>
          <a:xfrm>
            <a:off x="685800" y="5376672"/>
            <a:ext cx="3533546" cy="402336"/>
          </a:xfrm>
          <a:prstGeom prst="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85800" y="5376672"/>
            <a:ext cx="3533546"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2104" y="5422392"/>
            <a:ext cx="3259226" cy="182880"/>
          </a:xfrm>
          <a:prstGeom prst="rect">
            <a:avLst/>
          </a:prstGeom>
          <a:noFill/>
        </p:spPr>
        <p:txBody>
          <a:bodyPr wrap="square" anchor="t" lIns="0" rIns="0" tIns="0" bIns="0">
            <a:spAutoFit/>
          </a:bodyPr>
          <a:lstStyle/>
          <a:p>
            <a:pPr algn="l">
              <a:lnSpc>
                <a:spcPct val="104000"/>
              </a:lnSpc>
              <a:spcBef>
                <a:spcPts val="0"/>
              </a:spcBef>
              <a:spcAft>
                <a:spcPts val="0"/>
              </a:spcAft>
            </a:pPr>
            <a:r>
              <a:rPr sz="1050" b="1">
                <a:solidFill>
                  <a:srgbClr val="16202E"/>
                </a:solidFill>
                <a:latin typeface="Calibri"/>
              </a:rPr>
              <a:t>Python + FastAPI</a:t>
            </a:r>
          </a:p>
        </p:txBody>
      </p:sp>
      <p:sp>
        <p:nvSpPr>
          <p:cNvPr id="55" name="TextBox 54"/>
          <p:cNvSpPr txBox="1"/>
          <p:nvPr/>
        </p:nvSpPr>
        <p:spPr>
          <a:xfrm>
            <a:off x="832104" y="5596128"/>
            <a:ext cx="3259226" cy="16459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Agents, orchestration and the API</a:t>
            </a:r>
          </a:p>
        </p:txBody>
      </p:sp>
      <p:sp>
        <p:nvSpPr>
          <p:cNvPr id="56" name="Rectangle 55"/>
          <p:cNvSpPr/>
          <p:nvPr/>
        </p:nvSpPr>
        <p:spPr>
          <a:xfrm>
            <a:off x="4329074" y="5376672"/>
            <a:ext cx="3533546" cy="402336"/>
          </a:xfrm>
          <a:prstGeom prst="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329074" y="5376672"/>
            <a:ext cx="3533546"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75378" y="5422392"/>
            <a:ext cx="3259226" cy="182880"/>
          </a:xfrm>
          <a:prstGeom prst="rect">
            <a:avLst/>
          </a:prstGeom>
          <a:noFill/>
        </p:spPr>
        <p:txBody>
          <a:bodyPr wrap="square" anchor="t" lIns="0" rIns="0" tIns="0" bIns="0">
            <a:spAutoFit/>
          </a:bodyPr>
          <a:lstStyle/>
          <a:p>
            <a:pPr algn="l">
              <a:lnSpc>
                <a:spcPct val="104000"/>
              </a:lnSpc>
              <a:spcBef>
                <a:spcPts val="0"/>
              </a:spcBef>
              <a:spcAft>
                <a:spcPts val="0"/>
              </a:spcAft>
            </a:pPr>
            <a:r>
              <a:rPr sz="1050" b="1">
                <a:solidFill>
                  <a:srgbClr val="16202E"/>
                </a:solidFill>
                <a:latin typeface="Calibri"/>
              </a:rPr>
              <a:t>React + Vite</a:t>
            </a:r>
          </a:p>
        </p:txBody>
      </p:sp>
      <p:sp>
        <p:nvSpPr>
          <p:cNvPr id="59" name="TextBox 58"/>
          <p:cNvSpPr txBox="1"/>
          <p:nvPr/>
        </p:nvSpPr>
        <p:spPr>
          <a:xfrm>
            <a:off x="4475378" y="5596128"/>
            <a:ext cx="3259226" cy="16459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Nexus web app</a:t>
            </a:r>
          </a:p>
        </p:txBody>
      </p:sp>
      <p:sp>
        <p:nvSpPr>
          <p:cNvPr id="60" name="Rectangle 59"/>
          <p:cNvSpPr/>
          <p:nvPr/>
        </p:nvSpPr>
        <p:spPr>
          <a:xfrm>
            <a:off x="7972348" y="5376672"/>
            <a:ext cx="3533546" cy="402336"/>
          </a:xfrm>
          <a:prstGeom prst="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972348" y="5376672"/>
            <a:ext cx="3533546"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18652" y="5422392"/>
            <a:ext cx="3259226" cy="182880"/>
          </a:xfrm>
          <a:prstGeom prst="rect">
            <a:avLst/>
          </a:prstGeom>
          <a:noFill/>
        </p:spPr>
        <p:txBody>
          <a:bodyPr wrap="square" anchor="t" lIns="0" rIns="0" tIns="0" bIns="0">
            <a:spAutoFit/>
          </a:bodyPr>
          <a:lstStyle/>
          <a:p>
            <a:pPr algn="l">
              <a:lnSpc>
                <a:spcPct val="104000"/>
              </a:lnSpc>
              <a:spcBef>
                <a:spcPts val="0"/>
              </a:spcBef>
              <a:spcAft>
                <a:spcPts val="0"/>
              </a:spcAft>
            </a:pPr>
            <a:r>
              <a:rPr sz="1050" b="1">
                <a:solidFill>
                  <a:srgbClr val="16202E"/>
                </a:solidFill>
                <a:latin typeface="Calibri"/>
              </a:rPr>
              <a:t>DuckDB + Polars</a:t>
            </a:r>
          </a:p>
        </p:txBody>
      </p:sp>
      <p:sp>
        <p:nvSpPr>
          <p:cNvPr id="63" name="TextBox 62"/>
          <p:cNvSpPr txBox="1"/>
          <p:nvPr/>
        </p:nvSpPr>
        <p:spPr>
          <a:xfrm>
            <a:off x="8118652" y="5596128"/>
            <a:ext cx="3259226" cy="16459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Query engine over the parquet warehouse</a:t>
            </a:r>
          </a:p>
        </p:txBody>
      </p:sp>
      <p:sp>
        <p:nvSpPr>
          <p:cNvPr id="64" name="Rectangle 63"/>
          <p:cNvSpPr/>
          <p:nvPr/>
        </p:nvSpPr>
        <p:spPr>
          <a:xfrm>
            <a:off x="685800" y="5852160"/>
            <a:ext cx="3533546" cy="402336"/>
          </a:xfrm>
          <a:prstGeom prst="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85800" y="5852160"/>
            <a:ext cx="3533546"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32104" y="5897880"/>
            <a:ext cx="3259226" cy="182880"/>
          </a:xfrm>
          <a:prstGeom prst="rect">
            <a:avLst/>
          </a:prstGeom>
          <a:noFill/>
        </p:spPr>
        <p:txBody>
          <a:bodyPr wrap="square" anchor="t" lIns="0" rIns="0" tIns="0" bIns="0">
            <a:spAutoFit/>
          </a:bodyPr>
          <a:lstStyle/>
          <a:p>
            <a:pPr algn="l">
              <a:lnSpc>
                <a:spcPct val="104000"/>
              </a:lnSpc>
              <a:spcBef>
                <a:spcPts val="0"/>
              </a:spcBef>
              <a:spcAft>
                <a:spcPts val="0"/>
              </a:spcAft>
            </a:pPr>
            <a:r>
              <a:rPr sz="1050" b="1">
                <a:solidFill>
                  <a:srgbClr val="16202E"/>
                </a:solidFill>
                <a:latin typeface="Calibri"/>
              </a:rPr>
              <a:t>Qwen 3.5 35B</a:t>
            </a:r>
          </a:p>
        </p:txBody>
      </p:sp>
      <p:sp>
        <p:nvSpPr>
          <p:cNvPr id="67" name="TextBox 66"/>
          <p:cNvSpPr txBox="1"/>
          <p:nvPr/>
        </p:nvSpPr>
        <p:spPr>
          <a:xfrm>
            <a:off x="832104" y="6071616"/>
            <a:ext cx="3259226" cy="16459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The language model, on premise capable</a:t>
            </a:r>
          </a:p>
        </p:txBody>
      </p:sp>
      <p:sp>
        <p:nvSpPr>
          <p:cNvPr id="68" name="Rectangle 67"/>
          <p:cNvSpPr/>
          <p:nvPr/>
        </p:nvSpPr>
        <p:spPr>
          <a:xfrm>
            <a:off x="4329074" y="5852160"/>
            <a:ext cx="3533546" cy="402336"/>
          </a:xfrm>
          <a:prstGeom prst="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329074" y="5852160"/>
            <a:ext cx="3533546"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475378" y="5897880"/>
            <a:ext cx="3259226" cy="182880"/>
          </a:xfrm>
          <a:prstGeom prst="rect">
            <a:avLst/>
          </a:prstGeom>
          <a:noFill/>
        </p:spPr>
        <p:txBody>
          <a:bodyPr wrap="square" anchor="t" lIns="0" rIns="0" tIns="0" bIns="0">
            <a:spAutoFit/>
          </a:bodyPr>
          <a:lstStyle/>
          <a:p>
            <a:pPr algn="l">
              <a:lnSpc>
                <a:spcPct val="104000"/>
              </a:lnSpc>
              <a:spcBef>
                <a:spcPts val="0"/>
              </a:spcBef>
              <a:spcAft>
                <a:spcPts val="0"/>
              </a:spcAft>
            </a:pPr>
            <a:r>
              <a:rPr sz="1050" b="1">
                <a:solidFill>
                  <a:srgbClr val="16202E"/>
                </a:solidFill>
                <a:latin typeface="Calibri"/>
              </a:rPr>
              <a:t>NumPy</a:t>
            </a:r>
          </a:p>
        </p:txBody>
      </p:sp>
      <p:sp>
        <p:nvSpPr>
          <p:cNvPr id="71" name="TextBox 70"/>
          <p:cNvSpPr txBox="1"/>
          <p:nvPr/>
        </p:nvSpPr>
        <p:spPr>
          <a:xfrm>
            <a:off x="4475378" y="6071616"/>
            <a:ext cx="3259226" cy="16459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Clustering and regression, written in house</a:t>
            </a:r>
          </a:p>
        </p:txBody>
      </p:sp>
      <p:sp>
        <p:nvSpPr>
          <p:cNvPr id="72" name="Rectangle 71"/>
          <p:cNvSpPr/>
          <p:nvPr/>
        </p:nvSpPr>
        <p:spPr>
          <a:xfrm>
            <a:off x="7972348" y="5852160"/>
            <a:ext cx="3533546" cy="402336"/>
          </a:xfrm>
          <a:prstGeom prst="rect">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972348" y="5852160"/>
            <a:ext cx="3533546" cy="4572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118652" y="5897880"/>
            <a:ext cx="3259226" cy="182880"/>
          </a:xfrm>
          <a:prstGeom prst="rect">
            <a:avLst/>
          </a:prstGeom>
          <a:noFill/>
        </p:spPr>
        <p:txBody>
          <a:bodyPr wrap="square" anchor="t" lIns="0" rIns="0" tIns="0" bIns="0">
            <a:spAutoFit/>
          </a:bodyPr>
          <a:lstStyle/>
          <a:p>
            <a:pPr algn="l">
              <a:lnSpc>
                <a:spcPct val="104000"/>
              </a:lnSpc>
              <a:spcBef>
                <a:spcPts val="0"/>
              </a:spcBef>
              <a:spcAft>
                <a:spcPts val="0"/>
              </a:spcAft>
            </a:pPr>
            <a:r>
              <a:rPr sz="1050" b="1">
                <a:solidFill>
                  <a:srgbClr val="16202E"/>
                </a:solidFill>
                <a:latin typeface="Calibri"/>
              </a:rPr>
              <a:t>python-pptx</a:t>
            </a:r>
          </a:p>
        </p:txBody>
      </p:sp>
      <p:sp>
        <p:nvSpPr>
          <p:cNvPr id="75" name="TextBox 74"/>
          <p:cNvSpPr txBox="1"/>
          <p:nvPr/>
        </p:nvSpPr>
        <p:spPr>
          <a:xfrm>
            <a:off x="8118652" y="6071616"/>
            <a:ext cx="3259226" cy="164592"/>
          </a:xfrm>
          <a:prstGeom prst="rect">
            <a:avLst/>
          </a:prstGeom>
          <a:noFill/>
        </p:spPr>
        <p:txBody>
          <a:bodyPr wrap="square" anchor="t" lIns="0" rIns="0" tIns="0" bIns="0">
            <a:spAutoFit/>
          </a:bodyPr>
          <a:lstStyle/>
          <a:p>
            <a:pPr algn="l">
              <a:lnSpc>
                <a:spcPct val="104000"/>
              </a:lnSpc>
              <a:spcBef>
                <a:spcPts val="0"/>
              </a:spcBef>
              <a:spcAft>
                <a:spcPts val="0"/>
              </a:spcAft>
            </a:pPr>
            <a:r>
              <a:rPr sz="800" b="0">
                <a:solidFill>
                  <a:srgbClr val="6A7177"/>
                </a:solidFill>
                <a:latin typeface="Calibri"/>
              </a:rPr>
              <a:t>The Board deck, generated with its 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65760"/>
            <a:ext cx="420624" cy="50292"/>
          </a:xfrm>
          <a:prstGeom prst="rect">
            <a:avLst/>
          </a:prstGeom>
          <a:solidFill>
            <a:srgbClr val="D42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8229600" cy="256032"/>
          </a:xfrm>
          <a:prstGeom prst="rect">
            <a:avLst/>
          </a:prstGeom>
          <a:noFill/>
        </p:spPr>
        <p:txBody>
          <a:bodyPr wrap="square" anchor="t" lIns="0" rIns="0" tIns="0" bIns="0">
            <a:spAutoFit/>
          </a:bodyPr>
          <a:lstStyle/>
          <a:p>
            <a:pPr algn="l">
              <a:lnSpc>
                <a:spcPct val="104000"/>
              </a:lnSpc>
              <a:spcBef>
                <a:spcPts val="0"/>
              </a:spcBef>
              <a:spcAft>
                <a:spcPts val="0"/>
              </a:spcAft>
            </a:pPr>
            <a:r>
              <a:rPr sz="1100" b="1">
                <a:solidFill>
                  <a:srgbClr val="2E5A88"/>
                </a:solidFill>
                <a:latin typeface="Calibri"/>
              </a:rPr>
              <a:t>APPENDIX · BENEFIT AND COST ESTIMATION</a:t>
            </a:r>
          </a:p>
        </p:txBody>
      </p:sp>
      <p:sp>
        <p:nvSpPr>
          <p:cNvPr id="5" name="TextBox 4"/>
          <p:cNvSpPr txBox="1"/>
          <p:nvPr/>
        </p:nvSpPr>
        <p:spPr>
          <a:xfrm>
            <a:off x="685800" y="713232"/>
            <a:ext cx="10820095" cy="868680"/>
          </a:xfrm>
          <a:prstGeom prst="rect">
            <a:avLst/>
          </a:prstGeom>
          <a:noFill/>
        </p:spPr>
        <p:txBody>
          <a:bodyPr wrap="square" anchor="t" lIns="0" rIns="0" tIns="0" bIns="0">
            <a:spAutoFit/>
          </a:bodyPr>
          <a:lstStyle/>
          <a:p>
            <a:pPr algn="l">
              <a:lnSpc>
                <a:spcPct val="102000"/>
              </a:lnSpc>
              <a:spcBef>
                <a:spcPts val="0"/>
              </a:spcBef>
              <a:spcAft>
                <a:spcPts val="0"/>
              </a:spcAft>
            </a:pPr>
            <a:r>
              <a:rPr sz="1900" b="1">
                <a:solidFill>
                  <a:srgbClr val="16202E"/>
                </a:solidFill>
                <a:latin typeface="Calibri"/>
              </a:rPr>
              <a:t>Every figure on the cost and benefit slide, with the formula, the assumption behind it and how far it can be relied on</a:t>
            </a:r>
          </a:p>
        </p:txBody>
      </p:sp>
      <p:sp>
        <p:nvSpPr>
          <p:cNvPr id="6" name="Rectangle 5"/>
          <p:cNvSpPr/>
          <p:nvPr/>
        </p:nvSpPr>
        <p:spPr>
          <a:xfrm>
            <a:off x="685800" y="1536192"/>
            <a:ext cx="10820095" cy="1143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419088"/>
            <a:ext cx="10820095" cy="9525"/>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73952"/>
            <a:ext cx="10058400" cy="274320"/>
          </a:xfrm>
          <a:prstGeom prst="rect">
            <a:avLst/>
          </a:prstGeom>
          <a:noFill/>
        </p:spPr>
        <p:txBody>
          <a:bodyPr wrap="square" anchor="t" lIns="0" rIns="0" tIns="0" bIns="0">
            <a:spAutoFit/>
          </a:bodyPr>
          <a:lstStyle/>
          <a:p>
            <a:pPr algn="l">
              <a:lnSpc>
                <a:spcPct val="104000"/>
              </a:lnSpc>
              <a:spcBef>
                <a:spcPts val="0"/>
              </a:spcBef>
              <a:spcAft>
                <a:spcPts val="0"/>
              </a:spcAft>
            </a:pPr>
            <a:r>
              <a:rPr sz="900" b="0">
                <a:solidFill>
                  <a:srgbClr val="9BA1A7"/>
                </a:solidFill>
                <a:latin typeface="Calibri"/>
              </a:rPr>
              <a:t>Nexus · Next Gen Agentic AI for Customer Understanding</a:t>
            </a:r>
          </a:p>
        </p:txBody>
      </p:sp>
      <p:sp>
        <p:nvSpPr>
          <p:cNvPr id="9" name="TextBox 8"/>
          <p:cNvSpPr txBox="1"/>
          <p:nvPr/>
        </p:nvSpPr>
        <p:spPr>
          <a:xfrm>
            <a:off x="11292840" y="6473952"/>
            <a:ext cx="685800" cy="274320"/>
          </a:xfrm>
          <a:prstGeom prst="rect">
            <a:avLst/>
          </a:prstGeom>
          <a:noFill/>
        </p:spPr>
        <p:txBody>
          <a:bodyPr wrap="square" anchor="t" lIns="0" rIns="0" tIns="0" bIns="0">
            <a:spAutoFit/>
          </a:bodyPr>
          <a:lstStyle/>
          <a:p>
            <a:pPr algn="r">
              <a:lnSpc>
                <a:spcPct val="104000"/>
              </a:lnSpc>
              <a:spcBef>
                <a:spcPts val="0"/>
              </a:spcBef>
              <a:spcAft>
                <a:spcPts val="0"/>
              </a:spcAft>
            </a:pPr>
            <a:r>
              <a:rPr sz="950" b="1">
                <a:solidFill>
                  <a:srgbClr val="6A7177"/>
                </a:solidFill>
                <a:latin typeface="Calibri"/>
              </a:rPr>
              <a:t>08</a:t>
            </a:r>
          </a:p>
        </p:txBody>
      </p:sp>
      <p:graphicFrame>
        <p:nvGraphicFramePr>
          <p:cNvPr id="10" name="Table 9"/>
          <p:cNvGraphicFramePr>
            <a:graphicFrameLocks noGrp="1"/>
          </p:cNvGraphicFramePr>
          <p:nvPr/>
        </p:nvGraphicFramePr>
        <p:xfrm>
          <a:off x="685800" y="1700784"/>
          <a:ext cx="10817352" cy="4114800"/>
        </p:xfrm>
        <a:graphic>
          <a:graphicData uri="http://schemas.openxmlformats.org/drawingml/2006/table">
            <a:tbl>
              <a:tblPr firstRow="1" bandRow="1">
                <a:tableStyleId>{5C22544A-7EE6-4342-B048-85BDC9FD1C3A}</a:tableStyleId>
              </a:tblPr>
              <a:tblGrid>
                <a:gridCol w="2240280"/>
                <a:gridCol w="896112"/>
                <a:gridCol w="2926080"/>
                <a:gridCol w="3611880"/>
                <a:gridCol w="1143000"/>
              </a:tblGrid>
              <a:tr h="310896">
                <a:tc>
                  <a:txBody>
                    <a:bodyPr wrap="square"/>
                    <a:lstStyle/>
                    <a:p>
                      <a:pPr>
                        <a:lnSpc>
                          <a:spcPct val="104000"/>
                        </a:lnSpc>
                      </a:pPr>
                      <a:r>
                        <a:rPr sz="900" b="1">
                          <a:solidFill>
                            <a:srgbClr val="FFFFFF"/>
                          </a:solidFill>
                          <a:latin typeface="Calibri"/>
                        </a:rPr>
                        <a:t>Cost or benefit</a:t>
                      </a:r>
                    </a:p>
                  </a:txBody>
                  <a:tcPr marL="73152" marR="73152" marT="36576" marB="36576" anchor="ctr">
                    <a:solidFill>
                      <a:srgbClr val="16202E"/>
                    </a:solidFill>
                  </a:tcPr>
                </a:tc>
                <a:tc>
                  <a:txBody>
                    <a:bodyPr wrap="square"/>
                    <a:lstStyle/>
                    <a:p>
                      <a:pPr>
                        <a:lnSpc>
                          <a:spcPct val="104000"/>
                        </a:lnSpc>
                      </a:pPr>
                      <a:r>
                        <a:rPr sz="900" b="1">
                          <a:solidFill>
                            <a:srgbClr val="FFFFFF"/>
                          </a:solidFill>
                          <a:latin typeface="Calibri"/>
                        </a:rPr>
                        <a:t>Type</a:t>
                      </a:r>
                    </a:p>
                  </a:txBody>
                  <a:tcPr marL="73152" marR="73152" marT="36576" marB="36576" anchor="ctr">
                    <a:solidFill>
                      <a:srgbClr val="16202E"/>
                    </a:solidFill>
                  </a:tcPr>
                </a:tc>
                <a:tc>
                  <a:txBody>
                    <a:bodyPr wrap="square"/>
                    <a:lstStyle/>
                    <a:p>
                      <a:pPr>
                        <a:lnSpc>
                          <a:spcPct val="104000"/>
                        </a:lnSpc>
                      </a:pPr>
                      <a:r>
                        <a:rPr sz="900" b="1">
                          <a:solidFill>
                            <a:srgbClr val="FFFFFF"/>
                          </a:solidFill>
                          <a:latin typeface="Calibri"/>
                        </a:rPr>
                        <a:t>Metric, and the formula</a:t>
                      </a:r>
                    </a:p>
                  </a:txBody>
                  <a:tcPr marL="73152" marR="73152" marT="36576" marB="36576" anchor="ctr">
                    <a:solidFill>
                      <a:srgbClr val="16202E"/>
                    </a:solidFill>
                  </a:tcPr>
                </a:tc>
                <a:tc>
                  <a:txBody>
                    <a:bodyPr wrap="square"/>
                    <a:lstStyle/>
                    <a:p>
                      <a:pPr>
                        <a:lnSpc>
                          <a:spcPct val="104000"/>
                        </a:lnSpc>
                      </a:pPr>
                      <a:r>
                        <a:rPr sz="900" b="1">
                          <a:solidFill>
                            <a:srgbClr val="FFFFFF"/>
                          </a:solidFill>
                          <a:latin typeface="Calibri"/>
                        </a:rPr>
                        <a:t>Assumption and source</a:t>
                      </a:r>
                    </a:p>
                  </a:txBody>
                  <a:tcPr marL="73152" marR="73152" marT="36576" marB="36576" anchor="ctr">
                    <a:solidFill>
                      <a:srgbClr val="16202E"/>
                    </a:solidFill>
                  </a:tcPr>
                </a:tc>
                <a:tc>
                  <a:txBody>
                    <a:bodyPr wrap="square"/>
                    <a:lstStyle/>
                    <a:p>
                      <a:pPr>
                        <a:lnSpc>
                          <a:spcPct val="104000"/>
                        </a:lnSpc>
                      </a:pPr>
                      <a:r>
                        <a:rPr sz="900" b="1">
                          <a:solidFill>
                            <a:srgbClr val="FFFFFF"/>
                          </a:solidFill>
                          <a:latin typeface="Calibri"/>
                        </a:rPr>
                        <a:t>Confidence</a:t>
                      </a:r>
                    </a:p>
                  </a:txBody>
                  <a:tcPr marL="73152" marR="73152" marT="36576" marB="36576" anchor="ctr">
                    <a:solidFill>
                      <a:srgbClr val="16202E"/>
                    </a:solidFill>
                  </a:tcPr>
                </a:tc>
              </a:tr>
              <a:tr h="475488">
                <a:tc>
                  <a:txBody>
                    <a:bodyPr wrap="square"/>
                    <a:lstStyle/>
                    <a:p>
                      <a:pPr>
                        <a:lnSpc>
                          <a:spcPct val="104000"/>
                        </a:lnSpc>
                      </a:pPr>
                      <a:r>
                        <a:rPr sz="900" b="1">
                          <a:solidFill>
                            <a:srgbClr val="16202E"/>
                          </a:solidFill>
                          <a:latin typeface="Calibri"/>
                        </a:rPr>
                        <a:t>CAPEX, one off</a:t>
                      </a:r>
                    </a:p>
                  </a:txBody>
                  <a:tcPr marL="73152" marR="73152" marT="36576" marB="36576" anchor="ctr">
                    <a:solidFill>
                      <a:srgbClr val="FFFFFF"/>
                    </a:solidFill>
                  </a:tcPr>
                </a:tc>
                <a:tc>
                  <a:txBody>
                    <a:bodyPr wrap="square"/>
                    <a:lstStyle/>
                    <a:p>
                      <a:pPr>
                        <a:lnSpc>
                          <a:spcPct val="104000"/>
                        </a:lnSpc>
                      </a:pPr>
                      <a:r>
                        <a:rPr sz="850" b="0">
                          <a:solidFill>
                            <a:srgbClr val="6A7177"/>
                          </a:solidFill>
                          <a:latin typeface="Calibri"/>
                        </a:rPr>
                        <a:t>Cost</a:t>
                      </a:r>
                    </a:p>
                  </a:txBody>
                  <a:tcPr marL="73152" marR="73152" marT="36576" marB="36576" anchor="ctr">
                    <a:solidFill>
                      <a:srgbClr val="FFFFFF"/>
                    </a:solidFill>
                  </a:tcPr>
                </a:tc>
                <a:tc>
                  <a:txBody>
                    <a:bodyPr wrap="square"/>
                    <a:lstStyle/>
                    <a:p>
                      <a:pPr>
                        <a:lnSpc>
                          <a:spcPct val="104000"/>
                        </a:lnSpc>
                      </a:pPr>
                      <a:r>
                        <a:rPr sz="850" b="0">
                          <a:solidFill>
                            <a:srgbClr val="16202E"/>
                          </a:solidFill>
                          <a:latin typeface="Calibri"/>
                        </a:rPr>
                        <a:t>Database, 500 GB</a:t>
                      </a:r>
                    </a:p>
                  </a:txBody>
                  <a:tcPr marL="73152" marR="73152" marT="36576" marB="36576" anchor="ctr">
                    <a:solidFill>
                      <a:srgbClr val="FFFFFF"/>
                    </a:solidFill>
                  </a:tcPr>
                </a:tc>
                <a:tc>
                  <a:txBody>
                    <a:bodyPr wrap="square"/>
                    <a:lstStyle/>
                    <a:p>
                      <a:pPr>
                        <a:lnSpc>
                          <a:spcPct val="104000"/>
                        </a:lnSpc>
                      </a:pPr>
                      <a:r>
                        <a:rPr sz="800" b="0">
                          <a:solidFill>
                            <a:srgbClr val="6A7177"/>
                          </a:solidFill>
                          <a:latin typeface="Calibri"/>
                        </a:rPr>
                        <a:t>Storage provisioning for the warehouse. Not yet costed</a:t>
                      </a:r>
                    </a:p>
                  </a:txBody>
                  <a:tcPr marL="73152" marR="73152" marT="36576" marB="36576" anchor="ctr">
                    <a:solidFill>
                      <a:srgbClr val="FFFFFF"/>
                    </a:solidFill>
                  </a:tcPr>
                </a:tc>
                <a:tc>
                  <a:txBody>
                    <a:bodyPr wrap="square"/>
                    <a:lstStyle/>
                    <a:p>
                      <a:pPr>
                        <a:lnSpc>
                          <a:spcPct val="104000"/>
                        </a:lnSpc>
                      </a:pPr>
                      <a:r>
                        <a:rPr sz="900" b="1">
                          <a:solidFill>
                            <a:srgbClr val="D42030"/>
                          </a:solidFill>
                          <a:latin typeface="Calibri"/>
                        </a:rPr>
                        <a:t>Low</a:t>
                      </a:r>
                    </a:p>
                  </a:txBody>
                  <a:tcPr marL="73152" marR="73152" marT="36576" marB="36576" anchor="ctr">
                    <a:solidFill>
                      <a:srgbClr val="FFFFFF"/>
                    </a:solidFill>
                  </a:tcPr>
                </a:tc>
              </a:tr>
              <a:tr h="475488">
                <a:tc>
                  <a:txBody>
                    <a:bodyPr wrap="square"/>
                    <a:lstStyle/>
                    <a:p>
                      <a:pPr>
                        <a:lnSpc>
                          <a:spcPct val="104000"/>
                        </a:lnSpc>
                      </a:pPr>
                      <a:r>
                        <a:rPr sz="900" b="1">
                          <a:solidFill>
                            <a:srgbClr val="16202E"/>
                          </a:solidFill>
                          <a:latin typeface="Calibri"/>
                        </a:rPr>
                        <a:t>OPEX, per year</a:t>
                      </a:r>
                    </a:p>
                  </a:txBody>
                  <a:tcPr marL="73152" marR="73152" marT="36576" marB="36576" anchor="ctr">
                    <a:solidFill>
                      <a:srgbClr val="F4F7FA"/>
                    </a:solidFill>
                  </a:tcPr>
                </a:tc>
                <a:tc>
                  <a:txBody>
                    <a:bodyPr wrap="square"/>
                    <a:lstStyle/>
                    <a:p>
                      <a:pPr>
                        <a:lnSpc>
                          <a:spcPct val="104000"/>
                        </a:lnSpc>
                      </a:pPr>
                      <a:r>
                        <a:rPr sz="850" b="0">
                          <a:solidFill>
                            <a:srgbClr val="6A7177"/>
                          </a:solidFill>
                          <a:latin typeface="Calibri"/>
                        </a:rPr>
                        <a:t>Cost</a:t>
                      </a:r>
                    </a:p>
                  </a:txBody>
                  <a:tcPr marL="73152" marR="73152" marT="36576" marB="36576" anchor="ctr">
                    <a:solidFill>
                      <a:srgbClr val="F4F7FA"/>
                    </a:solidFill>
                  </a:tcPr>
                </a:tc>
                <a:tc>
                  <a:txBody>
                    <a:bodyPr wrap="square"/>
                    <a:lstStyle/>
                    <a:p>
                      <a:pPr>
                        <a:lnSpc>
                          <a:spcPct val="104000"/>
                        </a:lnSpc>
                      </a:pPr>
                      <a:r>
                        <a:rPr sz="850" b="0">
                          <a:solidFill>
                            <a:srgbClr val="16202E"/>
                          </a:solidFill>
                          <a:latin typeface="Calibri"/>
                        </a:rPr>
                        <a:t>IDR 240 Mio a year, IDR 20 Mio a month</a:t>
                      </a:r>
                    </a:p>
                    <a:p>
                      <a:pPr>
                        <a:lnSpc>
                          <a:spcPct val="104000"/>
                        </a:lnSpc>
                      </a:pPr>
                      <a:r>
                        <a:rPr sz="750" b="1">
                          <a:solidFill>
                            <a:srgbClr val="2E5A88"/>
                          </a:solidFill>
                          <a:latin typeface="Calibri"/>
                        </a:rPr>
                        <a:t>3 MD + 30 MD + 15 MD + IDR 200 Mio + IDR 6 Mio = IDR 240 Mio</a:t>
                      </a:r>
                    </a:p>
                  </a:txBody>
                  <a:tcPr marL="73152" marR="73152" marT="36576" marB="36576" anchor="ctr">
                    <a:solidFill>
                      <a:srgbClr val="F4F7FA"/>
                    </a:solidFill>
                  </a:tcPr>
                </a:tc>
                <a:tc>
                  <a:txBody>
                    <a:bodyPr wrap="square"/>
                    <a:lstStyle/>
                    <a:p>
                      <a:pPr>
                        <a:lnSpc>
                          <a:spcPct val="104000"/>
                        </a:lnSpc>
                      </a:pPr>
                      <a:r>
                        <a:rPr sz="800" b="0">
                          <a:solidFill>
                            <a:srgbClr val="6A7177"/>
                          </a:solidFill>
                          <a:latin typeface="Calibri"/>
                        </a:rPr>
                        <a:t>Cost basis carried over from ORBIT; to be confirmed for Nexus</a:t>
                      </a:r>
                    </a:p>
                  </a:txBody>
                  <a:tcPr marL="73152" marR="73152" marT="36576" marB="36576" anchor="ctr">
                    <a:solidFill>
                      <a:srgbClr val="F4F7FA"/>
                    </a:solidFill>
                  </a:tcPr>
                </a:tc>
                <a:tc>
                  <a:txBody>
                    <a:bodyPr wrap="square"/>
                    <a:lstStyle/>
                    <a:p>
                      <a:pPr>
                        <a:lnSpc>
                          <a:spcPct val="104000"/>
                        </a:lnSpc>
                      </a:pPr>
                      <a:r>
                        <a:rPr sz="900" b="1">
                          <a:solidFill>
                            <a:srgbClr val="D42030"/>
                          </a:solidFill>
                          <a:latin typeface="Calibri"/>
                        </a:rPr>
                        <a:t>Low</a:t>
                      </a:r>
                    </a:p>
                  </a:txBody>
                  <a:tcPr marL="73152" marR="73152" marT="36576" marB="36576" anchor="ctr">
                    <a:solidFill>
                      <a:srgbClr val="F4F7FA"/>
                    </a:solidFill>
                  </a:tcPr>
                </a:tc>
              </a:tr>
              <a:tr h="475488">
                <a:tc>
                  <a:txBody>
                    <a:bodyPr wrap="square"/>
                    <a:lstStyle/>
                    <a:p>
                      <a:pPr>
                        <a:lnSpc>
                          <a:spcPct val="104000"/>
                        </a:lnSpc>
                      </a:pPr>
                      <a:r>
                        <a:rPr sz="900" b="1">
                          <a:solidFill>
                            <a:srgbClr val="16202E"/>
                          </a:solidFill>
                          <a:latin typeface="Calibri"/>
                        </a:rPr>
                        <a:t>Productivity value</a:t>
                      </a:r>
                    </a:p>
                  </a:txBody>
                  <a:tcPr marL="73152" marR="73152" marT="36576" marB="36576" anchor="ctr">
                    <a:solidFill>
                      <a:srgbClr val="FFFFFF"/>
                    </a:solidFill>
                  </a:tcPr>
                </a:tc>
                <a:tc>
                  <a:txBody>
                    <a:bodyPr wrap="square"/>
                    <a:lstStyle/>
                    <a:p>
                      <a:pPr>
                        <a:lnSpc>
                          <a:spcPct val="104000"/>
                        </a:lnSpc>
                      </a:pPr>
                      <a:r>
                        <a:rPr sz="850" b="0">
                          <a:solidFill>
                            <a:srgbClr val="6A7177"/>
                          </a:solidFill>
                          <a:latin typeface="Calibri"/>
                        </a:rPr>
                        <a:t>Quantified</a:t>
                      </a:r>
                    </a:p>
                  </a:txBody>
                  <a:tcPr marL="73152" marR="73152" marT="36576" marB="36576" anchor="ctr">
                    <a:solidFill>
                      <a:srgbClr val="FFFFFF"/>
                    </a:solidFill>
                  </a:tcPr>
                </a:tc>
                <a:tc>
                  <a:txBody>
                    <a:bodyPr wrap="square"/>
                    <a:lstStyle/>
                    <a:p>
                      <a:pPr>
                        <a:lnSpc>
                          <a:spcPct val="104000"/>
                        </a:lnSpc>
                      </a:pPr>
                      <a:r>
                        <a:rPr sz="850" b="0">
                          <a:solidFill>
                            <a:srgbClr val="16202E"/>
                          </a:solidFill>
                          <a:latin typeface="Calibri"/>
                        </a:rPr>
                        <a:t>1,000 hours a month, IDR 150 Mio a month, IDR 1.8 Bio a year</a:t>
                      </a:r>
                    </a:p>
                    <a:p>
                      <a:pPr>
                        <a:lnSpc>
                          <a:spcPct val="104000"/>
                        </a:lnSpc>
                      </a:pPr>
                      <a:r>
                        <a:rPr sz="750" b="1">
                          <a:solidFill>
                            <a:srgbClr val="2E5A88"/>
                          </a:solidFill>
                          <a:latin typeface="Calibri"/>
                        </a:rPr>
                        <a:t>87 x 11.5 h x IDR 150,000</a:t>
                      </a:r>
                    </a:p>
                  </a:txBody>
                  <a:tcPr marL="73152" marR="73152" marT="36576" marB="36576" anchor="ctr">
                    <a:solidFill>
                      <a:srgbClr val="FFFFFF"/>
                    </a:solidFill>
                  </a:tcPr>
                </a:tc>
                <a:tc>
                  <a:txBody>
                    <a:bodyPr wrap="square"/>
                    <a:lstStyle/>
                    <a:p>
                      <a:pPr>
                        <a:lnSpc>
                          <a:spcPct val="104000"/>
                        </a:lnSpc>
                      </a:pPr>
                      <a:r>
                        <a:rPr sz="800" b="0">
                          <a:solidFill>
                            <a:srgbClr val="6A7177"/>
                          </a:solidFill>
                          <a:latin typeface="Calibri"/>
                        </a:rPr>
                        <a:t>20 a week = 87 a month; 12 h today against 0.5 h with Nexus; analyst at IDR 150,000 an hour</a:t>
                      </a:r>
                    </a:p>
                  </a:txBody>
                  <a:tcPr marL="73152" marR="73152" marT="36576" marB="36576" anchor="ctr">
                    <a:solidFill>
                      <a:srgbClr val="FFFFFF"/>
                    </a:solidFill>
                  </a:tcPr>
                </a:tc>
                <a:tc>
                  <a:txBody>
                    <a:bodyPr wrap="square"/>
                    <a:lstStyle/>
                    <a:p>
                      <a:pPr>
                        <a:lnSpc>
                          <a:spcPct val="104000"/>
                        </a:lnSpc>
                      </a:pPr>
                      <a:r>
                        <a:rPr sz="900" b="1">
                          <a:solidFill>
                            <a:srgbClr val="A9603C"/>
                          </a:solidFill>
                          <a:latin typeface="Calibri"/>
                        </a:rPr>
                        <a:t>Medium</a:t>
                      </a:r>
                    </a:p>
                  </a:txBody>
                  <a:tcPr marL="73152" marR="73152" marT="36576" marB="36576" anchor="ctr">
                    <a:solidFill>
                      <a:srgbClr val="FFFFFF"/>
                    </a:solidFill>
                  </a:tcPr>
                </a:tc>
              </a:tr>
              <a:tr h="475488">
                <a:tc>
                  <a:txBody>
                    <a:bodyPr wrap="square"/>
                    <a:lstStyle/>
                    <a:p>
                      <a:pPr>
                        <a:lnSpc>
                          <a:spcPct val="104000"/>
                        </a:lnSpc>
                      </a:pPr>
                      <a:r>
                        <a:rPr sz="900" b="1">
                          <a:solidFill>
                            <a:srgbClr val="16202E"/>
                          </a:solidFill>
                          <a:latin typeface="Calibri"/>
                        </a:rPr>
                        <a:t>Campaign margin</a:t>
                      </a:r>
                    </a:p>
                  </a:txBody>
                  <a:tcPr marL="73152" marR="73152" marT="36576" marB="36576" anchor="ctr">
                    <a:solidFill>
                      <a:srgbClr val="F4F7FA"/>
                    </a:solidFill>
                  </a:tcPr>
                </a:tc>
                <a:tc>
                  <a:txBody>
                    <a:bodyPr wrap="square"/>
                    <a:lstStyle/>
                    <a:p>
                      <a:pPr>
                        <a:lnSpc>
                          <a:spcPct val="104000"/>
                        </a:lnSpc>
                      </a:pPr>
                      <a:r>
                        <a:rPr sz="850" b="0">
                          <a:solidFill>
                            <a:srgbClr val="6A7177"/>
                          </a:solidFill>
                          <a:latin typeface="Calibri"/>
                        </a:rPr>
                        <a:t>Quantified</a:t>
                      </a:r>
                    </a:p>
                  </a:txBody>
                  <a:tcPr marL="73152" marR="73152" marT="36576" marB="36576" anchor="ctr">
                    <a:solidFill>
                      <a:srgbClr val="F4F7FA"/>
                    </a:solidFill>
                  </a:tcPr>
                </a:tc>
                <a:tc>
                  <a:txBody>
                    <a:bodyPr wrap="square"/>
                    <a:lstStyle/>
                    <a:p>
                      <a:pPr>
                        <a:lnSpc>
                          <a:spcPct val="104000"/>
                        </a:lnSpc>
                      </a:pPr>
                      <a:r>
                        <a:rPr sz="850" b="0">
                          <a:solidFill>
                            <a:srgbClr val="16202E"/>
                          </a:solidFill>
                          <a:latin typeface="Calibri"/>
                        </a:rPr>
                        <a:t>1,000 extra placements a month, IDR 150 Mio a month, IDR 1.8 Bio a year</a:t>
                      </a:r>
                    </a:p>
                    <a:p>
                      <a:pPr>
                        <a:lnSpc>
                          <a:spcPct val="104000"/>
                        </a:lnSpc>
                      </a:pPr>
                      <a:r>
                        <a:rPr sz="750" b="1">
                          <a:solidFill>
                            <a:srgbClr val="2E5A88"/>
                          </a:solidFill>
                          <a:latin typeface="Calibri"/>
                        </a:rPr>
                        <a:t>100,000 x 1% x IDR 120 Mio x 1.5% / 12</a:t>
                      </a:r>
                    </a:p>
                  </a:txBody>
                  <a:tcPr marL="73152" marR="73152" marT="36576" marB="36576" anchor="ctr">
                    <a:solidFill>
                      <a:srgbClr val="F4F7FA"/>
                    </a:solidFill>
                  </a:tcPr>
                </a:tc>
                <a:tc>
                  <a:txBody>
                    <a:bodyPr wrap="square"/>
                    <a:lstStyle/>
                    <a:p>
                      <a:pPr>
                        <a:lnSpc>
                          <a:spcPct val="104000"/>
                        </a:lnSpc>
                      </a:pPr>
                      <a:r>
                        <a:rPr sz="800" b="0">
                          <a:solidFill>
                            <a:srgbClr val="6A7177"/>
                          </a:solidFill>
                          <a:latin typeface="Calibri"/>
                        </a:rPr>
                        <a:t>100,000 contacted a month; 1 pp extra take up from targeting; IDR 120 Mio average balance at 1.5% margin</a:t>
                      </a:r>
                    </a:p>
                  </a:txBody>
                  <a:tcPr marL="73152" marR="73152" marT="36576" marB="36576" anchor="ctr">
                    <a:solidFill>
                      <a:srgbClr val="F4F7FA"/>
                    </a:solidFill>
                  </a:tcPr>
                </a:tc>
                <a:tc>
                  <a:txBody>
                    <a:bodyPr wrap="square"/>
                    <a:lstStyle/>
                    <a:p>
                      <a:pPr>
                        <a:lnSpc>
                          <a:spcPct val="104000"/>
                        </a:lnSpc>
                      </a:pPr>
                      <a:r>
                        <a:rPr sz="900" b="1">
                          <a:solidFill>
                            <a:srgbClr val="D42030"/>
                          </a:solidFill>
                          <a:latin typeface="Calibri"/>
                        </a:rPr>
                        <a:t>Low</a:t>
                      </a:r>
                    </a:p>
                  </a:txBody>
                  <a:tcPr marL="73152" marR="73152" marT="36576" marB="36576" anchor="ctr">
                    <a:solidFill>
                      <a:srgbClr val="F4F7FA"/>
                    </a:solidFill>
                  </a:tcPr>
                </a:tc>
              </a:tr>
              <a:tr h="475488">
                <a:tc>
                  <a:txBody>
                    <a:bodyPr wrap="square"/>
                    <a:lstStyle/>
                    <a:p>
                      <a:pPr>
                        <a:lnSpc>
                          <a:spcPct val="104000"/>
                        </a:lnSpc>
                      </a:pPr>
                      <a:r>
                        <a:rPr sz="900" b="1">
                          <a:solidFill>
                            <a:srgbClr val="16202E"/>
                          </a:solidFill>
                          <a:latin typeface="Calibri"/>
                        </a:rPr>
                        <a:t>Faster decision cycle</a:t>
                      </a:r>
                    </a:p>
                  </a:txBody>
                  <a:tcPr marL="73152" marR="73152" marT="36576" marB="36576" anchor="ctr">
                    <a:solidFill>
                      <a:srgbClr val="FFFFFF"/>
                    </a:solidFill>
                  </a:tcPr>
                </a:tc>
                <a:tc>
                  <a:txBody>
                    <a:bodyPr wrap="square"/>
                    <a:lstStyle/>
                    <a:p>
                      <a:pPr>
                        <a:lnSpc>
                          <a:spcPct val="104000"/>
                        </a:lnSpc>
                      </a:pPr>
                      <a:r>
                        <a:rPr sz="850" b="0">
                          <a:solidFill>
                            <a:srgbClr val="6A7177"/>
                          </a:solidFill>
                          <a:latin typeface="Calibri"/>
                        </a:rPr>
                        <a:t>Qualitative</a:t>
                      </a:r>
                    </a:p>
                  </a:txBody>
                  <a:tcPr marL="73152" marR="73152" marT="36576" marB="36576" anchor="ctr">
                    <a:solidFill>
                      <a:srgbClr val="FFFFFF"/>
                    </a:solidFill>
                  </a:tcPr>
                </a:tc>
                <a:tc>
                  <a:txBody>
                    <a:bodyPr wrap="square"/>
                    <a:lstStyle/>
                    <a:p>
                      <a:pPr>
                        <a:lnSpc>
                          <a:spcPct val="104000"/>
                        </a:lnSpc>
                      </a:pPr>
                      <a:r>
                        <a:rPr sz="850" b="0">
                          <a:solidFill>
                            <a:srgbClr val="16202E"/>
                          </a:solidFill>
                          <a:latin typeface="Calibri"/>
                        </a:rPr>
                        <a:t>Days from question to decision</a:t>
                      </a:r>
                    </a:p>
                  </a:txBody>
                  <a:tcPr marL="73152" marR="73152" marT="36576" marB="36576" anchor="ctr">
                    <a:solidFill>
                      <a:srgbClr val="FFFFFF"/>
                    </a:solidFill>
                  </a:tcPr>
                </a:tc>
                <a:tc>
                  <a:txBody>
                    <a:bodyPr wrap="square"/>
                    <a:lstStyle/>
                    <a:p>
                      <a:pPr>
                        <a:lnSpc>
                          <a:spcPct val="104000"/>
                        </a:lnSpc>
                      </a:pPr>
                      <a:r>
                        <a:rPr sz="800" b="0">
                          <a:solidFill>
                            <a:srgbClr val="6A7177"/>
                          </a:solidFill>
                          <a:latin typeface="Calibri"/>
                        </a:rPr>
                        <a:t>Follows from removing the request queue</a:t>
                      </a:r>
                    </a:p>
                  </a:txBody>
                  <a:tcPr marL="73152" marR="73152" marT="36576" marB="36576" anchor="ctr">
                    <a:solidFill>
                      <a:srgbClr val="FFFFFF"/>
                    </a:solidFill>
                  </a:tcPr>
                </a:tc>
                <a:tc>
                  <a:txBody>
                    <a:bodyPr wrap="square"/>
                    <a:lstStyle/>
                    <a:p>
                      <a:pPr>
                        <a:lnSpc>
                          <a:spcPct val="104000"/>
                        </a:lnSpc>
                      </a:pPr>
                      <a:r>
                        <a:rPr sz="900" b="1">
                          <a:solidFill>
                            <a:srgbClr val="A9603C"/>
                          </a:solidFill>
                          <a:latin typeface="Calibri"/>
                        </a:rPr>
                        <a:t>Medium</a:t>
                      </a:r>
                    </a:p>
                  </a:txBody>
                  <a:tcPr marL="73152" marR="73152" marT="36576" marB="36576" anchor="ctr">
                    <a:solidFill>
                      <a:srgbClr val="FFFFFF"/>
                    </a:solidFill>
                  </a:tcPr>
                </a:tc>
              </a:tr>
              <a:tr h="475488">
                <a:tc>
                  <a:txBody>
                    <a:bodyPr wrap="square"/>
                    <a:lstStyle/>
                    <a:p>
                      <a:pPr>
                        <a:lnSpc>
                          <a:spcPct val="104000"/>
                        </a:lnSpc>
                      </a:pPr>
                      <a:r>
                        <a:rPr sz="900" b="1">
                          <a:solidFill>
                            <a:srgbClr val="16202E"/>
                          </a:solidFill>
                          <a:latin typeface="Calibri"/>
                        </a:rPr>
                        <a:t>One version of the number</a:t>
                      </a:r>
                    </a:p>
                  </a:txBody>
                  <a:tcPr marL="73152" marR="73152" marT="36576" marB="36576" anchor="ctr">
                    <a:solidFill>
                      <a:srgbClr val="F4F7FA"/>
                    </a:solidFill>
                  </a:tcPr>
                </a:tc>
                <a:tc>
                  <a:txBody>
                    <a:bodyPr wrap="square"/>
                    <a:lstStyle/>
                    <a:p>
                      <a:pPr>
                        <a:lnSpc>
                          <a:spcPct val="104000"/>
                        </a:lnSpc>
                      </a:pPr>
                      <a:r>
                        <a:rPr sz="850" b="0">
                          <a:solidFill>
                            <a:srgbClr val="6A7177"/>
                          </a:solidFill>
                          <a:latin typeface="Calibri"/>
                        </a:rPr>
                        <a:t>Qualitative</a:t>
                      </a:r>
                    </a:p>
                  </a:txBody>
                  <a:tcPr marL="73152" marR="73152" marT="36576" marB="36576" anchor="ctr">
                    <a:solidFill>
                      <a:srgbClr val="F4F7FA"/>
                    </a:solidFill>
                  </a:tcPr>
                </a:tc>
                <a:tc>
                  <a:txBody>
                    <a:bodyPr wrap="square"/>
                    <a:lstStyle/>
                    <a:p>
                      <a:pPr>
                        <a:lnSpc>
                          <a:spcPct val="104000"/>
                        </a:lnSpc>
                      </a:pPr>
                      <a:r>
                        <a:rPr sz="850" b="0">
                          <a:solidFill>
                            <a:srgbClr val="16202E"/>
                          </a:solidFill>
                          <a:latin typeface="Calibri"/>
                        </a:rPr>
                        <a:t>Disputes over whose figure is right</a:t>
                      </a:r>
                    </a:p>
                  </a:txBody>
                  <a:tcPr marL="73152" marR="73152" marT="36576" marB="36576" anchor="ctr">
                    <a:solidFill>
                      <a:srgbClr val="F4F7FA"/>
                    </a:solidFill>
                  </a:tcPr>
                </a:tc>
                <a:tc>
                  <a:txBody>
                    <a:bodyPr wrap="square"/>
                    <a:lstStyle/>
                    <a:p>
                      <a:pPr>
                        <a:lnSpc>
                          <a:spcPct val="104000"/>
                        </a:lnSpc>
                      </a:pPr>
                      <a:r>
                        <a:rPr sz="800" b="0">
                          <a:solidFill>
                            <a:srgbClr val="6A7177"/>
                          </a:solidFill>
                          <a:latin typeface="Calibri"/>
                        </a:rPr>
                        <a:t>Impact computed from the cohort; one lineage version per load</a:t>
                      </a:r>
                    </a:p>
                  </a:txBody>
                  <a:tcPr marL="73152" marR="73152" marT="36576" marB="36576" anchor="ctr">
                    <a:solidFill>
                      <a:srgbClr val="F4F7FA"/>
                    </a:solidFill>
                  </a:tcPr>
                </a:tc>
                <a:tc>
                  <a:txBody>
                    <a:bodyPr wrap="square"/>
                    <a:lstStyle/>
                    <a:p>
                      <a:pPr>
                        <a:lnSpc>
                          <a:spcPct val="104000"/>
                        </a:lnSpc>
                      </a:pPr>
                      <a:r>
                        <a:rPr sz="900" b="1">
                          <a:solidFill>
                            <a:srgbClr val="2E5A88"/>
                          </a:solidFill>
                          <a:latin typeface="Calibri"/>
                        </a:rPr>
                        <a:t>High</a:t>
                      </a:r>
                    </a:p>
                  </a:txBody>
                  <a:tcPr marL="73152" marR="73152" marT="36576" marB="36576" anchor="ctr">
                    <a:solidFill>
                      <a:srgbClr val="F4F7FA"/>
                    </a:solidFill>
                  </a:tcPr>
                </a:tc>
              </a:tr>
              <a:tr h="475488">
                <a:tc>
                  <a:txBody>
                    <a:bodyPr wrap="square"/>
                    <a:lstStyle/>
                    <a:p>
                      <a:pPr>
                        <a:lnSpc>
                          <a:spcPct val="104000"/>
                        </a:lnSpc>
                      </a:pPr>
                      <a:r>
                        <a:rPr sz="900" b="1">
                          <a:solidFill>
                            <a:srgbClr val="16202E"/>
                          </a:solidFill>
                          <a:latin typeface="Calibri"/>
                        </a:rPr>
                        <a:t>Analyst capacity released</a:t>
                      </a:r>
                    </a:p>
                  </a:txBody>
                  <a:tcPr marL="73152" marR="73152" marT="36576" marB="36576" anchor="ctr">
                    <a:solidFill>
                      <a:srgbClr val="FFFFFF"/>
                    </a:solidFill>
                  </a:tcPr>
                </a:tc>
                <a:tc>
                  <a:txBody>
                    <a:bodyPr wrap="square"/>
                    <a:lstStyle/>
                    <a:p>
                      <a:pPr>
                        <a:lnSpc>
                          <a:spcPct val="104000"/>
                        </a:lnSpc>
                      </a:pPr>
                      <a:r>
                        <a:rPr sz="850" b="0">
                          <a:solidFill>
                            <a:srgbClr val="6A7177"/>
                          </a:solidFill>
                          <a:latin typeface="Calibri"/>
                        </a:rPr>
                        <a:t>Qualitative</a:t>
                      </a:r>
                    </a:p>
                  </a:txBody>
                  <a:tcPr marL="73152" marR="73152" marT="36576" marB="36576" anchor="ctr">
                    <a:solidFill>
                      <a:srgbClr val="FFFFFF"/>
                    </a:solidFill>
                  </a:tcPr>
                </a:tc>
                <a:tc>
                  <a:txBody>
                    <a:bodyPr wrap="square"/>
                    <a:lstStyle/>
                    <a:p>
                      <a:pPr>
                        <a:lnSpc>
                          <a:spcPct val="104000"/>
                        </a:lnSpc>
                      </a:pPr>
                      <a:r>
                        <a:rPr sz="850" b="0">
                          <a:solidFill>
                            <a:srgbClr val="16202E"/>
                          </a:solidFill>
                          <a:latin typeface="Calibri"/>
                        </a:rPr>
                        <a:t>Share of analyst time on routine extracts</a:t>
                      </a:r>
                    </a:p>
                  </a:txBody>
                  <a:tcPr marL="73152" marR="73152" marT="36576" marB="36576" anchor="ctr">
                    <a:solidFill>
                      <a:srgbClr val="FFFFFF"/>
                    </a:solidFill>
                  </a:tcPr>
                </a:tc>
                <a:tc>
                  <a:txBody>
                    <a:bodyPr wrap="square"/>
                    <a:lstStyle/>
                    <a:p>
                      <a:pPr>
                        <a:lnSpc>
                          <a:spcPct val="104000"/>
                        </a:lnSpc>
                      </a:pPr>
                      <a:r>
                        <a:rPr sz="800" b="0">
                          <a:solidFill>
                            <a:srgbClr val="6A7177"/>
                          </a:solidFill>
                          <a:latin typeface="Calibri"/>
                        </a:rPr>
                        <a:t>Same basis as the productivity value</a:t>
                      </a:r>
                    </a:p>
                  </a:txBody>
                  <a:tcPr marL="73152" marR="73152" marT="36576" marB="36576" anchor="ctr">
                    <a:solidFill>
                      <a:srgbClr val="FFFFFF"/>
                    </a:solidFill>
                  </a:tcPr>
                </a:tc>
                <a:tc>
                  <a:txBody>
                    <a:bodyPr wrap="square"/>
                    <a:lstStyle/>
                    <a:p>
                      <a:pPr>
                        <a:lnSpc>
                          <a:spcPct val="104000"/>
                        </a:lnSpc>
                      </a:pPr>
                      <a:r>
                        <a:rPr sz="900" b="1">
                          <a:solidFill>
                            <a:srgbClr val="A9603C"/>
                          </a:solidFill>
                          <a:latin typeface="Calibri"/>
                        </a:rPr>
                        <a:t>Medium</a:t>
                      </a:r>
                    </a:p>
                  </a:txBody>
                  <a:tcPr marL="73152" marR="73152" marT="36576" marB="36576" anchor="ctr">
                    <a:solidFill>
                      <a:srgbClr val="FFFFFF"/>
                    </a:solidFill>
                  </a:tcPr>
                </a:tc>
              </a:tr>
              <a:tr h="475488">
                <a:tc>
                  <a:txBody>
                    <a:bodyPr wrap="square"/>
                    <a:lstStyle/>
                    <a:p>
                      <a:pPr>
                        <a:lnSpc>
                          <a:spcPct val="104000"/>
                        </a:lnSpc>
                      </a:pPr>
                      <a:r>
                        <a:rPr sz="900" b="1">
                          <a:solidFill>
                            <a:srgbClr val="16202E"/>
                          </a:solidFill>
                          <a:latin typeface="Calibri"/>
                        </a:rPr>
                        <a:t>Board confidence</a:t>
                      </a:r>
                    </a:p>
                  </a:txBody>
                  <a:tcPr marL="73152" marR="73152" marT="36576" marB="36576" anchor="ctr">
                    <a:solidFill>
                      <a:srgbClr val="F4F7FA"/>
                    </a:solidFill>
                  </a:tcPr>
                </a:tc>
                <a:tc>
                  <a:txBody>
                    <a:bodyPr wrap="square"/>
                    <a:lstStyle/>
                    <a:p>
                      <a:pPr>
                        <a:lnSpc>
                          <a:spcPct val="104000"/>
                        </a:lnSpc>
                      </a:pPr>
                      <a:r>
                        <a:rPr sz="850" b="0">
                          <a:solidFill>
                            <a:srgbClr val="6A7177"/>
                          </a:solidFill>
                          <a:latin typeface="Calibri"/>
                        </a:rPr>
                        <a:t>Qualitative</a:t>
                      </a:r>
                    </a:p>
                  </a:txBody>
                  <a:tcPr marL="73152" marR="73152" marT="36576" marB="36576" anchor="ctr">
                    <a:solidFill>
                      <a:srgbClr val="F4F7FA"/>
                    </a:solidFill>
                  </a:tcPr>
                </a:tc>
                <a:tc>
                  <a:txBody>
                    <a:bodyPr wrap="square"/>
                    <a:lstStyle/>
                    <a:p>
                      <a:pPr>
                        <a:lnSpc>
                          <a:spcPct val="104000"/>
                        </a:lnSpc>
                      </a:pPr>
                      <a:r>
                        <a:rPr sz="850" b="0">
                          <a:solidFill>
                            <a:srgbClr val="16202E"/>
                          </a:solidFill>
                          <a:latin typeface="Calibri"/>
                        </a:rPr>
                        <a:t>Questions answered in the room</a:t>
                      </a:r>
                    </a:p>
                  </a:txBody>
                  <a:tcPr marL="73152" marR="73152" marT="36576" marB="36576" anchor="ctr">
                    <a:solidFill>
                      <a:srgbClr val="F4F7FA"/>
                    </a:solidFill>
                  </a:tcPr>
                </a:tc>
                <a:tc>
                  <a:txBody>
                    <a:bodyPr wrap="square"/>
                    <a:lstStyle/>
                    <a:p>
                      <a:pPr>
                        <a:lnSpc>
                          <a:spcPct val="104000"/>
                        </a:lnSpc>
                      </a:pPr>
                      <a:r>
                        <a:rPr sz="800" b="0">
                          <a:solidFill>
                            <a:srgbClr val="6A7177"/>
                          </a:solidFill>
                          <a:latin typeface="Calibri"/>
                        </a:rPr>
                        <a:t>Every figure carries the query and the audit record behind it</a:t>
                      </a:r>
                    </a:p>
                  </a:txBody>
                  <a:tcPr marL="73152" marR="73152" marT="36576" marB="36576" anchor="ctr">
                    <a:solidFill>
                      <a:srgbClr val="F4F7FA"/>
                    </a:solidFill>
                  </a:tcPr>
                </a:tc>
                <a:tc>
                  <a:txBody>
                    <a:bodyPr wrap="square"/>
                    <a:lstStyle/>
                    <a:p>
                      <a:pPr>
                        <a:lnSpc>
                          <a:spcPct val="104000"/>
                        </a:lnSpc>
                      </a:pPr>
                      <a:r>
                        <a:rPr sz="900" b="1">
                          <a:solidFill>
                            <a:srgbClr val="A9603C"/>
                          </a:solidFill>
                          <a:latin typeface="Calibri"/>
                        </a:rPr>
                        <a:t>Medium</a:t>
                      </a:r>
                    </a:p>
                  </a:txBody>
                  <a:tcPr marL="73152" marR="73152" marT="36576" marB="36576" anchor="ctr">
                    <a:solidFill>
                      <a:srgbClr val="F4F7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