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OSG · SMART GUIDE · AI, DATA &amp; DIGITAL (ADD)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Implementing AI, Data &amp; Digital pays back where it matters most — a better answer for the customer, and time back for the people who serve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 · No customer data is used — the wiki is built from the bank's own product, promo and service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017520" cy="310896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IMPLEMENTING AI, DATA &amp; DIGITAL (ADD)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95928" y="1755648"/>
            <a:ext cx="7488936" cy="310896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1755648"/>
            <a:ext cx="74889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THE IMPACT · THE CUSTOMER FIRST, THEN PRODUCTIVITY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39696"/>
            <a:ext cx="3017520" cy="3803904"/>
          </a:xfrm>
          <a:prstGeom prst="round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1577339" y="2231136"/>
            <a:ext cx="1234440" cy="123444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E4002B"/>
          </a:solidFill>
          <a:ln w="28575">
            <a:solidFill>
              <a:srgbClr val="F4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1577339" y="2231136"/>
            <a:ext cx="1234440" cy="1234440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395268"/>
          </a:solidFill>
          <a:ln w="28575">
            <a:solidFill>
              <a:srgbClr val="F4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1577339" y="2231136"/>
            <a:ext cx="1234440" cy="123444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4E6B84"/>
          </a:solidFill>
          <a:ln w="28575">
            <a:solidFill>
              <a:srgbClr val="F4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1577339" y="2231136"/>
            <a:ext cx="1234440" cy="123444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B0812C"/>
          </a:solidFill>
          <a:ln w="28575">
            <a:solidFill>
              <a:srgbClr val="F4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92807" y="2546604"/>
            <a:ext cx="603504" cy="603504"/>
          </a:xfrm>
          <a:prstGeom prst="ellipse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33955" y="2587752"/>
            <a:ext cx="521207" cy="521207"/>
          </a:xfrm>
          <a:prstGeom prst="ellipse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7339" y="2231136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OSG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0" i="0">
                <a:solidFill>
                  <a:srgbClr val="DADCDF"/>
                </a:solidFill>
                <a:latin typeface="Calibri"/>
              </a:rPr>
              <a:t>Smart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9584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BA1A7"/>
                </a:solidFill>
                <a:latin typeface="Calibri"/>
              </a:rPr>
              <a:t>Four functions, one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139696"/>
            <a:ext cx="292608" cy="38039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4002B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" y="3767328"/>
            <a:ext cx="276148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" y="3767328"/>
            <a:ext cx="73152" cy="50292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3849624"/>
            <a:ext cx="2395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002B"/>
                </a:solidFill>
                <a:latin typeface="Calibri"/>
              </a:rPr>
              <a:t>ADM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041648"/>
            <a:ext cx="23957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Develops the AI assistant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" y="4325112"/>
            <a:ext cx="276148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" y="4325112"/>
            <a:ext cx="73152" cy="502920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4407408"/>
            <a:ext cx="2395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95268"/>
                </a:solidFill>
                <a:latin typeface="Calibri"/>
              </a:rPr>
              <a:t>Network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4599432"/>
            <a:ext cx="23957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Network and infrastructure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" y="4882896"/>
            <a:ext cx="276148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" y="4882896"/>
            <a:ext cx="73152" cy="502920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4965192"/>
            <a:ext cx="2395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E6B84"/>
                </a:solidFill>
                <a:latin typeface="Calibri"/>
              </a:rPr>
              <a:t>Assisted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5157216"/>
            <a:ext cx="23957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Centralized CMS Hub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" y="5440680"/>
            <a:ext cx="276148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" y="5440680"/>
            <a:ext cx="73152" cy="502920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" y="5522976"/>
            <a:ext cx="2395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0812C"/>
                </a:solidFill>
                <a:latin typeface="Calibri"/>
              </a:rPr>
              <a:t>Product Owners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5715000"/>
            <a:ext cx="23957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Updates documents to the CMS Hub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95928" y="2139696"/>
            <a:ext cx="2788920" cy="3803904"/>
          </a:xfrm>
          <a:prstGeom prst="roundRect">
            <a:avLst/>
          </a:prstGeom>
          <a:solidFill>
            <a:srgbClr val="FBEEF0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995928" y="2139696"/>
            <a:ext cx="2788920" cy="438912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7096" y="2139696"/>
            <a:ext cx="178307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2139696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BEEF0"/>
                </a:solidFill>
                <a:latin typeface="Calibri"/>
              </a:rPr>
              <a:t>SATISFACTION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97096" y="2724912"/>
            <a:ext cx="23865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97096" y="2889504"/>
            <a:ext cx="23865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C5359"/>
                </a:solidFill>
                <a:latin typeface="Calibri"/>
              </a:rPr>
              <a:t>Waits while staff check, or is called back later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7096" y="3273552"/>
            <a:ext cx="2386584" cy="9525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97096" y="3383280"/>
            <a:ext cx="23865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WITH SMART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7096" y="3547872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002B"/>
                </a:solidFill>
                <a:latin typeface="Calibri"/>
              </a:rPr>
              <a:t>A faster answer, and the right 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97096" y="4023360"/>
            <a:ext cx="23865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0"/>
              </a:spcAft>
            </a:pPr>
            <a:r>
              <a:rPr sz="1000" b="0" i="0">
                <a:solidFill>
                  <a:srgbClr val="24282C"/>
                </a:solidFill>
                <a:latin typeface="Calibri"/>
              </a:rPr>
              <a:t>·  Shorter wait at the counter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0"/>
              </a:spcAft>
            </a:pPr>
            <a:r>
              <a:rPr sz="1000" b="0" i="0">
                <a:solidFill>
                  <a:srgbClr val="24282C"/>
                </a:solidFill>
                <a:latin typeface="Calibri"/>
              </a:rPr>
              <a:t>·  Right the first time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0"/>
              </a:spcAft>
            </a:pPr>
            <a:r>
              <a:rPr sz="1000" b="0" i="0">
                <a:solidFill>
                  <a:srgbClr val="24282C"/>
                </a:solidFill>
                <a:latin typeface="Calibri"/>
              </a:rPr>
              <a:t>·  The same answer at every branch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12864" y="2139696"/>
            <a:ext cx="2221992" cy="3803904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12864" y="2139696"/>
            <a:ext cx="2221992" cy="438912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1" y="2139696"/>
            <a:ext cx="12161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PRODUCT OWNERS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2168" y="2139696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4031" y="2724912"/>
            <a:ext cx="18196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4031" y="2889504"/>
            <a:ext cx="18196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C5359"/>
                </a:solidFill>
                <a:latin typeface="Calibri"/>
              </a:rPr>
              <a:t>The same answer re-explained channel by channel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4031" y="3273552"/>
            <a:ext cx="1819656" cy="9525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14031" y="3383280"/>
            <a:ext cx="18196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0812C"/>
                </a:solidFill>
                <a:latin typeface="Calibri"/>
              </a:rPr>
              <a:t>WITH SMART GUIDE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4031" y="3547872"/>
            <a:ext cx="1819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282C"/>
                </a:solidFill>
                <a:latin typeface="Calibri"/>
              </a:rPr>
              <a:t>Publish once, reach everyone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14031" y="4023360"/>
            <a:ext cx="1819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·  Upload to the CMS Hub — that is the whole job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·  No retraining, no re-indexing, no tickets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·  One document answers hundreds of questions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62872" y="2139696"/>
            <a:ext cx="2221992" cy="3803904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262872" y="2139696"/>
            <a:ext cx="2221992" cy="438912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4040" y="2139696"/>
            <a:ext cx="12161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FRONTLINE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52176" y="2139696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2724912"/>
            <a:ext cx="18196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2889504"/>
            <a:ext cx="18196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C5359"/>
                </a:solidFill>
                <a:latin typeface="Calibri"/>
              </a:rPr>
              <a:t>Searches folders and PDFs, or asks a colleague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64040" y="3273552"/>
            <a:ext cx="1819656" cy="9525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64040" y="3383280"/>
            <a:ext cx="18196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E6B84"/>
                </a:solidFill>
                <a:latin typeface="Calibri"/>
              </a:rPr>
              <a:t>WITH SMART GUIDE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64040" y="3547872"/>
            <a:ext cx="1819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282C"/>
                </a:solidFill>
                <a:latin typeface="Calibri"/>
              </a:rPr>
              <a:t>Answers in seconds, not searches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4023360"/>
            <a:ext cx="1819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·  One place to ask, in Bahasa Indonesia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·  No hunting through folders or PDFs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·  Every answer shows the document behind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OSG · SMART GUIDE · THE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Smart Guide has already implemented a new tech capability — the bank's own wiki: the assistant goes straight to the right document, and reads it in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 · Categories and folder structure are the live ones; document volumes shown are indicative of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00784"/>
            <a:ext cx="4892040" cy="274320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00784"/>
            <a:ext cx="4892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SHELVES · A LIBRARY, WITH A CATALOGUE IN EVERY 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700784"/>
            <a:ext cx="5745175" cy="274320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700784"/>
            <a:ext cx="574517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HOW AN ANSWER IS MADE · FROM THE CATALOGUE DOWN TO ONE DOCUMENT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" y="2116836"/>
            <a:ext cx="109728" cy="82296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066543"/>
            <a:ext cx="346557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066543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1,016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2226563"/>
            <a:ext cx="4553712" cy="132588"/>
          </a:xfrm>
          <a:prstGeom prst="roundRect">
            <a:avLst/>
          </a:prstGeom>
          <a:solidFill>
            <a:srgbClr val="F7F7F8"/>
          </a:solidFill>
          <a:ln w="9525">
            <a:solidFill>
              <a:srgbClr val="B0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2141982"/>
            <a:ext cx="11430" cy="15087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" y="2292858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984" y="2267712"/>
            <a:ext cx="109728" cy="82296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217420"/>
            <a:ext cx="328269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0812C"/>
                </a:solidFill>
                <a:latin typeface="Calibri"/>
              </a:rPr>
              <a:t>product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6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217420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812C"/>
                </a:solidFill>
                <a:latin typeface="Calibri"/>
              </a:rPr>
              <a:t>560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3856" y="2377439"/>
            <a:ext cx="4370831" cy="132588"/>
          </a:xfrm>
          <a:prstGeom prst="roundRect">
            <a:avLst/>
          </a:prstGeom>
          <a:solidFill>
            <a:srgbClr val="F7F7F8"/>
          </a:solidFill>
          <a:ln w="9525">
            <a:solidFill>
              <a:srgbClr val="B0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8992" y="2292858"/>
            <a:ext cx="11430" cy="15087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8992" y="2443734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7864" y="2418588"/>
            <a:ext cx="109728" cy="82296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2368296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0812C"/>
                </a:solidFill>
                <a:latin typeface="Calibri"/>
              </a:rPr>
              <a:t>individu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8 sub-categories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368296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812C"/>
                </a:solidFill>
                <a:latin typeface="Calibri"/>
              </a:rPr>
              <a:t>168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16736" y="2528315"/>
            <a:ext cx="4187951" cy="132588"/>
          </a:xfrm>
          <a:prstGeom prst="roundRect">
            <a:avLst/>
          </a:prstGeom>
          <a:solidFill>
            <a:srgbClr val="F7F7F8"/>
          </a:solidFill>
          <a:ln w="9525">
            <a:solidFill>
              <a:srgbClr val="B0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61872" y="2443734"/>
            <a:ext cx="11430" cy="15087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61872" y="2594610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80744" y="2569464"/>
            <a:ext cx="109728" cy="82296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519172"/>
            <a:ext cx="291693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0812C"/>
                </a:solidFill>
                <a:latin typeface="Calibri"/>
              </a:rPr>
              <a:t>kartu-transaksi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3 families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2519172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812C"/>
                </a:solidFill>
                <a:latin typeface="Calibri"/>
              </a:rPr>
              <a:t>47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99616" y="2679191"/>
            <a:ext cx="4005072" cy="132588"/>
          </a:xfrm>
          <a:prstGeom prst="roundRect">
            <a:avLst/>
          </a:prstGeom>
          <a:solidFill>
            <a:srgbClr val="F7F7F8"/>
          </a:solidFill>
          <a:ln w="9525">
            <a:solidFill>
              <a:srgbClr val="B0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2594610"/>
            <a:ext cx="11430" cy="15087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44752" y="2745486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63624" y="2720340"/>
            <a:ext cx="109728" cy="82296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2670048"/>
            <a:ext cx="273405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0812C"/>
                </a:solidFill>
                <a:latin typeface="Calibri"/>
              </a:rPr>
              <a:t>kartu-debit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1416" y="2670048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812C"/>
                </a:solidFill>
                <a:latin typeface="Calibri"/>
              </a:rPr>
              <a:t>34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82496" y="2830068"/>
            <a:ext cx="3822191" cy="132588"/>
          </a:xfrm>
          <a:prstGeom prst="roundRect">
            <a:avLst/>
          </a:prstGeom>
          <a:solidFill>
            <a:srgbClr val="F7F7F8"/>
          </a:solidFill>
          <a:ln w="9525">
            <a:solidFill>
              <a:srgbClr val="B0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27632" y="2745486"/>
            <a:ext cx="11430" cy="15087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27632" y="2896362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46504" y="2866644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0240" y="2820924"/>
            <a:ext cx="255117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0812C"/>
                </a:solidFill>
                <a:latin typeface="Calibri"/>
              </a:rPr>
              <a:t>debit-online-transaksi-digital-aman-dan-cepat.md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82496" y="2980944"/>
            <a:ext cx="3822191" cy="132588"/>
          </a:xfrm>
          <a:prstGeom prst="roundRect">
            <a:avLst/>
          </a:prstGeom>
          <a:solidFill>
            <a:srgbClr val="F7F7F8"/>
          </a:solidFill>
          <a:ln w="9525">
            <a:solidFill>
              <a:srgbClr val="B0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27632" y="2745486"/>
            <a:ext cx="11430" cy="301752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627632" y="3047238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46504" y="3017520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2971800"/>
            <a:ext cx="255117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0812C"/>
                </a:solidFill>
                <a:latin typeface="Calibri"/>
              </a:rPr>
              <a:t>perbandingan.md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8992" y="2292858"/>
            <a:ext cx="11430" cy="90525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8992" y="3198114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97864" y="3172968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3122676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ukm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8 sub-categories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1416" y="3122676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96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992" y="2292858"/>
            <a:ext cx="11430" cy="1056132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8992" y="3348990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7864" y="3323844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3273552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korporasi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8 sub-categories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1416" y="3273552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74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8992" y="2292858"/>
            <a:ext cx="11430" cy="1207008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8992" y="3499866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97864" y="3474720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3424428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syariah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4 sub-categories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1416" y="3424428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38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8992" y="2292858"/>
            <a:ext cx="11430" cy="1357884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8992" y="3650742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97864" y="3625596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71600" y="3575304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layanan-cabang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4 sub-categories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71416" y="3575304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121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8992" y="2292858"/>
            <a:ext cx="11430" cy="150876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8992" y="3801618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97864" y="3776472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71600" y="3726180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digital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9 sub-categories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71416" y="3726180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63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0976" y="3886200"/>
            <a:ext cx="4553712" cy="132588"/>
          </a:xfrm>
          <a:prstGeom prst="roundRect">
            <a:avLst/>
          </a:prstGeom>
          <a:solidFill>
            <a:srgbClr val="FBEEF0"/>
          </a:solidFill>
          <a:ln w="952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6112" y="2141982"/>
            <a:ext cx="11430" cy="1810512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96112" y="3952494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4984" y="3927348"/>
            <a:ext cx="109728" cy="82296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88720" y="3877056"/>
            <a:ext cx="328269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</a:rPr>
              <a:t>promo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  · 6 categories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71416" y="3877056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002B"/>
                </a:solidFill>
                <a:latin typeface="Calibri"/>
              </a:rPr>
              <a:t>267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33856" y="4037075"/>
            <a:ext cx="4370831" cy="132588"/>
          </a:xfrm>
          <a:prstGeom prst="roundRect">
            <a:avLst/>
          </a:prstGeom>
          <a:solidFill>
            <a:srgbClr val="FBEEF0"/>
          </a:solidFill>
          <a:ln w="952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78992" y="3952494"/>
            <a:ext cx="11430" cy="150875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78992" y="4103369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97864" y="4078223"/>
            <a:ext cx="109728" cy="82296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71600" y="4027931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</a:rPr>
              <a:t>shopping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71416" y="4027931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002B"/>
                </a:solidFill>
                <a:latin typeface="Calibri"/>
              </a:rPr>
              <a:t>67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16736" y="4187952"/>
            <a:ext cx="4187951" cy="132588"/>
          </a:xfrm>
          <a:prstGeom prst="roundRect">
            <a:avLst/>
          </a:prstGeom>
          <a:solidFill>
            <a:srgbClr val="FBEEF0"/>
          </a:solidFill>
          <a:ln w="952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261872" y="4103369"/>
            <a:ext cx="11430" cy="15087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61872" y="4254246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380744" y="4224528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54480" y="4178808"/>
            <a:ext cx="291693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E4002B"/>
                </a:solidFill>
                <a:latin typeface="Calibri"/>
              </a:rPr>
              <a:t>shopee.md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8992" y="3952494"/>
            <a:ext cx="11430" cy="452627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8992" y="4405121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97864" y="4379975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71600" y="4329683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dining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71416" y="4329683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46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8992" y="3952494"/>
            <a:ext cx="11430" cy="603504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78992" y="4555998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97864" y="4530852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71600" y="4480560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financial-investasi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71416" y="4480560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31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78992" y="3952494"/>
            <a:ext cx="11430" cy="754379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78992" y="4706873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97864" y="4681727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71600" y="4631436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health-beauty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71416" y="4631436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52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8992" y="3952494"/>
            <a:ext cx="11430" cy="90525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78992" y="4857750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97864" y="4832604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71600" y="4782312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hotel-travel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71416" y="4782312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38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78992" y="3952494"/>
            <a:ext cx="11430" cy="1056131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78992" y="5008625"/>
            <a:ext cx="118871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97864" y="4983479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371600" y="4933188"/>
            <a:ext cx="309981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installment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71416" y="4933188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33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6112" y="2141982"/>
            <a:ext cx="11430" cy="301752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96112" y="5159502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984" y="5134356"/>
            <a:ext cx="109728" cy="82296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88720" y="5084064"/>
            <a:ext cx="328269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entity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71416" y="5084064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282C"/>
                </a:solidFill>
                <a:latin typeface="Calibri"/>
              </a:rPr>
              <a:t>189</a:t>
            </a:r>
            <a:r>
              <a:rPr sz="700" b="0" i="0">
                <a:solidFill>
                  <a:srgbClr val="9BA1A7"/>
                </a:solidFill>
                <a:latin typeface="Calibri"/>
              </a:rPr>
              <a:t> docs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96112" y="2141982"/>
            <a:ext cx="11430" cy="3168395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96112" y="5310377"/>
            <a:ext cx="118872" cy="1143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14984" y="5280659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88720" y="5234940"/>
            <a:ext cx="3282696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C5359"/>
                </a:solidFill>
                <a:latin typeface="Calibri"/>
              </a:rPr>
              <a:t>schema.md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471416" y="5234940"/>
            <a:ext cx="960120" cy="1508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BA1A7"/>
                </a:solidFill>
                <a:latin typeface="Calibri"/>
              </a:rPr>
              <a:t>what doc types mean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8952" y="5413248"/>
            <a:ext cx="4745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6 categories · 41 sub-categories · 57 product families · a catalogue in every folder — these two answers took </a:t>
            </a:r>
            <a:r>
              <a:rPr sz="800" b="1" i="0">
                <a:solidFill>
                  <a:srgbClr val="E4002B"/>
                </a:solidFill>
                <a:latin typeface="Calibri"/>
              </a:rPr>
              <a:t>4 and 7 reads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760720" y="2066543"/>
            <a:ext cx="184190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88736" y="2157983"/>
            <a:ext cx="158587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BA1A7"/>
                </a:solidFill>
                <a:latin typeface="Calibri"/>
              </a:rPr>
              <a:t>ASK A FACT · PROMO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88736" y="2359151"/>
            <a:ext cx="1585874" cy="512064"/>
          </a:xfrm>
          <a:prstGeom prst="round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980176" y="2359151"/>
            <a:ext cx="14029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82C"/>
                </a:solidFill>
                <a:latin typeface="Calibri"/>
              </a:rPr>
              <a:t>Apa saja promo shopping yang berlaku?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88736" y="3017519"/>
            <a:ext cx="1512722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888736" y="3163823"/>
            <a:ext cx="1366418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888736" y="3310127"/>
            <a:ext cx="868680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830568" y="3278123"/>
            <a:ext cx="201168" cy="137160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30568" y="3278123"/>
            <a:ext cx="201168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888736" y="3547871"/>
            <a:ext cx="1585874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888736" y="3602735"/>
            <a:ext cx="158587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E4002B"/>
                </a:solidFill>
                <a:latin typeface="Calibri"/>
              </a:rPr>
              <a:t>[1]  Shopee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888736" y="4041647"/>
            <a:ext cx="1585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9BA1A7"/>
                </a:solidFill>
                <a:latin typeface="Calibri"/>
              </a:rPr>
              <a:t>promo/shopping/…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9BA1A7"/>
                </a:solidFill>
                <a:latin typeface="Calibri"/>
              </a:rPr>
              <a:t>4 reads · 1 doc cited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712354" y="2066543"/>
            <a:ext cx="184190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840370" y="2157983"/>
            <a:ext cx="158587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BA1A7"/>
                </a:solidFill>
                <a:latin typeface="Calibri"/>
              </a:rPr>
              <a:t>ASK HOW TO SELL IT · PRODUCT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840370" y="2359151"/>
            <a:ext cx="1585874" cy="512064"/>
          </a:xfrm>
          <a:prstGeom prst="round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931810" y="2359151"/>
            <a:ext cx="14029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82C"/>
                </a:solidFill>
                <a:latin typeface="Calibri"/>
              </a:rPr>
              <a:t>Bagaimana cara menawarkan kartu ini ke nasabah?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40370" y="3017519"/>
            <a:ext cx="1512722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840370" y="3163823"/>
            <a:ext cx="1143000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840370" y="3310127"/>
            <a:ext cx="868680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9056522" y="3131818"/>
            <a:ext cx="201168" cy="137160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56522" y="3131818"/>
            <a:ext cx="201168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782202" y="3278123"/>
            <a:ext cx="201168" cy="137160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782202" y="3278123"/>
            <a:ext cx="201168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840370" y="3547871"/>
            <a:ext cx="1585874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840370" y="3602735"/>
            <a:ext cx="158587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B0812C"/>
                </a:solidFill>
                <a:latin typeface="Calibri"/>
              </a:rPr>
              <a:t>[1]  Debit Online Transaksi Digital Aman Dan Cepat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B0812C"/>
                </a:solidFill>
                <a:latin typeface="Calibri"/>
              </a:rPr>
              <a:t>[2]  Perbandingan Kartu Debit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40370" y="4041647"/>
            <a:ext cx="1585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9BA1A7"/>
                </a:solidFill>
                <a:latin typeface="Calibri"/>
              </a:rPr>
              <a:t>product/individu/…/kartu-debit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9BA1A7"/>
                </a:solidFill>
                <a:latin typeface="Calibri"/>
              </a:rPr>
              <a:t>7 reads · 2 docs cited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663988" y="2066543"/>
            <a:ext cx="184190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792004" y="2157983"/>
            <a:ext cx="158587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BA1A7"/>
                </a:solidFill>
                <a:latin typeface="Calibri"/>
              </a:rPr>
              <a:t>ASK ABOUT A NEW PROGRAM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792004" y="2359151"/>
            <a:ext cx="1585874" cy="512064"/>
          </a:xfrm>
          <a:prstGeom prst="round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883444" y="2359151"/>
            <a:ext cx="140299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82C"/>
                </a:solidFill>
                <a:latin typeface="Calibri"/>
              </a:rPr>
              <a:t>Ada program Disney Run yang baru?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792004" y="3017519"/>
            <a:ext cx="1512722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792004" y="3163823"/>
            <a:ext cx="1366418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792004" y="3310127"/>
            <a:ext cx="868680" cy="54864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10733836" y="3278123"/>
            <a:ext cx="201168" cy="137160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733836" y="3278123"/>
            <a:ext cx="201168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792004" y="3547871"/>
            <a:ext cx="1585874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792004" y="3602735"/>
            <a:ext cx="158587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395268"/>
                </a:solidFill>
                <a:latin typeface="Calibri"/>
              </a:rPr>
              <a:t>[1]  Program Disney Run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792004" y="4041647"/>
            <a:ext cx="1585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E4002B"/>
                </a:solidFill>
                <a:latin typeface="Calibri"/>
              </a:rPr>
              <a:t>PO publishes to the CMS Hub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E4002B"/>
                </a:solidFill>
                <a:latin typeface="Calibri"/>
              </a:rPr>
              <a:t>Answerable the same day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E4002B"/>
                </a:solidFill>
                <a:latin typeface="Calibri"/>
              </a:rPr>
              <a:t>No retraining, no re-indexing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760720" y="4626864"/>
            <a:ext cx="574517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4002B"/>
                </a:solidFill>
                <a:latin typeface="Calibri"/>
              </a:rPr>
              <a:t>SEE IT AND DOWNLOAD IT · THE DOCUMENT BEHIND EVERY CITATION</a:t>
            </a:r>
          </a:p>
        </p:txBody>
      </p:sp>
      <p:pic>
        <p:nvPicPr>
          <p:cNvPr id="168" name="Picture 167" descr="osg-document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4809744"/>
            <a:ext cx="5745175" cy="747579"/>
          </a:xfrm>
          <a:prstGeom prst="rect">
            <a:avLst/>
          </a:prstGeom>
        </p:spPr>
      </p:pic>
      <p:sp>
        <p:nvSpPr>
          <p:cNvPr id="169" name="Rectangle 168"/>
          <p:cNvSpPr/>
          <p:nvPr/>
        </p:nvSpPr>
        <p:spPr>
          <a:xfrm>
            <a:off x="5760720" y="4809744"/>
            <a:ext cx="5745175" cy="747579"/>
          </a:xfrm>
          <a:prstGeom prst="rect">
            <a:avLst/>
          </a:prstGeom>
          <a:noFill/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10694936" y="5144014"/>
            <a:ext cx="780154" cy="220313"/>
          </a:xfrm>
          <a:prstGeom prst="roundRect">
            <a:avLst/>
          </a:prstGeom>
          <a:noFill/>
          <a:ln w="2222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85800" y="5687568"/>
            <a:ext cx="10820095" cy="576072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5800" y="5687568"/>
            <a:ext cx="64008" cy="576072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41832" y="5687568"/>
            <a:ext cx="14173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002B"/>
                </a:solidFill>
                <a:latin typeface="Calibri"/>
              </a:rPr>
              <a:t>AI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002B"/>
                </a:solidFill>
                <a:latin typeface="Calibri"/>
              </a:rPr>
              <a:t>CAPABILITIES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331720" y="5687568"/>
            <a:ext cx="199179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4282C"/>
                </a:solidFill>
                <a:latin typeface="Calibri"/>
              </a:rPr>
              <a:t>Navigates, not guesses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Chooses the branch at each fork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597831" y="5797296"/>
            <a:ext cx="12700" cy="35661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652695" y="5687568"/>
            <a:ext cx="199179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4282C"/>
                </a:solidFill>
                <a:latin typeface="Calibri"/>
              </a:rPr>
              <a:t>Reads docs whole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Several at once, weighed together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918807" y="5797296"/>
            <a:ext cx="12700" cy="35661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73671" y="5687568"/>
            <a:ext cx="199179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4282C"/>
                </a:solidFill>
                <a:latin typeface="Calibri"/>
              </a:rPr>
              <a:t>Explains, not just finds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Including how to offer it to a customer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239783" y="5797296"/>
            <a:ext cx="12700" cy="356616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294647" y="5687568"/>
            <a:ext cx="199179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4282C"/>
                </a:solidFill>
                <a:latin typeface="Calibri"/>
              </a:rPr>
              <a:t>Cites every claim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A7177"/>
                </a:solidFill>
                <a:latin typeface="Calibri"/>
              </a:rPr>
              <a:t>No doc, no answer — it will not improvise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